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sldIdLst>
    <p:sldId id="256" r:id="rId2"/>
    <p:sldId id="257" r:id="rId6"/>
    <p:sldId id="258" r:id="rId4"/>
    <p:sldId id="259" r:id="rId3"/>
    <p:sldId id="261" r:id="rId12"/>
    <p:sldId id="262" r:id="rId13"/>
    <p:sldId id="263" r:id="rId14"/>
    <p:sldId id="264" r:id="rId15"/>
    <p:sldId id="260" r:id="rId11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follows Chinco, Hartzmark &amp; Sussman (2022, JF), with GPT-5 in place of human survey takers.</a:t>
            </a:r>
          </a:p>
          <a:p>
            <a:r>
              <a:t>Other findings: not explained by risk aversion (Tables 3-4); slightly stronger for male clients</a:t>
            </a:r>
          </a:p>
          <a:p>
            <a:r>
              <a:t>(Table 5, but see slide 6); GPT-4.1 ignores volatility too (Table 8). Why it matters: retail investors</a:t>
            </a:r>
          </a:p>
          <a:p>
            <a:r>
              <a:t>increasingly ask AI for advice, and the randomized design is cheap to extend.</a:t>
            </a:r>
          </a:p>
          <a:p/>
          <a:p>
            <a:r>
              <a:t>How the experiment works: each prompt is one "survey response". The authors draw random market numbers</a:t>
            </a:r>
          </a:p>
          <a:p>
            <a:r>
              <a:t>(expected stock return around 5%, stock volatility 0-20%, GDP growth, GDP volatility, and the correlation</a:t>
            </a:r>
          </a:p>
          <a:p>
            <a:r>
              <a:t>between stock returns and GDP growth, rho, between 0.1 and 0.5) and a random client (age, gender, income,</a:t>
            </a:r>
          </a:p>
          <a:p>
            <a:r>
              <a:t>house value). GPT-5 plays a financial professional and must say how much of $1,000 goes into a</a:t>
            </a:r>
          </a:p>
          <a:p>
            <a:r>
              <a:t>blue-chip stock index fund and how much into a bond paying 2% a year (Appendix A.1). The outcome is the</a:t>
            </a:r>
          </a:p>
          <a:p>
            <a:r>
              <a:t>fraction in stocks. Because every input is randomized, regressing that fraction on the inputs shows</a:t>
            </a:r>
          </a:p>
          <a:p>
            <a:r>
              <a:t>how the model responds to each one.</a:t>
            </a:r>
          </a:p>
          <a:p/>
          <a:p>
            <a:r>
              <a:t>The authors send the same 5,000 prompts to GPT-4.1, an older model without a built-in "reasoning"</a:t>
            </a:r>
          </a:p>
          <a:p>
            <a:r>
              <a:t>step, as a robustness check (Table 8).</a:t>
            </a:r>
          </a:p>
          <a:p/>
          <a:p>
            <a:r>
              <a:t>Headline numbers (Table 2, Panel B, column 5): +1 percentage point of expected return -&gt; +7.7 pp in</a:t>
            </a:r>
          </a:p>
          <a:p>
            <a:r>
              <a:t>stocks; +1 pp of volatility -&gt; -1.1 pp in stocks; rho coefficient -0.095 with p = 0.31, read as</a:t>
            </a:r>
          </a:p>
          <a:p>
            <a:r>
              <a:t>"ignores consumption risk".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large language model is built, in three steps:</a:t>
            </a:r>
          </a:p>
          <a:p>
            <a:r>
              <a:t>1. Training text. Trillions of words: web pages, Wikipedia, code, and books. Books matter because they</a:t>
            </a:r>
          </a:p>
          <a:p>
            <a:r>
              <a:t>   are long, edited and authoritative.</a:t>
            </a:r>
          </a:p>
          <a:p>
            <a:r>
              <a:t>2. Pre-training. The model reads that text and learns to predict the next word. Everything it "knows"</a:t>
            </a:r>
          </a:p>
          <a:p>
            <a:r>
              <a:t>   about finance is the statistical pattern of how finance is written about.</a:t>
            </a:r>
          </a:p>
          <a:p>
            <a:r>
              <a:t>3. Fine-tuning. The model is then trained on example answers and on people's ratings of its answers.</a:t>
            </a:r>
          </a:p>
          <a:p>
            <a:r>
              <a:t>   The ratings step is called RLHF, "reinforcement learning from human feedback": people compare two</a:t>
            </a:r>
          </a:p>
          <a:p>
            <a:r>
              <a:t>   answers, and the model is nudged toward the preferred one. This favors clear, mainstream,</a:t>
            </a:r>
          </a:p>
          <a:p>
            <a:r>
              <a:t>   cautious advice.</a:t>
            </a:r>
          </a:p>
          <a:p/>
          <a:p>
            <a:r>
              <a:t>Books: in 2025 copyright cases, court records described AI firms buying millions of used print books</a:t>
            </a:r>
          </a:p>
          <a:p>
            <a:r>
              <a:t>and scanning them (Bartz v. Anthropic) and the use of pirated book collections such as LibGen</a:t>
            </a:r>
          </a:p>
          <a:p>
            <a:r>
              <a:t>(Kadrey v. Meta). Say "bought and scanned" and "pirated libraries"; avoid "secretly" or "antique",</a:t>
            </a:r>
          </a:p>
          <a:p>
            <a:r>
              <a:t>which go beyond what is documented.</a:t>
            </a:r>
          </a:p>
          <a:p/>
          <a:p>
            <a:r>
              <a:t>The argument: finance textbooks, CFA material and personal-finance books overwhelmingly teach the</a:t>
            </a:r>
          </a:p>
          <a:p>
            <a:r>
              <a:t>mean-variance world (Markowitz, CAPM): trade expected return against volatility. Hedging against bad</a:t>
            </a:r>
          </a:p>
          <a:p>
            <a:r>
              <a:t>economic states (Merton's intertemporal CAPM) appears mostly in technical papers, with no agreed list</a:t>
            </a:r>
          </a:p>
          <a:p>
            <a:r>
              <a:t>of what to hedge. A model that learned from this text will respond to return and volatility and ignore</a:t>
            </a:r>
          </a:p>
          <a:p>
            <a:r>
              <a:t>the correlation with GDP. That is exactly what the paper finds.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1 makes the argument falsifiable. Count terms such as "mean-variance", "diversification",</a:t>
            </a:r>
          </a:p>
          <a:p>
            <a:r>
              <a:t>"volatility", "Sharpe ratio" against "hedging demand", "consumption beta", "intertemporal" in a proxy</a:t>
            </a:r>
          </a:p>
          <a:p>
            <a:r>
              <a:t>corpus. Prediction: the model responds most to the concepts that appear most.</a:t>
            </a:r>
          </a:p>
          <a:p/>
          <a:p>
            <a:r>
              <a:t>Test 2 separates knowledge from use. If GPT-5 can correctly explain why a worker in a cyclical job</a:t>
            </a:r>
          </a:p>
          <a:p>
            <a:r>
              <a:t>should hold fewer stocks, but never does so when advising, the problem is the default answer, not</a:t>
            </a:r>
          </a:p>
          <a:p>
            <a:r>
              <a:t>missing knowledge. A one-sentence reason with each allocation shows what the model attends to; even if</a:t>
            </a:r>
          </a:p>
          <a:p>
            <a:r>
              <a:t>the reason is made up after the fact, the words it chooses are informative.</a:t>
            </a:r>
          </a:p>
          <a:p/>
          <a:p>
            <a:r>
              <a:t>Test 3 is from the audio critiques: add prompt versions that explicitly ask for hedging logic. If the</a:t>
            </a:r>
          </a:p>
          <a:p>
            <a:r>
              <a:t>correlation then matters, ordinary users (who would never ask) get worse advice than sophisticated ones.</a:t>
            </a:r>
          </a:p>
          <a:p/>
          <a:p>
            <a:r>
              <a:t>Test 4: GPT-4.1 and GPT-5 were trained on broadly similar text, but GPT-5 has more fine-tuning and a</a:t>
            </a:r>
          </a:p>
          <a:p>
            <a:r>
              <a:t>"reasoning" step (it works through the problem before answering). In Table 8, GPT-4.1's volatility</a:t>
            </a:r>
          </a:p>
          <a:p>
            <a:r>
              <a:t>coefficient is +0.14 (p = 0.49), so it ignores volatility, while GPT-5's is clearly negative. A</a:t>
            </a:r>
          </a:p>
          <a:p>
            <a:r>
              <a:t>difference between models with similar text points to tuning, not to the corpus.</a:t>
            </a:r>
          </a:p>
          <a:p/>
          <a:p>
            <a:r>
              <a:t>Related detail for Q&amp;A: the paper's "thinking time" (Table 6) is the seconds until the API answers,</a:t>
            </a:r>
          </a:p>
          <a:p>
            <a:r>
              <a:t>which also depends on server load. The API reports how many "reasoning tokens" the model used; that is</a:t>
            </a:r>
          </a:p>
          <a:p>
            <a:r>
              <a:t>a cleaner measure of how hard it 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BACKGROUND FOR COMMENT 2</a:t>
            </a:r>
          </a:p>
          <a:p/>
          <a:p>
            <a:r>
              <a:t>1. The textbook benchmark. An investor splits wealth between a risky stock fund and a safe bond. With</a:t>
            </a:r>
          </a:p>
          <a:p>
            <a:r>
              <a:t>standard preferences (constant relative risk aversion) and no other income, the optimal fraction in</a:t>
            </a:r>
          </a:p>
          <a:p>
            <a:r>
              <a:t>stocks is Merton's (1969) rule:</a:t>
            </a:r>
          </a:p>
          <a:p>
            <a:r>
              <a:t>    w* = (mu - r) / (gamma * sigma^2)</a:t>
            </a:r>
          </a:p>
          <a:p>
            <a:r>
              <a:t>mu = expected stock return, r = bond rate (2% here), sigma = stock volatility, gamma = risk aversion</a:t>
            </a:r>
          </a:p>
          <a:p>
            <a:r>
              <a:t>(typically 2-10). Example at the paper's median inputs: mu - r = 3%, sigma = 10.75%, gamma = 5:</a:t>
            </a:r>
          </a:p>
          <a:p>
            <a:r>
              <a:t>w* = 0.03 / (5 x 0.0116) = 52% in stocks, close to the AI's average of 48%.</a:t>
            </a:r>
          </a:p>
          <a:p>
            <a:r>
              <a:t>The correlation with GDP, rho, does not appear. For this question it is irrelevant.</a:t>
            </a:r>
          </a:p>
          <a:p/>
          <a:p>
            <a:r>
              <a:t>2. Why the paper expects rho to matter. In consumption-based asset pricing, stocks that crash in</a:t>
            </a:r>
          </a:p>
          <a:p>
            <a:r>
              <a:t>recessions are risky and must offer a higher expected return. But that is a statement about what mu</a:t>
            </a:r>
          </a:p>
          <a:p>
            <a:r>
              <a:t>is in equilibrium. Here mu is handed to the model in the prompt, so it already reflects that risk.</a:t>
            </a:r>
          </a:p>
          <a:p>
            <a:r>
              <a:t>Cutting stocks again because rho is high would count the same risk twice.</a:t>
            </a:r>
          </a:p>
          <a:p/>
          <a:p>
            <a:r>
              <a:t>3. When rho does matter: other income. A worker's future paychecks are like an asset ("human capital",</a:t>
            </a:r>
          </a:p>
          <a:p>
            <a:r>
              <a:t>H). If paychecks fall when the economy and stocks fall, the worker is already exposed and should hold</a:t>
            </a:r>
          </a:p>
          <a:p>
            <a:r>
              <a:t>fewer stocks. Bodie, Merton &amp; Samuelson (1992) and Viceira (2001) give</a:t>
            </a:r>
          </a:p>
          <a:p>
            <a:r>
              <a:t>    w* = (mu - r)/(gamma sigma^2) x (1 + H/W)  -  rho x (sigma_y / sigma_s) x H/W</a:t>
            </a:r>
          </a:p>
          <a:p>
            <a:r>
              <a:t>W = financial wealth, sigma_y = income volatility (GDP volatility here, about 1.25%), sigma_s = stock</a:t>
            </a:r>
          </a:p>
          <a:p>
            <a:r>
              <a:t>volatility. First term: safe-ish paychecks act like a bond, so you can hold more stocks. Second term:</a:t>
            </a:r>
          </a:p>
          <a:p>
            <a:r>
              <a:t>the hedging term; the higher rho, the fewer stocks. The prompt gives income but never says how risky</a:t>
            </a:r>
          </a:p>
          <a:p>
            <a:r>
              <a:t>the job is or how it moves with the economy, so the model has nothing to apply this to.</a:t>
            </a:r>
          </a:p>
          <a:p/>
          <a:p>
            <a:r>
              <a:t>4. The table (my calculation, at median inputs, gamma = 5):</a:t>
            </a:r>
          </a:p>
          <a:p>
            <a:r>
              <a:t>- +1 pp expected return: theory 1/(gamma sigma^2) = 17.3 pp more in stocks; GPT-5 7.7 pp.</a:t>
            </a:r>
          </a:p>
          <a:p>
            <a:r>
              <a:t>- +1 pp volatility: theory -2(mu - r)/(gamma sigma^3) = -9.7 pp; GPT-5 -1.1 pp.</a:t>
            </a:r>
          </a:p>
          <a:p>
            <a:r>
              <a:t>- +0.1 in rho: theory -(sigma_y/sigma_s) x H/W x 0.1 = -1.2 pp x H/W; GPT-5 -0.095 x 0.1 = -0.9 pp.</a:t>
            </a:r>
          </a:p>
          <a:p>
            <a:r>
              <a:t>GPT-5 figures are Table 2, Panel B, column 5. With gamma = 10, the first two theory numbers halve</a:t>
            </a:r>
          </a:p>
          <a:p>
            <a:r>
              <a:t>(8.7 and -4.8), still well above the AI's.</a:t>
            </a:r>
          </a:p>
          <a:p/>
          <a:p>
            <a:r>
              <a:t>5. Reading. The paper says the AI gets return and volatility right and rho wrong. Against the</a:t>
            </a:r>
          </a:p>
          <a:p>
            <a:r>
              <a:t>textbook rule it is the other way round: the AI reacts too little to return and volatility, and its</a:t>
            </a:r>
          </a:p>
          <a:p>
            <a:r>
              <a:t>(statistically weak) rho response is about the size a worker whose human capital equals their</a:t>
            </a:r>
          </a:p>
          <a:p>
            <a:r>
              <a:t>financial wealth should show.</a:t>
            </a:r>
          </a:p>
          <a:p/>
          <a:p>
            <a:r>
              <a:t>6. The fixes. (a) Compute w* for every prompt and regress the AI's share on it; a slope of 1 means</a:t>
            </a:r>
          </a:p>
          <a:p>
            <a:r>
              <a:t>textbook-consistent advice. (b) Add a line about the client's job risk and vary it, which tests the</a:t>
            </a:r>
          </a:p>
          <a:p>
            <a:r>
              <a:t>hedging term directly. (c) Price the gap: the "certainty-equivalent loss" is the sure amount of money</a:t>
            </a:r>
          </a:p>
          <a:p>
            <a:r>
              <a:t>a client would give up to switch from the AI's allocation to the optimal one. That is the honest</a:t>
            </a:r>
          </a:p>
          <a:p>
            <a:r>
              <a:t>answer to "why should anyone care?". (d) Compare with human subjects (Chinco, Hartzmark &amp; Sussman</a:t>
            </a:r>
          </a:p>
          <a:p>
            <a:r>
              <a:t>2022 ran the same kind of survey on people) and with robo-advisors, which set allocations from a</a:t>
            </a:r>
          </a:p>
          <a:p>
            <a:r>
              <a:t>risk questionnaire and age and also ignore rho.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Plain-language version of the benchmark point; the technical version (Merton rule, labor-income hedging,</a:t>
            </a:r>
          </a:p>
          <a:p>
            <a:r>
              <a:t>the textbook-vs-GPT-5 table) is appendix A1, with the derivation in A2 and the arithmetic in A3.</a:t>
            </a:r>
          </a:p>
          <a:p>
            <a:r>
              <a:t>The framing follows the audio critiques: "is the AI really failing, or accurately mimicking the average</a:t>
            </a:r>
          </a:p>
          <a:p>
            <a:r>
              <a:t>retail investor?" and "testing a self-driving car on an empty track instead of city traffic".</a:t>
            </a:r>
          </a:p>
          <a:p>
            <a:r>
              <a:t>Key facts if asked:</a:t>
            </a:r>
          </a:p>
          <a:p>
            <a:r>
              <a:t>- The paper's own design follows Chinco, Hartzmark &amp; Sussman (2022, JF), so a human benchmark exists.</a:t>
            </a:r>
          </a:p>
          <a:p>
            <a:r>
              <a:t>- Robo-advisors set allocations from a risk questionnaire and age (glide paths); they do not use the</a:t>
            </a:r>
          </a:p>
          <a:p>
            <a:r>
              <a:t>  stock-GDP correlation either.</a:t>
            </a:r>
          </a:p>
          <a:p>
            <a:r>
              <a:t>- For the client as described in the prompt (financial wealth only), the textbook share is</a:t>
            </a:r>
          </a:p>
          <a:p>
            <a:r>
              <a:t>  (mu - r)/(gamma sigma^2): the correlation does not enter. It matters only when the client's income moves</a:t>
            </a:r>
          </a:p>
          <a:p>
            <a:r>
              <a:t>  with the economy, which the prompt never says. Adding a sentence about the client's job is the clean test.</a:t>
            </a:r>
          </a:p>
          <a:p>
            <a:r>
              <a:t>- Cost to the client: the certainty-equivalent loss, i.e. how much sure money the client would give up to</a:t>
            </a:r>
          </a:p>
          <a:p>
            <a:r>
              <a:t>  switch from the AI's allocation to the textbook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SIDE comes from the audio critiques, which ask the paper to answer "so what?".</a:t>
            </a:r>
          </a:p>
          <a:p>
            <a:r>
              <a:t>PRICE IT FIRST, the two benchmarks:</a:t>
            </a:r>
          </a:p>
          <a:p>
            <a:r>
              <a:t>- Cost to the client = certainty-equivalent loss vs. the textbook allocation: the sure return per year</a:t>
            </a:r>
          </a:p>
          <a:p>
            <a:r>
              <a:t>  the client would give up to switch from GPT-5's allocation to the optimal one. Mean-variance</a:t>
            </a:r>
          </a:p>
          <a:p>
            <a:r>
              <a:t>  approximation: loss = 1/2 x gamma x sigma^2 x (w_AI - w*)^2. At the paper's median inputs (gamma = 5,</a:t>
            </a:r>
          </a:p>
          <a:p>
            <a:r>
              <a:t>  sigma = 10.75%; illustrative): 3 points off (48% vs 51%) costs about 0.003% a year; 20 points off</a:t>
            </a:r>
          </a:p>
          <a:p>
            <a:r>
              <a:t>  costs about 0.12% a year (about $1.20 on the prompt's $1,000). The loss grows with the square of the</a:t>
            </a:r>
          </a:p>
          <a:p>
            <a:r>
              <a:t>  mistake, so small misallocations are cheap; the welfare cost of "ignoring rho" may be tiny.</a:t>
            </a:r>
          </a:p>
          <a:p>
            <a:r>
              <a:t>- Versus what it replaces: the client's own choice (Chinco, Hartzmark &amp; Sussman 2022 ran the same survey</a:t>
            </a:r>
          </a:p>
          <a:p>
            <a:r>
              <a:t>  on people), a human advisor (advisors tend to give one-size-fits-all portfolios: Foerster, Linnainmaa,</a:t>
            </a:r>
          </a:p>
          <a:p>
            <a:r>
              <a:t>  Melzer &amp; Previtero 2017 JF; Linnainmaa, Melzer &amp; Previtero 2021 JF; cited from memory), or a</a:t>
            </a:r>
          </a:p>
          <a:p>
            <a:r>
              <a:t>  robo-advisor / target-date fund (age and risk-score rules that also ignore rho). Compute the same loss</a:t>
            </a:r>
          </a:p>
          <a:p>
            <a:r>
              <a:t>  for each and compare.</a:t>
            </a:r>
          </a:p>
          <a:p>
            <a:r>
              <a:t>- For one investor: the reason to care about rho is insurance. A worker in a cyclical job loses income</a:t>
            </a:r>
          </a:p>
          <a:p>
            <a:r>
              <a:t>  in a recession, exactly when stocks fall. Advice that ignores this over-exposes that worker.</a:t>
            </a:r>
          </a:p>
          <a:p>
            <a:r>
              <a:t>- For the market: one human advisor's mistakes are idiosyncratic and wash out. If millions of people</a:t>
            </a:r>
          </a:p>
          <a:p>
            <a:r>
              <a:t>  ask the same model, they all get the same tilt, so the mistakes add up instead of cancelling. That is</a:t>
            </a:r>
          </a:p>
          <a:p>
            <a:r>
              <a:t>  what turns an individual error into systematic risk: lower demand for assets that hedge recessions,</a:t>
            </a:r>
          </a:p>
          <a:p>
            <a:r>
              <a:t>  higher demand for cyclical stocks, possibly mispricing.</a:t>
            </a:r>
          </a:p>
          <a:p>
            <a:r>
              <a:t>- The discipline (my addition): before telling that story, put numbers on it. How much a typical client</a:t>
            </a:r>
          </a:p>
          <a:p>
            <a:r>
              <a:t>  loses (the certainty-equivalent loss; see Comment 2 and appendix A1), how many investors act on AI advice, and whether</a:t>
            </a:r>
          </a:p>
          <a:p>
            <a:r>
              <a:t>  the AI is worse than what it replaces. If it simply copies the average retail investor or a</a:t>
            </a:r>
          </a:p>
          <a:p>
            <a:r>
              <a:t>  robo-advisor (Comment 1), the extra harm may be small.</a:t>
            </a:r>
          </a:p>
          <a:p/>
          <a:p>
            <a:r>
              <a:t>RIGHT SIDE. The audio critiques call the gender gap the most striking result. The evidence does not</a:t>
            </a:r>
          </a:p>
          <a:p>
            <a:r>
              <a:t>support that yet.</a:t>
            </a:r>
          </a:p>
          <a:p>
            <a:r>
              <a:t>- Noise. Table 5: rho is -3.07 (p = 0.04) for men, -1.86 (p = 0.08) for women. Backing the standard</a:t>
            </a:r>
          </a:p>
          <a:p>
            <a:r>
              <a:t>  errors out of those p-values gives SE 1.49 and 1.07, so the gap is -1.2 with SE 1.8, t = 0.7: not</a:t>
            </a:r>
          </a:p>
          <a:p>
            <a:r>
              <a:t>  significant, even on the paper's own (questionable, one-cluster) standard errors. "Significant for one</a:t>
            </a:r>
          </a:p>
          <a:p>
            <a:r>
              <a:t>  group, not the other" is not "the groups differ". Average stock shares are 47.7% vs 48.6% (Table 1C).</a:t>
            </a:r>
          </a:p>
          <a:p>
            <a:r>
              <a:t>- The prompt (Appendix A.1) does not say whose gender it is: "You are an investment banker serving a</a:t>
            </a:r>
          </a:p>
          <a:p>
            <a:r>
              <a:t>  30 years old female investor, working in the corporate finance division, in charge of underwriting</a:t>
            </a:r>
          </a:p>
          <a:p>
            <a:r>
              <a:t>  securities and managing mergers ... I want you to find the optimal investment allocation for</a:t>
            </a:r>
          </a:p>
          <a:p>
            <a:r>
              <a:t>  yourself." Page 9 says gender is assigned to the AI advisor; the prompt gives it to the investor; the</a:t>
            </a:r>
          </a:p>
          <a:p>
            <a:r>
              <a:t>  occupation phrase grammatically describes the investor; "for yourself" makes it the model's own money.</a:t>
            </a:r>
          </a:p>
          <a:p>
            <a:r>
              <a:t>  The model may be answering as advisor, client or itself, and that can differ by gender.</a:t>
            </a:r>
          </a:p>
          <a:p>
            <a:r>
              <a:t>- Two channels that could create a real gap, both untested: training text that describes women as more</a:t>
            </a:r>
          </a:p>
          <a:p>
            <a:r>
              <a:t>  risk-averse (would lower women's stock share, which we do not see), and fine-tuning that pushes the</a:t>
            </a:r>
          </a:p>
          <a:p>
            <a:r>
              <a:t>  model to give gender-neutral answers (would equalise allocations, which we do see).</a:t>
            </a:r>
          </a:p>
          <a:p>
            <a:r>
              <a:t>- The paper's framing is inconsistent: it motivates with male overconfidence (p. 4), which predicts</a:t>
            </a:r>
          </a:p>
          <a:p>
            <a:r>
              <a:t>  LESS rational advice for men, then reads the result as "more rational for men".</a:t>
            </a:r>
          </a:p>
          <a:p>
            <a:r>
              <a:t>- Clean test: the same prompts with only the gender word swapped, plus a version with no gender, a few</a:t>
            </a:r>
          </a:p>
          <a:p>
            <a:r>
              <a:t>  repeats each, with the advisor/client/"yourself" wording fixed. If a gap survives, it matters: same</a:t>
            </a:r>
          </a:p>
          <a:p>
            <a:r>
              <a:t>  inputs, weaker advice for women is a fairness and compliance issue; compare the model's stated</a:t>
            </a:r>
          </a:p>
          <a:p>
            <a:r>
              <a:t>  reasons by gender.</a:t>
            </a:r>
          </a:p>
          <a:p/>
          <a:p>
            <a:r>
              <a:t>Technical issues moved off this slide (details in the discussion notes): the "logit" stock share in</a:t>
            </a:r>
          </a:p>
          <a:p>
            <a:r>
              <a:t>Table 1 appears to be the odds ratio, and standard errors are clustered on only two groups (gender).</a:t>
            </a:r>
          </a:p>
          <a:p>
            <a:r>
              <a:t>With ordinary robust standard errors the rho coefficient may well be significant (rough t of about -2.4).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first item matters: the authors winsorize the stock share at 0.0001 and 0.9999 and describe a</a:t>
            </a:r>
          </a:p>
          <a:p>
            <a:r>
              <a:t>logit transform, log(x / (1 - x)), whose maximum would then be 9.2. Table 1 shows a maximum of 9,997 and</a:t>
            </a:r>
          </a:p>
          <a:p>
            <a:r>
              <a:t>a median of 0.8172 = 0.4497 / (1 - 0.4497): the log was not taken. Regressions on that variable are</a:t>
            </a:r>
          </a:p>
          <a:p>
            <a:r>
              <a:t>driven by the handful of 100%-stock answers. Clustering standard errors by gender means only two</a:t>
            </a:r>
          </a:p>
          <a:p>
            <a:r>
              <a:t>clusters, too few for reliable inference; prompts are independent random draws, so ordinary robust</a:t>
            </a:r>
          </a:p>
          <a:p>
            <a:r>
              <a:t>standard errors are appropriate.</a:t>
            </a:r>
          </a:p>
          <a:p/>
          <a:p>
            <a:r>
              <a:t>More small points for the written report (see notes/discussion_notes.md): mean share 47.68% in the text</a:t>
            </a:r>
          </a:p>
          <a:p>
            <a:r>
              <a:t>vs 0.4814 in Table 1A; gender assigned to the advisor (p. 9) but to the investor in the prompt; income</a:t>
            </a:r>
          </a:p>
          <a:p>
            <a:r>
              <a:t>"calibrated to SCF" (p. 3) vs "suggested by ChatGPT" (p. 9); inconsistent stars in Table 2A;</a:t>
            </a:r>
          </a:p>
          <a:p>
            <a:r>
              <a:t>observation counts in Table 5 vs Table 1C; Figure 1 axis shows a raw variable name; references</a:t>
            </a:r>
          </a:p>
          <a:p>
            <a:r>
              <a:t>(Kahneman 2011 title, Cochrane 1999 incomplete; add Horton 2023, Bybee 2023, Viceira 2001).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Derivation in words. Treat future earnings as an asset (human capital H). If income growth moves with stock</a:t>
            </a:r>
          </a:p>
          <a:p>
            <a:r>
              <a:t>returns, owning that human capital is like owning beta x H of the stock fund already, with beta = rho x</a:t>
            </a:r>
          </a:p>
          <a:p>
            <a:r>
              <a:t>sigma_y / sigma_s (the regression slope of income growth on stock returns). The investor wants</a:t>
            </a:r>
          </a:p>
          <a:p>
            <a:r>
              <a:t>(mu - r)/(gamma sigma_s^2) of TOTAL wealth (W + H) in stocks, holds beta x H implicitly, so buys the rest in the</a:t>
            </a:r>
          </a:p>
          <a:p>
            <a:r>
              <a:t>fund. Dividing by W gives the formula. With H = 0 it collapses to Merton's rule, where rho plays no role.</a:t>
            </a:r>
          </a:p>
          <a:p>
            <a:r>
              <a:t>This is the frictionless (tradable human capital) benchmark; Viceira (2001, JF) solves the non-tradable case,</a:t>
            </a:r>
          </a:p>
          <a:p>
            <a:r>
              <a:t>which is more complex but has the same sign: higher income-stock correlation -&gt; fewer stocks.</a:t>
            </a:r>
          </a:p>
          <a:p>
            <a:r>
              <a:t>Not the paper's mechanism: the paper motivates rho with Merton's (1973) ICAPM (hedging state variables that</a:t>
            </a:r>
          </a:p>
          <a:p>
            <a:r>
              <a:t>shift future investment opportunities). Neither channel is described in the prompt.</a:t>
            </a:r>
          </a:p>
          <a:p>
            <a:r>
              <a:t>References cited from memory; check before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Arithmetic at the median draws: sigma_s^2 = 0.1075^2 = 0.011556; sigma_s^3 = 0.0012423.</a:t>
            </a:r>
          </a:p>
          <a:p>
            <a:r>
              <a:t>Return: 1/(gamma sigma_s^2) = 1/(5 x 0.011556) = 17.3 per unit of mu, so +1 pp of expected return -&gt; +17.3 pp</a:t>
            </a:r>
          </a:p>
          <a:p>
            <a:r>
              <a:t>of the portfolio in stocks (gamma = 2: 43.3; gamma = 10: 8.7).</a:t>
            </a:r>
          </a:p>
          <a:p>
            <a:r>
              <a:t>Volatility: -2 (mu - r)/(gamma sigma_s^3) = -2 x 0.0293 / (5 x 0.0012423) = -9.4 per unit of sigma, so +1 pp of</a:t>
            </a:r>
          </a:p>
          <a:p>
            <a:r>
              <a:t>volatility -&gt; -9.4 pp (gamma = 2: -23.6; gamma = 10: -4.7).</a:t>
            </a:r>
          </a:p>
          <a:p>
            <a:r>
              <a:t>Correlation: -(sigma_y/sigma_s) = -0.0126/0.1075 = -0.117 per unit of rho, so +0.1 -&gt; -1.2 pp per unit of H/W;</a:t>
            </a:r>
          </a:p>
          <a:p>
            <a:r>
              <a:t>gamma does not enter this term.</a:t>
            </a:r>
          </a:p>
          <a:p>
            <a:r>
              <a:t>GPT-5: Table 2 Panel B column 5 (stock fraction in levels): 7.7406 (return), -1.1367 (volatility), -0.0948</a:t>
            </a:r>
          </a:p>
          <a:p>
            <a:r>
              <a:t>(correlation, p = 0.31).</a:t>
            </a:r>
          </a:p>
          <a:p>
            <a:r>
              <a:t>Level check: textbook share at the median prompt = 0.0293 / (5 x 0.011556) = 0.507; GPT-5's mean share is</a:t>
            </a:r>
          </a:p>
          <a:p>
            <a:r>
              <a:t>0.481 (Table 1A), which is why gamma = 5 is the illustrative choice. A prompt-by-prompt version would map</a:t>
            </a:r>
          </a:p>
          <a:p>
            <a:r>
              <a:t>the prompt's 1-5 risk score to gamma (e.g. 2 to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5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5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5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34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12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5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67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0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42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81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604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5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62" r:id="rId6"/>
    <p:sldLayoutId id="2147483757" r:id="rId7"/>
    <p:sldLayoutId id="2147483758" r:id="rId8"/>
    <p:sldLayoutId id="2147483759" r:id="rId9"/>
    <p:sldLayoutId id="2147483761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34DE7-06DB-1967-2237-15FE2ED2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48840"/>
            <a:ext cx="7537704" cy="361188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1F868-4C26-5ADB-30DD-B2BA73009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2331720"/>
            <a:ext cx="6470692" cy="2103120"/>
          </a:xfrm>
        </p:spPr>
        <p:txBody>
          <a:bodyPr wrap="square" anchor="b">
            <a:normAutofit/>
          </a:bodyPr>
          <a:lstStyle/>
          <a:p>
            <a:r>
              <a:rPr sz="2000"/>
              <a:t>Discussion of</a:t>
            </a:r>
            <a:endParaRPr lang="en-US" sz="5400">
              <a:solidFill>
                <a:schemeClr val="tx1"/>
              </a:solidFill>
            </a:endParaRPr>
          </a:p>
          <a:p>
            <a:r>
              <a:rPr sz="2600"/>
              <a:t>“How Rational Is AI Investment Advice? Risk-Return Relevance in AI-Based Investing”</a:t>
            </a:r>
          </a:p>
          <a:p>
            <a:r>
              <a:rPr sz="1800"/>
              <a:t>Lin, Gilbert, Chu &amp; Jacoby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22037-B258-2C42-7D61-709048992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617720"/>
            <a:ext cx="6470693" cy="100584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sz="1100"/>
              <a:t>Discussant: Rui Dai, University of South Florida</a:t>
            </a:r>
            <a:endParaRPr lang="en-US"/>
          </a:p>
          <a:p>
            <a:pPr>
              <a:spcBef>
                <a:spcPts val="0"/>
              </a:spcBef>
            </a:pPr>
            <a:r>
              <a:rPr sz="1100"/>
              <a:t>2026 FMA Annual Meeting  |  Tampa, FL  |  October 15, 2026</a:t>
            </a:r>
          </a:p>
          <a:p>
            <a:pPr>
              <a:spcBef>
                <a:spcPts val="0"/>
              </a:spcBef>
            </a:pPr>
            <a:r>
              <a:rPr sz="1100"/>
              <a:t>Session 70: AI and Financial Markets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526280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53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paper in one slide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097280" y="2057400"/>
            <a:ext cx="100584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Bef>
                <a:spcPts val="14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Question.</a:t>
            </a:r>
            <a:r>
              <a:rPr sz="2000" b="0">
                <a:solidFill>
                  <a:srgbClr val="404040"/>
                </a:solidFill>
              </a:rPr>
              <a:t> Does AI advice follow textbook risk–return logic?</a:t>
            </a:r>
          </a:p>
          <a:p>
            <a:pPr marL="228600" indent="-228600">
              <a:spcBef>
                <a:spcPts val="14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Design.</a:t>
            </a:r>
            <a:r>
              <a:rPr sz="2000" b="0">
                <a:solidFill>
                  <a:srgbClr val="404040"/>
                </a:solidFill>
              </a:rPr>
              <a:t> 5,000 prompts with random market numbers and clients; GPT-5 splits $1,000 between a stock fund and a 2% bond.</a:t>
            </a:r>
          </a:p>
          <a:p>
            <a:pPr marL="228600" indent="-228600">
              <a:spcBef>
                <a:spcPts val="1400"/>
              </a:spcBef>
              <a:buClr>
                <a:srgbClr val="2683C6"/>
              </a:buClr>
              <a:buFont typeface="Arial"/>
              <a:buChar char="▪"/>
            </a:pPr>
            <a:r>
              <a:rPr sz="2000" b="1">
                <a:solidFill>
                  <a:srgbClr val="2683C6"/>
                </a:solidFill>
              </a:rPr>
              <a:t>Finding.</a:t>
            </a:r>
            <a:r>
              <a:rPr sz="2000" b="0">
                <a:solidFill>
                  <a:srgbClr val="404040"/>
                </a:solidFill>
              </a:rPr>
              <a:t> More stocks when returns are high, fewer when volatility is high, but no response to the stock–GDP correlation ρ.</a:t>
            </a:r>
          </a:p>
        </p:txBody>
      </p:sp>
      <p:sp>
        <p:nvSpPr>
          <p:cNvPr id="4" name="take"/>
          <p:cNvSpPr txBox="1"/>
          <p:nvPr/>
        </p:nvSpPr>
        <p:spPr>
          <a:xfrm>
            <a:off x="1097280" y="5440680"/>
            <a:ext cx="10058400" cy="685800"/>
          </a:xfrm>
          <a:prstGeom prst="rect">
            <a:avLst/>
          </a:prstGeom>
          <a:solidFill>
            <a:srgbClr val="D9E0E6"/>
          </a:solidFill>
        </p:spPr>
        <p:txBody>
          <a:bodyPr wrap="square" anchor="ctr" lIns="137160" rIns="137160">
            <a:spAutoFit/>
          </a:bodyPr>
          <a:lstStyle/>
          <a:p>
            <a:r>
              <a:rPr sz="1800" b="1">
                <a:solidFill>
                  <a:srgbClr val="2683C6"/>
                </a:solidFill>
              </a:rPr>
              <a:t>My take:</a:t>
            </a:r>
            <a:r>
              <a:rPr sz="1800" b="0">
                <a:solidFill>
                  <a:srgbClr val="404040"/>
                </a:solidFill>
              </a:rPr>
              <a:t> timely question, clean design. The AI repeats its mean-variance training text.</a:t>
            </a:r>
          </a:p>
        </p:txBody>
      </p:sp>
      <p:sp>
        <p:nvSpPr>
          <p:cNvPr id="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How Rational Is AI Investment Advice?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Comment 1: An LLM mirrors its training text</a:t>
            </a:r>
          </a:p>
        </p:txBody>
      </p:sp>
      <p:sp>
        <p:nvSpPr>
          <p:cNvPr id="3" name="step1"/>
          <p:cNvSpPr txBox="1"/>
          <p:nvPr/>
        </p:nvSpPr>
        <p:spPr>
          <a:xfrm>
            <a:off x="1097280" y="2103120"/>
            <a:ext cx="2240280" cy="777240"/>
          </a:xfrm>
          <a:prstGeom prst="rect">
            <a:avLst/>
          </a:prstGeom>
          <a:solidFill>
            <a:srgbClr val="D9E0E6"/>
          </a:solidFill>
        </p:spPr>
        <p:txBody>
          <a:bodyPr wrap="square" anchor="ctr" lIns="137160" rIns="137160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Training text</a:t>
            </a:r>
          </a:p>
          <a:p>
            <a:pPr algn="ctr"/>
            <a:r>
              <a:rPr sz="1400" b="0">
                <a:solidFill>
                  <a:srgbClr val="404040"/>
                </a:solidFill>
              </a:rPr>
              <a:t>books, web, textbooks</a:t>
            </a:r>
          </a:p>
        </p:txBody>
      </p:sp>
      <p:sp>
        <p:nvSpPr>
          <p:cNvPr id="4" name="arrow1"/>
          <p:cNvSpPr txBox="1"/>
          <p:nvPr/>
        </p:nvSpPr>
        <p:spPr>
          <a:xfrm>
            <a:off x="3337560" y="2103120"/>
            <a:ext cx="365760" cy="77724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/>
            <a:r>
              <a:rPr sz="2400" b="0">
                <a:solidFill>
                  <a:srgbClr val="2683C6"/>
                </a:solidFill>
              </a:rPr>
              <a:t>→</a:t>
            </a:r>
          </a:p>
        </p:txBody>
      </p:sp>
      <p:sp>
        <p:nvSpPr>
          <p:cNvPr id="5" name="step2"/>
          <p:cNvSpPr txBox="1"/>
          <p:nvPr/>
        </p:nvSpPr>
        <p:spPr>
          <a:xfrm>
            <a:off x="3703320" y="2103120"/>
            <a:ext cx="2240280" cy="777240"/>
          </a:xfrm>
          <a:prstGeom prst="rect">
            <a:avLst/>
          </a:prstGeom>
          <a:solidFill>
            <a:srgbClr val="D9E0E6"/>
          </a:solidFill>
        </p:spPr>
        <p:txBody>
          <a:bodyPr wrap="square" anchor="ctr" lIns="137160" rIns="137160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Pre-training</a:t>
            </a:r>
          </a:p>
          <a:p>
            <a:pPr algn="ctr"/>
            <a:r>
              <a:rPr sz="1400" b="0">
                <a:solidFill>
                  <a:srgbClr val="404040"/>
                </a:solidFill>
              </a:rPr>
              <a:t>predict the next word</a:t>
            </a:r>
          </a:p>
        </p:txBody>
      </p:sp>
      <p:sp>
        <p:nvSpPr>
          <p:cNvPr id="6" name="arrow2"/>
          <p:cNvSpPr txBox="1"/>
          <p:nvPr/>
        </p:nvSpPr>
        <p:spPr>
          <a:xfrm>
            <a:off x="5943600" y="2103120"/>
            <a:ext cx="365760" cy="77724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/>
            <a:r>
              <a:rPr sz="2400" b="0">
                <a:solidFill>
                  <a:srgbClr val="2683C6"/>
                </a:solidFill>
              </a:rPr>
              <a:t>→</a:t>
            </a:r>
          </a:p>
        </p:txBody>
      </p:sp>
      <p:sp>
        <p:nvSpPr>
          <p:cNvPr id="7" name="step3"/>
          <p:cNvSpPr txBox="1"/>
          <p:nvPr/>
        </p:nvSpPr>
        <p:spPr>
          <a:xfrm>
            <a:off x="6309360" y="2103120"/>
            <a:ext cx="2240280" cy="777240"/>
          </a:xfrm>
          <a:prstGeom prst="rect">
            <a:avLst/>
          </a:prstGeom>
          <a:solidFill>
            <a:srgbClr val="D9E0E6"/>
          </a:solidFill>
        </p:spPr>
        <p:txBody>
          <a:bodyPr wrap="square" anchor="ctr" lIns="137160" rIns="137160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Fine-tuning</a:t>
            </a:r>
          </a:p>
          <a:p>
            <a:pPr algn="ctr"/>
            <a:r>
              <a:rPr sz="1400" b="0">
                <a:solidFill>
                  <a:srgbClr val="404040"/>
                </a:solidFill>
              </a:rPr>
              <a:t>people rate answers</a:t>
            </a:r>
          </a:p>
        </p:txBody>
      </p:sp>
      <p:sp>
        <p:nvSpPr>
          <p:cNvPr id="8" name="arrow3"/>
          <p:cNvSpPr txBox="1"/>
          <p:nvPr/>
        </p:nvSpPr>
        <p:spPr>
          <a:xfrm>
            <a:off x="8549640" y="2103120"/>
            <a:ext cx="365760" cy="77724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/>
            <a:r>
              <a:rPr sz="2400" b="0">
                <a:solidFill>
                  <a:srgbClr val="2683C6"/>
                </a:solidFill>
              </a:rPr>
              <a:t>→</a:t>
            </a:r>
          </a:p>
        </p:txBody>
      </p:sp>
      <p:sp>
        <p:nvSpPr>
          <p:cNvPr id="9" name="step4"/>
          <p:cNvSpPr txBox="1"/>
          <p:nvPr/>
        </p:nvSpPr>
        <p:spPr>
          <a:xfrm>
            <a:off x="8915400" y="2103120"/>
            <a:ext cx="2240280" cy="777240"/>
          </a:xfrm>
          <a:prstGeom prst="rect">
            <a:avLst/>
          </a:prstGeom>
          <a:solidFill>
            <a:srgbClr val="D9E0E6"/>
          </a:solidFill>
        </p:spPr>
        <p:txBody>
          <a:bodyPr wrap="square" anchor="ctr" lIns="137160" rIns="137160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</a:rPr>
              <a:t>“Advice”</a:t>
            </a:r>
          </a:p>
        </p:txBody>
      </p:sp>
      <p:sp>
        <p:nvSpPr>
          <p:cNvPr id="10" name="corpus"/>
          <p:cNvSpPr txBox="1"/>
          <p:nvPr/>
        </p:nvSpPr>
        <p:spPr>
          <a:xfrm>
            <a:off x="1097280" y="3017520"/>
            <a:ext cx="1005840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71450" indent="-17145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The rationale is only as good as the input text.</a:t>
            </a:r>
            <a:r>
              <a:rPr sz="1500" b="0">
                <a:solidFill>
                  <a:srgbClr val="404040"/>
                </a:solidFill>
              </a:rPr>
              <a:t> Its “reasoning” repeats what it read most.</a:t>
            </a:r>
          </a:p>
          <a:p>
            <a:pPr marL="171450" indent="-17145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Books are prized training data:</a:t>
            </a:r>
            <a:r>
              <a:rPr sz="1500" b="0">
                <a:solidFill>
                  <a:srgbClr val="404040"/>
                </a:solidFill>
              </a:rPr>
              <a:t> firms scanned millions of print books, textbooks included; some used pirated libraries (2025 court records).</a:t>
            </a:r>
          </a:p>
          <a:p>
            <a:pPr marL="171450" indent="-17145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Finance text is mostly mean-variance:</a:t>
            </a:r>
            <a:r>
              <a:rPr sz="1500" b="0">
                <a:solidFill>
                  <a:srgbClr val="404040"/>
                </a:solidFill>
              </a:rPr>
              <a:t> return versus risk. Recession hedging lives in specialist research; popular advice uses age rules.</a:t>
            </a:r>
          </a:p>
          <a:p>
            <a:pPr marL="171450" indent="-17145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So the pattern is predicted:</a:t>
            </a:r>
            <a:r>
              <a:rPr sz="1500" b="0">
                <a:solidFill>
                  <a:srgbClr val="404040"/>
                </a:solidFill>
              </a:rPr>
              <a:t> return, volatility and age matter (Tables 3, 8, 9); ρ doesn’t. That reflects the corpus, not rationality.</a:t>
            </a:r>
          </a:p>
        </p:txBody>
      </p:sp>
      <p:sp>
        <p:nvSpPr>
          <p:cNvPr id="11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How Rational Is AI Investment Advice?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Comment 1 (cont.): Test the training-text story</a:t>
            </a:r>
          </a:p>
        </p:txBody>
      </p:sp>
      <p:sp>
        <p:nvSpPr>
          <p:cNvPr id="3" name="tests"/>
          <p:cNvSpPr txBox="1"/>
          <p:nvPr/>
        </p:nvSpPr>
        <p:spPr>
          <a:xfrm>
            <a:off x="1097280" y="2057400"/>
            <a:ext cx="10058400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71450" indent="-17145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1. Measure the corpus.</a:t>
            </a:r>
            <a:r>
              <a:rPr sz="1500" b="0">
                <a:solidFill>
                  <a:srgbClr val="404040"/>
                </a:solidFill>
              </a:rPr>
              <a:t> How often do mean-variance vs hedging ideas appear in textbooks, websites and SSRN abstracts? Do the AI’s responses match?</a:t>
            </a:r>
          </a:p>
          <a:p>
            <a:pPr marL="171450" indent="-17145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2. Knows it, but doesn’t use it?</a:t>
            </a:r>
            <a:r>
              <a:rPr sz="1500" b="0">
                <a:solidFill>
                  <a:srgbClr val="404040"/>
                </a:solidFill>
              </a:rPr>
              <a:t> Ask GPT-5 why stocks that fall in recessions are riskier. If it knows but ignores it in advice, that’s habit, not ignorance.</a:t>
            </a:r>
          </a:p>
          <a:p>
            <a:pPr marL="525780" indent="-14859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300" b="0">
                <a:solidFill>
                  <a:srgbClr val="404040"/>
                </a:solidFill>
              </a:rPr>
              <a:t>Ask for a one-line reason with each allocation: does it mention the economy?</a:t>
            </a:r>
          </a:p>
          <a:p>
            <a:pPr marL="171450" indent="-17145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3. Prompt it explicitly:</a:t>
            </a:r>
            <a:r>
              <a:rPr sz="1500" b="0">
                <a:solidFill>
                  <a:srgbClr val="404040"/>
                </a:solidFill>
              </a:rPr>
              <a:t> “use Merton’s intertemporal CAPM”, “treat stocks as a hedge”.</a:t>
            </a:r>
          </a:p>
          <a:p>
            <a:pPr marL="525780" indent="-14859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300" b="0">
                <a:solidFill>
                  <a:srgbClr val="404040"/>
                </a:solidFill>
              </a:rPr>
              <a:t>If it then responds to ρ, it knew all along, but only users who ask get the better advice.</a:t>
            </a:r>
          </a:p>
          <a:p>
            <a:pPr marL="525780" indent="-14859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300" b="0">
                <a:solidFill>
                  <a:srgbClr val="404040"/>
                </a:solidFill>
              </a:rPr>
              <a:t>If not, it really can’t.</a:t>
            </a:r>
          </a:p>
          <a:p>
            <a:pPr marL="171450" indent="-17145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4. Same text, different tuning.</a:t>
            </a:r>
            <a:r>
              <a:rPr sz="1500" b="0">
                <a:solidFill>
                  <a:srgbClr val="404040"/>
                </a:solidFill>
              </a:rPr>
              <a:t> GPT-4.1 and GPT-5 read similar text, but only GPT-5 cuts stocks when volatility rises (Table 8): that’s fine-tuning.</a:t>
            </a:r>
          </a:p>
        </p:txBody>
      </p:sp>
      <p:sp>
        <p:nvSpPr>
          <p:cNvPr id="4" name="take"/>
          <p:cNvSpPr txBox="1"/>
          <p:nvPr/>
        </p:nvSpPr>
        <p:spPr>
          <a:xfrm>
            <a:off x="1097280" y="5715000"/>
            <a:ext cx="10058400" cy="548640"/>
          </a:xfrm>
          <a:prstGeom prst="rect">
            <a:avLst/>
          </a:prstGeom>
          <a:solidFill>
            <a:srgbClr val="D9E0E6"/>
          </a:solidFill>
        </p:spPr>
        <p:txBody>
          <a:bodyPr wrap="square" anchor="ctr" lIns="137160" rIns="137160">
            <a:spAutoFit/>
          </a:bodyPr>
          <a:lstStyle/>
          <a:p>
            <a:r>
              <a:rPr sz="1500" b="0">
                <a:solidFill>
                  <a:srgbClr val="404040"/>
                </a:solidFill>
              </a:rPr>
              <a:t>Without test 1, a training-data story can explain anything.</a:t>
            </a:r>
          </a:p>
        </p:txBody>
      </p:sp>
      <p:sp>
        <p:nvSpPr>
          <p:cNvPr id="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How Rational Is AI Investment Advice?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Appendix A1: What does theory predict for ρ?</a:t>
            </a:r>
          </a:p>
        </p:txBody>
      </p:sp>
      <p:sp>
        <p:nvSpPr>
          <p:cNvPr id="3" name="theory"/>
          <p:cNvSpPr txBox="1"/>
          <p:nvPr/>
        </p:nvSpPr>
        <p:spPr>
          <a:xfrm>
            <a:off x="1097280" y="2057400"/>
            <a:ext cx="512064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60020" indent="-16002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400" b="1">
                <a:solidFill>
                  <a:srgbClr val="2683C6"/>
                </a:solidFill>
              </a:rPr>
              <a:t>For the prompt as posed, ρ does not enter.</a:t>
            </a:r>
            <a:r>
              <a:rPr sz="1400" b="0">
                <a:solidFill>
                  <a:srgbClr val="404040"/>
                </a:solidFill>
              </a:rPr>
              <a:t> Only financial wealth, with expected return μ and volatility σ given: w* = (μ − r) / γσ². In equilibrium μ already pays for covariance with consumption.</a:t>
            </a:r>
          </a:p>
          <a:p>
            <a:pPr marL="160020" indent="-16002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400" b="1">
                <a:solidFill>
                  <a:srgbClr val="2683C6"/>
                </a:solidFill>
              </a:rPr>
              <a:t>ρ matters only with other risk</a:t>
            </a:r>
            <a:r>
              <a:rPr sz="1400" b="0">
                <a:solidFill>
                  <a:srgbClr val="404040"/>
                </a:solidFill>
              </a:rPr>
              <a:t>, such as a paycheck that moves with the economy (Bodie, Merton &amp; Samuelson 1992; Viceira 2001). The prompt never mentions it. Under the corpus’s assumptions, ignoring ρ is correct.</a:t>
            </a:r>
          </a:p>
          <a:p>
            <a:pPr marL="160020" indent="-160020">
              <a:spcBef>
                <a:spcPts val="500"/>
              </a:spcBef>
              <a:buClr>
                <a:srgbClr val="2683C6"/>
              </a:buClr>
              <a:buFont typeface="Arial"/>
              <a:buChar char="▪"/>
            </a:pPr>
            <a:r>
              <a:rPr sz="1400" b="1">
                <a:solidFill>
                  <a:srgbClr val="2683C6"/>
                </a:solidFill>
              </a:rPr>
              <a:t>Fix:</a:t>
            </a:r>
            <a:r>
              <a:rPr sz="1400" b="0">
                <a:solidFill>
                  <a:srgbClr val="404040"/>
                </a:solidFill>
              </a:rPr>
              <a:t> compute the textbook share for every prompt and compare it with the AI’s; tell the model about the client’s job risk and vary it; measure what a client loses by following the AI.</a:t>
            </a:r>
          </a:p>
        </p:txBody>
      </p:sp>
      <p:sp>
        <p:nvSpPr>
          <p:cNvPr id="4" name="formula"/>
          <p:cNvSpPr txBox="1"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solidFill>
            <a:srgbClr val="D9E0E6"/>
          </a:solidFill>
        </p:spPr>
        <p:txBody>
          <a:bodyPr wrap="square" anchor="ctr" lIns="137160" rIns="137160">
            <a:spAutoFit/>
          </a:bodyPr>
          <a:lstStyle/>
          <a:p>
            <a:r>
              <a:rPr sz="1400" b="0">
                <a:solidFill>
                  <a:srgbClr val="404040"/>
                </a:solidFill>
              </a:rPr>
              <a:t>w</a:t>
            </a:r>
            <a:r>
              <a:rPr baseline="30000" sz="1400" b="0">
                <a:solidFill>
                  <a:srgbClr val="404040"/>
                </a:solidFill>
              </a:rPr>
              <a:t>*</a:t>
            </a:r>
            <a:r>
              <a:rPr sz="1400" b="0">
                <a:solidFill>
                  <a:srgbClr val="404040"/>
                </a:solidFill>
              </a:rPr>
              <a:t> = (μ − r)/γσ</a:t>
            </a:r>
            <a:r>
              <a:rPr baseline="-25000" sz="1400" b="0">
                <a:solidFill>
                  <a:srgbClr val="404040"/>
                </a:solidFill>
              </a:rPr>
              <a:t>s</a:t>
            </a:r>
            <a:r>
              <a:rPr baseline="30000" sz="1400" b="0">
                <a:solidFill>
                  <a:srgbClr val="404040"/>
                </a:solidFill>
              </a:rPr>
              <a:t>2</a:t>
            </a:r>
            <a:r>
              <a:rPr sz="1400" b="0">
                <a:solidFill>
                  <a:srgbClr val="404040"/>
                </a:solidFill>
              </a:rPr>
              <a:t> · (1 + H/W) − ρ · (σ</a:t>
            </a:r>
            <a:r>
              <a:rPr baseline="-25000" sz="1400" b="0">
                <a:solidFill>
                  <a:srgbClr val="404040"/>
                </a:solidFill>
              </a:rPr>
              <a:t>y</a:t>
            </a:r>
            <a:r>
              <a:rPr sz="1400" b="0">
                <a:solidFill>
                  <a:srgbClr val="404040"/>
                </a:solidFill>
              </a:rPr>
              <a:t>/σ</a:t>
            </a:r>
            <a:r>
              <a:rPr baseline="-25000" sz="1400" b="0">
                <a:solidFill>
                  <a:srgbClr val="404040"/>
                </a:solidFill>
              </a:rPr>
              <a:t>s</a:t>
            </a:r>
            <a:r>
              <a:rPr sz="1400" b="0">
                <a:solidFill>
                  <a:srgbClr val="404040"/>
                </a:solidFill>
              </a:rPr>
              <a:t>) · H/W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92240" y="2697480"/>
          <a:ext cx="4663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73736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Textbook (γ = 5)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GPT-5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+1 pp return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</a:rPr>
                        <a:t>+17.3 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</a:rPr>
                        <a:t>+7.7 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+1 pp volatility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</a:rPr>
                        <a:t>−9.4 pp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</a:rPr>
                        <a:t>−1.1 pp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</a:rPr>
                        <a:t>+0.1 ρ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</a:rPr>
                        <a:t>−1.2 pp × H/W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</a:rPr>
                        <a:t>−0.9 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6492240" y="4160520"/>
            <a:ext cx="4663440" cy="54864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r>
              <a:rPr sz="1000" b="0">
                <a:solidFill>
                  <a:srgbClr val="404040"/>
                </a:solidFill>
              </a:rPr>
              <a:t>Change in % of $1,000 put in stocks. Textbook column: discussant’s calculation at the median draws (appendix A2–A3); GPT-5: Table 2B, col. 5. σ</a:t>
            </a:r>
            <a:r>
              <a:rPr baseline="-25000" sz="1000" b="0">
                <a:solidFill>
                  <a:srgbClr val="404040"/>
                </a:solidFill>
              </a:rPr>
              <a:t>s</a:t>
            </a:r>
            <a:r>
              <a:rPr sz="1000" b="0">
                <a:solidFill>
                  <a:srgbClr val="404040"/>
                </a:solidFill>
              </a:rPr>
              <a:t>, σ</a:t>
            </a:r>
            <a:r>
              <a:rPr baseline="-25000" sz="1000" b="0">
                <a:solidFill>
                  <a:srgbClr val="404040"/>
                </a:solidFill>
              </a:rPr>
              <a:t>y</a:t>
            </a:r>
            <a:r>
              <a:rPr sz="1000" b="0">
                <a:solidFill>
                  <a:srgbClr val="404040"/>
                </a:solidFill>
              </a:rPr>
              <a:t>: stock, income (GDP) volatility; H, W: human capital, financial wealth.</a:t>
            </a:r>
          </a:p>
        </p:txBody>
      </p:sp>
      <p:sp>
        <p:nvSpPr>
          <p:cNvPr id="7" name="reading"/>
          <p:cNvSpPr txBox="1"/>
          <p:nvPr/>
        </p:nvSpPr>
        <p:spPr>
          <a:xfrm>
            <a:off x="6492240" y="4709160"/>
            <a:ext cx="466344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60020" indent="-16002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400" b="1">
                <a:solidFill>
                  <a:srgbClr val="2683C6"/>
                </a:solidFill>
              </a:rPr>
              <a:t>Reading:</a:t>
            </a:r>
            <a:r>
              <a:rPr sz="1400" b="0">
                <a:solidFill>
                  <a:srgbClr val="404040"/>
                </a:solidFill>
              </a:rPr>
              <a:t> GPT-5 moves the right way but too little, above all on volatility (a tenth of the textbook response at γ = 5, a quarter even at γ = 10). On ρ, theory allows anything from no response (no job income) to a sizable one; GPT-5’s small cut sits in that range.</a:t>
            </a:r>
          </a:p>
        </p:txBody>
      </p:sp>
      <p:sp>
        <p:nvSpPr>
          <p:cNvPr id="8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How Rational Is AI Investment Advice?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Comment 2: Compared with whom?</a:t>
            </a:r>
          </a:p>
        </p:txBody>
      </p:sp>
      <p:sp>
        <p:nvSpPr>
          <p:cNvPr id="3" name="issue"/>
          <p:cNvSpPr txBox="1"/>
          <p:nvPr/>
        </p:nvSpPr>
        <p:spPr>
          <a:xfrm>
            <a:off x="1097280" y="2057400"/>
            <a:ext cx="548640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Bef>
                <a:spcPts val="10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The issue.</a:t>
            </a:r>
            <a:r>
              <a:rPr sz="1600" b="0">
                <a:solidFill>
                  <a:srgbClr val="404040"/>
                </a:solidFill>
              </a:rPr>
              <a:t> The paper grades GPT-5 against an ideal textbook investor, but most people and advisors also ignore how stocks move with the economy. Failing, or doing what everyone does?</a:t>
            </a:r>
          </a:p>
          <a:p>
            <a:pPr marL="182880" indent="-182880">
              <a:spcBef>
                <a:spcPts val="10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Why it matters.</a:t>
            </a:r>
            <a:r>
              <a:rPr sz="1600" b="0">
                <a:solidFill>
                  <a:srgbClr val="404040"/>
                </a:solidFill>
              </a:rPr>
              <a:t> “Irrational” only means something relative to the real alternatives: own judgment, a human advisor, or a robo-advisor.</a:t>
            </a:r>
          </a:p>
          <a:p>
            <a:pPr marL="548640" indent="-16002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400" b="0">
                <a:solidFill>
                  <a:srgbClr val="404040"/>
                </a:solidFill>
              </a:rPr>
              <a:t>A self-driving car tested on an empty track tells you little about city traffic.</a:t>
            </a:r>
          </a:p>
          <a:p>
            <a:pPr marL="182880" indent="-182880">
              <a:spcBef>
                <a:spcPts val="1000"/>
              </a:spcBef>
              <a:buClr>
                <a:srgbClr val="2683C6"/>
              </a:buClr>
              <a:buFont typeface="Arial"/>
              <a:buChar char="▪"/>
            </a:pPr>
            <a:r>
              <a:rPr sz="1600" b="1">
                <a:solidFill>
                  <a:srgbClr val="2683C6"/>
                </a:solidFill>
              </a:rPr>
              <a:t>The textbook is less clear-cut:</a:t>
            </a:r>
            <a:r>
              <a:rPr sz="1600" b="0">
                <a:solidFill>
                  <a:srgbClr val="404040"/>
                </a:solidFill>
              </a:rPr>
              <a:t> for the client in the prompt, theory suggests ρ may not change the allocation (appendix A1).</a:t>
            </a:r>
          </a:p>
        </p:txBody>
      </p:sp>
      <p:sp>
        <p:nvSpPr>
          <p:cNvPr id="4" name="suggest"/>
          <p:cNvSpPr txBox="1"/>
          <p:nvPr/>
        </p:nvSpPr>
        <p:spPr>
          <a:xfrm>
            <a:off x="6903720" y="2057400"/>
            <a:ext cx="425196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700" b="1">
                <a:solidFill>
                  <a:srgbClr val="344068"/>
                </a:solidFill>
              </a:rPr>
              <a:t>Suggestions</a:t>
            </a:r>
          </a:p>
          <a:p>
            <a:pPr marL="171450" indent="-17145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500" b="0">
                <a:solidFill>
                  <a:srgbClr val="404040"/>
                </a:solidFill>
              </a:rPr>
              <a:t>Compare with </a:t>
            </a:r>
            <a:r>
              <a:rPr sz="1500" b="1">
                <a:solidFill>
                  <a:srgbClr val="2683C6"/>
                </a:solidFill>
              </a:rPr>
              <a:t>people</a:t>
            </a:r>
            <a:r>
              <a:rPr sz="1500" b="0">
                <a:solidFill>
                  <a:srgbClr val="404040"/>
                </a:solidFill>
              </a:rPr>
              <a:t>: Chinco, Hartzmark &amp; Sussman (2022) ran the same survey on humans.</a:t>
            </a:r>
          </a:p>
          <a:p>
            <a:pPr marL="171450" indent="-17145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500" b="0">
                <a:solidFill>
                  <a:srgbClr val="404040"/>
                </a:solidFill>
              </a:rPr>
              <a:t>Compare with </a:t>
            </a:r>
            <a:r>
              <a:rPr sz="1500" b="1">
                <a:solidFill>
                  <a:srgbClr val="2683C6"/>
                </a:solidFill>
              </a:rPr>
              <a:t>robo-advisors</a:t>
            </a:r>
            <a:r>
              <a:rPr sz="1500" b="0">
                <a:solidFill>
                  <a:srgbClr val="404040"/>
                </a:solidFill>
              </a:rPr>
              <a:t>: same client profiles, rule-based allocations.</a:t>
            </a:r>
          </a:p>
          <a:p>
            <a:pPr marL="171450" indent="-17145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500" b="0">
                <a:solidFill>
                  <a:srgbClr val="404040"/>
                </a:solidFill>
              </a:rPr>
              <a:t>Tell the AI the </a:t>
            </a:r>
            <a:r>
              <a:rPr sz="1500" b="1">
                <a:solidFill>
                  <a:srgbClr val="2683C6"/>
                </a:solidFill>
              </a:rPr>
              <a:t>client’s job</a:t>
            </a:r>
            <a:r>
              <a:rPr sz="1500" b="0">
                <a:solidFill>
                  <a:srgbClr val="404040"/>
                </a:solidFill>
              </a:rPr>
              <a:t> (“construction worker”) and see if the advice changes.</a:t>
            </a:r>
          </a:p>
          <a:p>
            <a:pPr marL="171450" indent="-17145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500" b="0">
                <a:solidFill>
                  <a:srgbClr val="404040"/>
                </a:solidFill>
              </a:rPr>
              <a:t>Report the </a:t>
            </a:r>
            <a:r>
              <a:rPr sz="1500" b="1">
                <a:solidFill>
                  <a:srgbClr val="2683C6"/>
                </a:solidFill>
              </a:rPr>
              <a:t>cost to the client in dollars</a:t>
            </a:r>
            <a:r>
              <a:rPr sz="1500" b="0">
                <a:solidFill>
                  <a:srgbClr val="404040"/>
                </a:solidFill>
              </a:rPr>
              <a:t>, not only p-values.</a:t>
            </a:r>
          </a:p>
        </p:txBody>
      </p:sp>
      <p:sp>
        <p:nvSpPr>
          <p:cNvPr id="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How Rational Is AI Investment Advice?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Comment 3: Why it matters, and for whom</a:t>
            </a:r>
          </a:p>
        </p:txBody>
      </p:sp>
      <p:sp>
        <p:nvSpPr>
          <p:cNvPr id="3" name="systematic"/>
          <p:cNvSpPr txBox="1"/>
          <p:nvPr/>
        </p:nvSpPr>
        <p:spPr>
          <a:xfrm>
            <a:off x="1097280" y="2057400"/>
            <a:ext cx="548640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344068"/>
                </a:solidFill>
              </a:rPr>
              <a:t>From one client to the whole market</a:t>
            </a:r>
          </a:p>
          <a:p>
            <a:pPr marL="194310" indent="-194310">
              <a:spcBef>
                <a:spcPts val="10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One client:</a:t>
            </a:r>
            <a:r>
              <a:rPr sz="1700" b="0">
                <a:solidFill>
                  <a:srgbClr val="404040"/>
                </a:solidFill>
              </a:rPr>
              <a:t> a stock that falls when you lose your job is poor insurance.</a:t>
            </a:r>
          </a:p>
          <a:p>
            <a:pPr marL="194310" indent="-194310">
              <a:spcBef>
                <a:spcPts val="10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Millions of clients:</a:t>
            </a:r>
            <a:r>
              <a:rPr sz="1700" b="0">
                <a:solidFill>
                  <a:srgbClr val="404040"/>
                </a:solidFill>
              </a:rPr>
              <a:t> same model, same tilt. Mistakes add up instead of canceling out.</a:t>
            </a:r>
          </a:p>
          <a:p>
            <a:pPr marL="194310" indent="-194310">
              <a:spcBef>
                <a:spcPts val="10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Price it first:</a:t>
            </a:r>
            <a:r>
              <a:rPr sz="1700" b="0">
                <a:solidFill>
                  <a:srgbClr val="404040"/>
                </a:solidFill>
              </a:rPr>
              <a:t> what does following the AI cost a client per year, versus the textbook allocation and versus a human advisor or robo-advisor?</a:t>
            </a:r>
          </a:p>
        </p:txBody>
      </p:sp>
      <p:sp>
        <p:nvSpPr>
          <p:cNvPr id="4" name="gender"/>
          <p:cNvSpPr txBox="1"/>
          <p:nvPr/>
        </p:nvSpPr>
        <p:spPr>
          <a:xfrm>
            <a:off x="6903720" y="2057400"/>
            <a:ext cx="425196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900" b="1">
                <a:solidFill>
                  <a:srgbClr val="344068"/>
                </a:solidFill>
              </a:rPr>
              <a:t>Gender: test it first</a:t>
            </a:r>
          </a:p>
          <a:p>
            <a:pPr marL="194310" indent="-194310">
              <a:spcBef>
                <a:spcPts val="1000"/>
              </a:spcBef>
              <a:buClr>
                <a:srgbClr val="2683C6"/>
              </a:buClr>
              <a:buFont typeface="Arial"/>
              <a:buChar char="▪"/>
            </a:pPr>
            <a:r>
              <a:rPr sz="1700" b="0">
                <a:solidFill>
                  <a:srgbClr val="404040"/>
                </a:solidFill>
              </a:rPr>
              <a:t>The paper never tests whether men and women differ.</a:t>
            </a:r>
          </a:p>
          <a:p>
            <a:pPr marL="194310" indent="-194310">
              <a:spcBef>
                <a:spcPts val="1000"/>
              </a:spcBef>
              <a:buClr>
                <a:srgbClr val="2683C6"/>
              </a:buClr>
              <a:buFont typeface="Arial"/>
              <a:buChar char="▪"/>
            </a:pPr>
            <a:r>
              <a:rPr sz="1700" b="0">
                <a:solidFill>
                  <a:srgbClr val="404040"/>
                </a:solidFill>
              </a:rPr>
              <a:t>Average advice is the same for both (Table 1C).</a:t>
            </a:r>
          </a:p>
          <a:p>
            <a:pPr marL="194310" indent="-194310">
              <a:spcBef>
                <a:spcPts val="10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Test:</a:t>
            </a:r>
            <a:r>
              <a:rPr sz="1700" b="0">
                <a:solidFill>
                  <a:srgbClr val="404040"/>
                </a:solidFill>
              </a:rPr>
              <a:t> same prompts, only the gender swapped.</a:t>
            </a:r>
          </a:p>
        </p:txBody>
      </p:sp>
      <p:sp>
        <p:nvSpPr>
          <p:cNvPr id="5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How Rational Is AI Investment Advice?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Minor comments</a:t>
            </a:r>
          </a:p>
        </p:txBody>
      </p:sp>
      <p:sp>
        <p:nvSpPr>
          <p:cNvPr id="3" name="minor"/>
          <p:cNvSpPr txBox="1"/>
          <p:nvPr/>
        </p:nvSpPr>
        <p:spPr>
          <a:xfrm>
            <a:off x="1097280" y="2057400"/>
            <a:ext cx="1005840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Re-check the dependent variable and standard errors.</a:t>
            </a:r>
            <a:r>
              <a:rPr sz="1700" b="0">
                <a:solidFill>
                  <a:srgbClr val="404040"/>
                </a:solidFill>
              </a:rPr>
              <a:t> The “logit” share in Table 1 looks like the odds ratio (its maximum is 9,997; a log would stop at 9.2), and standard errors are clustered on only two groups (male / female). The main results depend on both.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Prompt (App. A.1):</a:t>
            </a:r>
            <a:r>
              <a:rPr sz="1700" b="0">
                <a:solidFill>
                  <a:srgbClr val="404040"/>
                </a:solidFill>
              </a:rPr>
              <a:t> is the model advising a client or investing “for yourself”? The risk aversion used in Tables 4 and 9 is not in the sample prompt.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Let ρ go negative</a:t>
            </a:r>
            <a:r>
              <a:rPr sz="1700" b="0">
                <a:solidFill>
                  <a:srgbClr val="404040"/>
                </a:solidFill>
              </a:rPr>
              <a:t> (footnote 3 rules it out): stocks that hedge the economy are the cleanest test.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Table notes</a:t>
            </a:r>
            <a:r>
              <a:rPr sz="1700" b="0">
                <a:solidFill>
                  <a:srgbClr val="404040"/>
                </a:solidFill>
              </a:rPr>
              <a:t> say t-statistics are in parentheses; the numbers are p-values.</a:t>
            </a:r>
          </a:p>
          <a:p>
            <a:pPr marL="194310" indent="-194310">
              <a:spcBef>
                <a:spcPts val="800"/>
              </a:spcBef>
              <a:buClr>
                <a:srgbClr val="2683C6"/>
              </a:buClr>
              <a:buFont typeface="Arial"/>
              <a:buChar char="▪"/>
            </a:pPr>
            <a:r>
              <a:rPr sz="1700" b="1">
                <a:solidFill>
                  <a:srgbClr val="2683C6"/>
                </a:solidFill>
              </a:rPr>
              <a:t>Title:</a:t>
            </a:r>
            <a:r>
              <a:rPr sz="1700" b="0">
                <a:solidFill>
                  <a:srgbClr val="404040"/>
                </a:solidFill>
              </a:rPr>
              <a:t> “rational” → “consistent with textbook portfolio theory”.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How Rational Is AI Investment Advice?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34DE7-06DB-1967-2237-15FE2ED2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48840"/>
            <a:ext cx="7537704" cy="361188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1F868-4C26-5ADB-30DD-B2BA73009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2331720"/>
            <a:ext cx="6470692" cy="2103120"/>
          </a:xfrm>
        </p:spPr>
        <p:txBody>
          <a:bodyPr wrap="square" anchor="b">
            <a:normAutofit/>
          </a:bodyPr>
          <a:lstStyle/>
          <a:p>
            <a:r>
              <a:rPr sz="3400"/>
              <a:t>Thank you, and good luck with the paper!</a:t>
            </a:r>
            <a:endParaRPr lang="en-US" sz="54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22037-B258-2C42-7D61-709048992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617720"/>
            <a:ext cx="6470693" cy="100584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sz="1600"/>
              <a:t>A timely question with a clean, extendable design.</a:t>
            </a:r>
            <a:endParaRPr lang="en-US"/>
          </a:p>
          <a:p>
            <a:pPr>
              <a:spcBef>
                <a:spcPts val="0"/>
              </a:spcBef>
            </a:pPr>
            <a:r>
              <a:rPr sz="1600"/>
              <a:t>I look forward to the next draft.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526280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Appendix A2: the textbook benchmark</a:t>
            </a:r>
          </a:p>
        </p:txBody>
      </p:sp>
      <p:sp>
        <p:nvSpPr>
          <p:cNvPr id="3" name="model"/>
          <p:cNvSpPr txBox="1"/>
          <p:nvPr/>
        </p:nvSpPr>
        <p:spPr>
          <a:xfrm>
            <a:off x="1097280" y="2103120"/>
            <a:ext cx="1005840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71450" indent="-17145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Setup (the prompt’s investor):</a:t>
            </a:r>
            <a:r>
              <a:rPr sz="1500" b="0">
                <a:solidFill>
                  <a:srgbClr val="404040"/>
                </a:solidFill>
              </a:rPr>
              <a:t> CRRA risk aversion γ; financial wealth W; a stock fund with expected return μ and volatility σ</a:t>
            </a:r>
            <a:r>
              <a:rPr baseline="-25000" sz="1500" b="0">
                <a:solidFill>
                  <a:srgbClr val="404040"/>
                </a:solidFill>
              </a:rPr>
              <a:t>s</a:t>
            </a:r>
            <a:r>
              <a:rPr sz="1500" b="0">
                <a:solidFill>
                  <a:srgbClr val="404040"/>
                </a:solidFill>
              </a:rPr>
              <a:t>; a bond paying r = 2%.</a:t>
            </a:r>
          </a:p>
          <a:p>
            <a:pPr marL="171450" indent="-17145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Merton (1969, 1971):</a:t>
            </a:r>
            <a:r>
              <a:rPr sz="1500" b="0">
                <a:solidFill>
                  <a:srgbClr val="404040"/>
                </a:solidFill>
              </a:rPr>
              <a:t> with financial wealth only, the optimal stock share is w</a:t>
            </a:r>
            <a:r>
              <a:rPr baseline="30000" sz="1500" b="0">
                <a:solidFill>
                  <a:srgbClr val="404040"/>
                </a:solidFill>
              </a:rPr>
              <a:t>*</a:t>
            </a:r>
            <a:r>
              <a:rPr sz="1500" b="0">
                <a:solidFill>
                  <a:srgbClr val="404040"/>
                </a:solidFill>
              </a:rPr>
              <a:t> = (μ − r) / γσ</a:t>
            </a:r>
            <a:r>
              <a:rPr baseline="-25000" sz="1500" b="0">
                <a:solidFill>
                  <a:srgbClr val="404040"/>
                </a:solidFill>
              </a:rPr>
              <a:t>s</a:t>
            </a:r>
            <a:r>
              <a:rPr baseline="30000" sz="1500" b="0">
                <a:solidFill>
                  <a:srgbClr val="404040"/>
                </a:solidFill>
              </a:rPr>
              <a:t>2</a:t>
            </a:r>
            <a:r>
              <a:rPr sz="1500" b="0">
                <a:solidFill>
                  <a:srgbClr val="404040"/>
                </a:solidFill>
              </a:rPr>
              <a:t>. ρ does not appear.</a:t>
            </a:r>
          </a:p>
          <a:p>
            <a:pPr marL="171450" indent="-17145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Adding labor income (Bodie, Merton &amp; Samuelson 1992; Campbell &amp; Viceira 2002, ch. 6):</a:t>
            </a:r>
            <a:r>
              <a:rPr sz="1500" b="0">
                <a:solidFill>
                  <a:srgbClr val="404040"/>
                </a:solidFill>
              </a:rPr>
              <a:t> human capital H whose growth has volatility σ</a:t>
            </a:r>
            <a:r>
              <a:rPr baseline="-25000" sz="1500" b="0">
                <a:solidFill>
                  <a:srgbClr val="404040"/>
                </a:solidFill>
              </a:rPr>
              <a:t>y</a:t>
            </a:r>
            <a:r>
              <a:rPr sz="1500" b="0">
                <a:solidFill>
                  <a:srgbClr val="404040"/>
                </a:solidFill>
              </a:rPr>
              <a:t> and correlation ρ with stocks holds an implicit stock position β·H, with β = ρσ</a:t>
            </a:r>
            <a:r>
              <a:rPr baseline="-25000" sz="1500" b="0">
                <a:solidFill>
                  <a:srgbClr val="404040"/>
                </a:solidFill>
              </a:rPr>
              <a:t>y</a:t>
            </a:r>
            <a:r>
              <a:rPr sz="1500" b="0">
                <a:solidFill>
                  <a:srgbClr val="404040"/>
                </a:solidFill>
              </a:rPr>
              <a:t>/σ</a:t>
            </a:r>
            <a:r>
              <a:rPr baseline="-25000" sz="1500" b="0">
                <a:solidFill>
                  <a:srgbClr val="404040"/>
                </a:solidFill>
              </a:rPr>
              <a:t>s</a:t>
            </a:r>
            <a:r>
              <a:rPr sz="1500" b="0">
                <a:solidFill>
                  <a:srgbClr val="404040"/>
                </a:solidFill>
              </a:rPr>
              <a:t>.</a:t>
            </a:r>
          </a:p>
          <a:p>
            <a:pPr marL="525780" indent="-14859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300" b="0">
                <a:solidFill>
                  <a:srgbClr val="404040"/>
                </a:solidFill>
              </a:rPr>
              <a:t>Target stock exposure on total wealth: (μ − r)/γσ</a:t>
            </a:r>
            <a:r>
              <a:rPr baseline="-25000" sz="1300" b="0">
                <a:solidFill>
                  <a:srgbClr val="404040"/>
                </a:solidFill>
              </a:rPr>
              <a:t>s</a:t>
            </a:r>
            <a:r>
              <a:rPr baseline="30000" sz="1300" b="0">
                <a:solidFill>
                  <a:srgbClr val="404040"/>
                </a:solidFill>
              </a:rPr>
              <a:t>2</a:t>
            </a:r>
            <a:r>
              <a:rPr sz="1300" b="0">
                <a:solidFill>
                  <a:srgbClr val="404040"/>
                </a:solidFill>
              </a:rPr>
              <a:t> · (W + H). Subtract the implicit β·H and divide by W:</a:t>
            </a:r>
          </a:p>
          <a:p>
            <a:pPr marL="525780" indent="-14859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300" b="0">
                <a:solidFill>
                  <a:srgbClr val="404040"/>
                </a:solidFill>
              </a:rPr>
              <a:t>w</a:t>
            </a:r>
            <a:r>
              <a:rPr baseline="30000" sz="1300" b="0">
                <a:solidFill>
                  <a:srgbClr val="404040"/>
                </a:solidFill>
              </a:rPr>
              <a:t>*</a:t>
            </a:r>
            <a:r>
              <a:rPr sz="1300" b="0">
                <a:solidFill>
                  <a:srgbClr val="404040"/>
                </a:solidFill>
              </a:rPr>
              <a:t> = (μ − r)/γσ</a:t>
            </a:r>
            <a:r>
              <a:rPr baseline="-25000" sz="1300" b="0">
                <a:solidFill>
                  <a:srgbClr val="404040"/>
                </a:solidFill>
              </a:rPr>
              <a:t>s</a:t>
            </a:r>
            <a:r>
              <a:rPr baseline="30000" sz="1300" b="0">
                <a:solidFill>
                  <a:srgbClr val="404040"/>
                </a:solidFill>
              </a:rPr>
              <a:t>2</a:t>
            </a:r>
            <a:r>
              <a:rPr sz="1300" b="0">
                <a:solidFill>
                  <a:srgbClr val="404040"/>
                </a:solidFill>
              </a:rPr>
              <a:t> · (1 + H/W) − ρ · (σ</a:t>
            </a:r>
            <a:r>
              <a:rPr baseline="-25000" sz="1300" b="0">
                <a:solidFill>
                  <a:srgbClr val="404040"/>
                </a:solidFill>
              </a:rPr>
              <a:t>y</a:t>
            </a:r>
            <a:r>
              <a:rPr sz="1300" b="0">
                <a:solidFill>
                  <a:srgbClr val="404040"/>
                </a:solidFill>
              </a:rPr>
              <a:t>/σ</a:t>
            </a:r>
            <a:r>
              <a:rPr baseline="-25000" sz="1300" b="0">
                <a:solidFill>
                  <a:srgbClr val="404040"/>
                </a:solidFill>
              </a:rPr>
              <a:t>s</a:t>
            </a:r>
            <a:r>
              <a:rPr sz="1300" b="0">
                <a:solidFill>
                  <a:srgbClr val="404040"/>
                </a:solidFill>
              </a:rPr>
              <a:t>) · H/W</a:t>
            </a:r>
          </a:p>
          <a:p>
            <a:pPr marL="525780" indent="-14859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300" b="0">
                <a:solidFill>
                  <a:srgbClr val="404040"/>
                </a:solidFill>
              </a:rPr>
              <a:t>Frictionless version (H tradable). Viceira (2001) solves the non-tradable case: more complex, same sign.</a:t>
            </a:r>
          </a:p>
          <a:p>
            <a:pPr marL="171450" indent="-171450">
              <a:spcBef>
                <a:spcPts val="600"/>
              </a:spcBef>
              <a:buClr>
                <a:srgbClr val="2683C6"/>
              </a:buClr>
              <a:buFont typeface="Arial"/>
              <a:buChar char="▪"/>
            </a:pPr>
            <a:r>
              <a:rPr sz="1500" b="1">
                <a:solidFill>
                  <a:srgbClr val="2683C6"/>
                </a:solidFill>
              </a:rPr>
              <a:t>Sensitivities used in the table</a:t>
            </a:r>
            <a:r>
              <a:rPr sz="1500" b="0">
                <a:solidFill>
                  <a:srgbClr val="404040"/>
                </a:solidFill>
              </a:rPr>
              <a:t> (rows 1–2 at H = 0, the prompt’s investor; row 3 per unit of H/W):</a:t>
            </a:r>
          </a:p>
          <a:p>
            <a:pPr marL="525780" indent="-148590">
              <a:spcBef>
                <a:spcPts val="200"/>
              </a:spcBef>
              <a:buClr>
                <a:srgbClr val="2683C6"/>
              </a:buClr>
              <a:buFont typeface="Arial"/>
              <a:buChar char="–"/>
            </a:pPr>
            <a:r>
              <a:rPr sz="1300" b="0">
                <a:solidFill>
                  <a:srgbClr val="404040"/>
                </a:solidFill>
              </a:rPr>
              <a:t>∂w</a:t>
            </a:r>
            <a:r>
              <a:rPr baseline="30000" sz="1300" b="0">
                <a:solidFill>
                  <a:srgbClr val="404040"/>
                </a:solidFill>
              </a:rPr>
              <a:t>*</a:t>
            </a:r>
            <a:r>
              <a:rPr sz="1300" b="0">
                <a:solidFill>
                  <a:srgbClr val="404040"/>
                </a:solidFill>
              </a:rPr>
              <a:t>/∂μ = 1 / γσ</a:t>
            </a:r>
            <a:r>
              <a:rPr baseline="-25000" sz="1300" b="0">
                <a:solidFill>
                  <a:srgbClr val="404040"/>
                </a:solidFill>
              </a:rPr>
              <a:t>s</a:t>
            </a:r>
            <a:r>
              <a:rPr baseline="30000" sz="1300" b="0">
                <a:solidFill>
                  <a:srgbClr val="404040"/>
                </a:solidFill>
              </a:rPr>
              <a:t>2</a:t>
            </a:r>
            <a:r>
              <a:rPr sz="1300" b="0">
                <a:solidFill>
                  <a:srgbClr val="404040"/>
                </a:solidFill>
              </a:rPr>
              <a:t>      ∂w</a:t>
            </a:r>
            <a:r>
              <a:rPr baseline="30000" sz="1300" b="0">
                <a:solidFill>
                  <a:srgbClr val="404040"/>
                </a:solidFill>
              </a:rPr>
              <a:t>*</a:t>
            </a:r>
            <a:r>
              <a:rPr sz="1300" b="0">
                <a:solidFill>
                  <a:srgbClr val="404040"/>
                </a:solidFill>
              </a:rPr>
              <a:t>/∂σ</a:t>
            </a:r>
            <a:r>
              <a:rPr baseline="-25000" sz="1300" b="0">
                <a:solidFill>
                  <a:srgbClr val="404040"/>
                </a:solidFill>
              </a:rPr>
              <a:t>s</a:t>
            </a:r>
            <a:r>
              <a:rPr sz="1300" b="0">
                <a:solidFill>
                  <a:srgbClr val="404040"/>
                </a:solidFill>
              </a:rPr>
              <a:t> = −2(μ − r) / γσ</a:t>
            </a:r>
            <a:r>
              <a:rPr baseline="-25000" sz="1300" b="0">
                <a:solidFill>
                  <a:srgbClr val="404040"/>
                </a:solidFill>
              </a:rPr>
              <a:t>s</a:t>
            </a:r>
            <a:r>
              <a:rPr baseline="30000" sz="1300" b="0">
                <a:solidFill>
                  <a:srgbClr val="404040"/>
                </a:solidFill>
              </a:rPr>
              <a:t>3</a:t>
            </a:r>
            <a:r>
              <a:rPr sz="1300" b="0">
                <a:solidFill>
                  <a:srgbClr val="404040"/>
                </a:solidFill>
              </a:rPr>
              <a:t>      ∂w</a:t>
            </a:r>
            <a:r>
              <a:rPr baseline="30000" sz="1300" b="0">
                <a:solidFill>
                  <a:srgbClr val="404040"/>
                </a:solidFill>
              </a:rPr>
              <a:t>*</a:t>
            </a:r>
            <a:r>
              <a:rPr sz="1300" b="0">
                <a:solidFill>
                  <a:srgbClr val="404040"/>
                </a:solidFill>
              </a:rPr>
              <a:t>/∂ρ = −(σ</a:t>
            </a:r>
            <a:r>
              <a:rPr baseline="-25000" sz="1300" b="0">
                <a:solidFill>
                  <a:srgbClr val="404040"/>
                </a:solidFill>
              </a:rPr>
              <a:t>y</a:t>
            </a:r>
            <a:r>
              <a:rPr sz="1300" b="0">
                <a:solidFill>
                  <a:srgbClr val="404040"/>
                </a:solidFill>
              </a:rPr>
              <a:t>/σ</a:t>
            </a:r>
            <a:r>
              <a:rPr baseline="-25000" sz="1300" b="0">
                <a:solidFill>
                  <a:srgbClr val="404040"/>
                </a:solidFill>
              </a:rPr>
              <a:t>s</a:t>
            </a:r>
            <a:r>
              <a:rPr sz="1300" b="0">
                <a:solidFill>
                  <a:srgbClr val="404040"/>
                </a:solidFill>
              </a:rPr>
              <a:t>) · H/W</a:t>
            </a:r>
          </a:p>
        </p:txBody>
      </p:sp>
      <p:sp>
        <p:nvSpPr>
          <p:cNvPr id="4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How Rational Is AI Investment Advice?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Appendix A3: the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210312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53035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</a:rPr>
                        <a:t>Stock volatility σ</a:t>
                      </a:r>
                      <a:r>
                        <a:rPr baseline="-25000" sz="1200" b="0">
                          <a:solidFill>
                            <a:srgbClr val="404040"/>
                          </a:solidFill>
                        </a:rPr>
                        <a:t>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10.75%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median draw, Table 1A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</a:rPr>
                        <a:t>Excess return μ − r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4.93% − 2% = 2.93%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median draw, Table 1A; bond in prompt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</a:rPr>
                        <a:t>Income volatility σ</a:t>
                      </a:r>
                      <a:r>
                        <a:rPr baseline="-25000" sz="1200" b="0">
                          <a:solidFill>
                            <a:srgbClr val="404040"/>
                          </a:solidFill>
                        </a:rPr>
                        <a:t>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1.26%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median GDP volatility, Table 1A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</a:rPr>
                        <a:t>Risk aversion γ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chosen: textbook share 0.0293 / (5 × 0.01156) = 51% ≈ GPT-5 mean 48%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3931920"/>
          <a:ext cx="100584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17320"/>
                <a:gridCol w="1417320"/>
                <a:gridCol w="1417320"/>
                <a:gridCol w="2514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γ = 2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γ = 5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γ = 10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GPT-5 (Table 2B, col. 5)</a:t>
                      </a:r>
                    </a:p>
                  </a:txBody>
                  <a:tcPr marL="73152" marR="73152" anchor="ctr">
                    <a:solidFill>
                      <a:srgbClr val="34406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</a:rPr>
                        <a:t>+1 pp return: 1/γσ</a:t>
                      </a:r>
                      <a:r>
                        <a:rPr baseline="-25000" sz="1200" b="0">
                          <a:solidFill>
                            <a:srgbClr val="404040"/>
                          </a:solidFill>
                        </a:rPr>
                        <a:t>s</a:t>
                      </a:r>
                      <a:r>
                        <a:rPr baseline="30000" sz="1200" b="0">
                          <a:solidFill>
                            <a:srgbClr val="404040"/>
                          </a:solidFill>
                        </a:rPr>
                        <a:t>2</a:t>
                      </a:r>
                      <a:r>
                        <a:rPr sz="1200" b="0">
                          <a:solidFill>
                            <a:srgbClr val="404040"/>
                          </a:solidFill>
                        </a:rPr>
                        <a:t> × 0.01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+43 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+17.3 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+8.7 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7.74 × 0.01 = +7.7 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</a:rPr>
                        <a:t>+1 pp volatility: −2(μ − r)/γσ</a:t>
                      </a:r>
                      <a:r>
                        <a:rPr baseline="-25000" sz="1200" b="0">
                          <a:solidFill>
                            <a:srgbClr val="404040"/>
                          </a:solidFill>
                        </a:rPr>
                        <a:t>s</a:t>
                      </a:r>
                      <a:r>
                        <a:rPr baseline="30000" sz="1200" b="0">
                          <a:solidFill>
                            <a:srgbClr val="404040"/>
                          </a:solidFill>
                        </a:rPr>
                        <a:t>3</a:t>
                      </a:r>
                      <a:r>
                        <a:rPr sz="1200" b="0">
                          <a:solidFill>
                            <a:srgbClr val="404040"/>
                          </a:solidFill>
                        </a:rPr>
                        <a:t> × 0.01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−23.6 pp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−9.4 pp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−4.7 pp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−1.14 × 0.01 = −1.1 pp</a:t>
                      </a:r>
                    </a:p>
                  </a:txBody>
                  <a:tcPr marL="73152" marR="73152" anchor="ctr">
                    <a:solidFill>
                      <a:srgbClr val="D9E0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04040"/>
                          </a:solidFill>
                        </a:rPr>
                        <a:t>+0.1 ρ: −(σ</a:t>
                      </a:r>
                      <a:r>
                        <a:rPr baseline="-25000" sz="1200" b="0">
                          <a:solidFill>
                            <a:srgbClr val="404040"/>
                          </a:solidFill>
                        </a:rPr>
                        <a:t>y</a:t>
                      </a:r>
                      <a:r>
                        <a:rPr sz="1200" b="0">
                          <a:solidFill>
                            <a:srgbClr val="404040"/>
                          </a:solidFill>
                        </a:rPr>
                        <a:t>/σ</a:t>
                      </a:r>
                      <a:r>
                        <a:rPr baseline="-25000" sz="1200" b="0">
                          <a:solidFill>
                            <a:srgbClr val="404040"/>
                          </a:solidFill>
                        </a:rPr>
                        <a:t>s</a:t>
                      </a:r>
                      <a:r>
                        <a:rPr sz="1200" b="0">
                          <a:solidFill>
                            <a:srgbClr val="404040"/>
                          </a:solidFill>
                        </a:rPr>
                        <a:t>) × 0.1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−1.2 pp × H/W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−1.2 pp × H/W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−1.2 pp × H/W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04040"/>
                          </a:solidFill>
                        </a:rPr>
                        <a:t>−0.095 × 0.1 = −0.9 pp (p = 0.31)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veats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r>
              <a:rPr sz="1100" b="0">
                <a:solidFill>
                  <a:srgbClr val="404040"/>
                </a:solidFill>
              </a:rPr>
              <a:t>Caveats: textbook numbers are local responses at the median prompt; GPT-5’s are average slopes over all prompts, including 0% and 100% answers. σ</a:t>
            </a:r>
            <a:r>
              <a:rPr baseline="-25000" sz="1100" b="0">
                <a:solidFill>
                  <a:srgbClr val="404040"/>
                </a:solidFill>
              </a:rPr>
              <a:t>y</a:t>
            </a:r>
            <a:r>
              <a:rPr sz="1100" b="0">
                <a:solidFill>
                  <a:srgbClr val="404040"/>
                </a:solidFill>
              </a:rPr>
              <a:t> uses GDP volatility as a proxy for income risk; H/W is unknown. The volatility gap survives any reasonable γ; the return gap does not (γ = 10 gives +8.7 vs +7.7).</a:t>
            </a:r>
          </a:p>
        </p:txBody>
      </p:sp>
      <p:sp>
        <p:nvSpPr>
          <p:cNvPr id="6" name="footer text"/>
          <p:cNvSpPr txBox="1"/>
          <p:nvPr/>
        </p:nvSpPr>
        <p:spPr>
          <a:xfrm>
            <a:off x="1097280" y="64465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Discussion  |  How Rational Is AI Investment Advice?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6984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Sagona Extra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gona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Sagona Book</vt:lpstr>
      <vt:lpstr>Sagona ExtraLight</vt:lpstr>
      <vt:lpstr>RetrospectVTI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Dai</dc:creator>
  <cp:lastModifiedBy>Rui Dai</cp:lastModifiedBy>
  <cp:revision>1</cp:revision>
  <dcterms:created xsi:type="dcterms:W3CDTF">2026-10-12T19:05:55Z</dcterms:created>
  <dcterms:modified xsi:type="dcterms:W3CDTF">2026-10-12T19:07:48Z</dcterms:modified>
</cp:coreProperties>
</file>