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3" r:id="rId1"/>
  </p:sldMasterIdLst>
  <p:sldIdLst>
    <p:sldId id="256" r:id="rId2"/>
    <p:sldId id="257" r:id="rId5"/>
    <p:sldId id="258" r:id="rId4"/>
    <p:sldId id="259" r:id="rId3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58"/>
  </p:normalViewPr>
  <p:slideViewPr>
    <p:cSldViewPr snapToGrid="0">
      <p:cViewPr varScale="1">
        <p:scale>
          <a:sx n="104" d="100"/>
          <a:sy n="104" d="100"/>
        </p:scale>
        <p:origin x="232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4.xml"/><Relationship Id="rId4" Type="http://schemas.openxmlformats.org/officeDocument/2006/relationships/slide" Target="slides/slide3.xml"/><Relationship Id="rId5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___.xlsx"/></Relationships>
</file>

<file path=ppt/charts/_rels/chart2.xml.rels><?xml version='1.0' encoding='UTF-8' standalone='yes'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package" Target="../embeddings/Microsoft_Excel____1.xlsx"/></Relationships>
</file>

<file path=ppt/charts/_rels/chart4.xml.rels><?xml version='1.0' encoding='UTF-8' standalone='yes'?>
<Relationships xmlns="http://schemas.openxmlformats.org/package/2006/relationships"><Relationship Id="rId1" Type="http://schemas.microsoft.com/office/2011/relationships/chartStyle" Target="style4.xml"/><Relationship Id="rId2" Type="http://schemas.microsoft.com/office/2011/relationships/chartColorStyle" Target="colors4.xml"/><Relationship Id="rId3" Type="http://schemas.openxmlformats.org/officeDocument/2006/relationships/package" Target="../embeddings/Microsoft_Excel____3.xlsx"/></Relationships>
</file>

<file path=ppt/charts/_rels/chart5.xml.rels><?xml version='1.0' encoding='UTF-8' standalone='yes'?>
<Relationships xmlns="http://schemas.openxmlformats.org/package/2006/relationships"><Relationship Id="rId1" Type="http://schemas.microsoft.com/office/2011/relationships/chartStyle" Target="style5.xml"/><Relationship Id="rId2" Type="http://schemas.microsoft.com/office/2011/relationships/chartColorStyle" Target="colors5.xml"/><Relationship Id="rId3" Type="http://schemas.openxmlformats.org/officeDocument/2006/relationships/oleObject" Target="file:////Volumes/Samsung%20T7/When%20AI%20Washing%20Meets%20Initial%20Public%20Offerings/Figures%20in%20Draft/Figure%203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v>the average of AI keywords</c:v>
          </c:tx>
          <c:spPr>
            <a:ln w="38100" cap="rnd">
              <a:solidFill>
                <a:schemeClr val="accent1"/>
              </a:solidFill>
              <a:prstDash val="lgDash"/>
              <a:round/>
            </a:ln>
            <a:effectLst/>
          </c:spPr>
          <c:marker>
            <c:symbol val="none"/>
          </c:marker>
          <c:cat>
            <c:strRef>
              <c:f>'Chart Data'!$A$2:$A$16</c:f>
              <c:strCache>
                <c:ptCount val="15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  <c:pt idx="5">
                  <c:v>2015</c:v>
                </c:pt>
                <c:pt idx="6">
                  <c:v>2016</c:v>
                </c:pt>
                <c:pt idx="7">
                  <c:v>2017</c:v>
                </c:pt>
                <c:pt idx="8">
                  <c:v>2018</c:v>
                </c:pt>
                <c:pt idx="9">
                  <c:v>2019</c:v>
                </c:pt>
                <c:pt idx="10">
                  <c:v>2020</c:v>
                </c:pt>
                <c:pt idx="11">
                  <c:v>2021</c:v>
                </c:pt>
                <c:pt idx="12">
                  <c:v>2022</c:v>
                </c:pt>
                <c:pt idx="13">
                  <c:v>2023</c:v>
                </c:pt>
                <c:pt idx="14">
                  <c:v>2024</c:v>
                </c:pt>
              </c:strCache>
            </c:strRef>
          </c:cat>
          <c:val>
            <c:numRef>
              <c:f>'Chart Data'!$B$2:$B$16</c:f>
              <c:numCache>
                <c:formatCode>General</c:formatCode>
                <c:ptCount val="15"/>
                <c:pt idx="0">
                  <c:v>0.56666666666666998</c:v>
                </c:pt>
                <c:pt idx="1">
                  <c:v>0.29870129870130002</c:v>
                </c:pt>
                <c:pt idx="2">
                  <c:v>1.0434782608696</c:v>
                </c:pt>
                <c:pt idx="3">
                  <c:v>0.81208053691274995</c:v>
                </c:pt>
                <c:pt idx="4">
                  <c:v>0.43229166666667002</c:v>
                </c:pt>
                <c:pt idx="5">
                  <c:v>0.85087719298246001</c:v>
                </c:pt>
                <c:pt idx="6">
                  <c:v>0.88571428571429001</c:v>
                </c:pt>
                <c:pt idx="7">
                  <c:v>2.68</c:v>
                </c:pt>
                <c:pt idx="8">
                  <c:v>2.512</c:v>
                </c:pt>
                <c:pt idx="9">
                  <c:v>4.1851851851852002</c:v>
                </c:pt>
                <c:pt idx="10">
                  <c:v>6.1917808219178001</c:v>
                </c:pt>
                <c:pt idx="11">
                  <c:v>5.3284671532847003</c:v>
                </c:pt>
                <c:pt idx="12">
                  <c:v>3.8918918918919001</c:v>
                </c:pt>
                <c:pt idx="13">
                  <c:v>4.5238095238094997</c:v>
                </c:pt>
                <c:pt idx="14">
                  <c:v>8.7636363636363992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E9E-6C49-87B9-CABC91C8D10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80303712"/>
        <c:axId val="780305424"/>
      </c:lineChart>
      <c:lineChart>
        <c:grouping val="standard"/>
        <c:varyColors val="0"/>
        <c:ser>
          <c:idx val="1"/>
          <c:order val="1"/>
          <c:tx>
            <c:v>the ratio of IPOs with AI words</c:v>
          </c:tx>
          <c:spPr>
            <a:ln w="3810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'Chart Data'!$C$2:$C$16</c:f>
              <c:strCache>
                <c:ptCount val="15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  <c:pt idx="5">
                  <c:v>2015</c:v>
                </c:pt>
                <c:pt idx="6">
                  <c:v>2016</c:v>
                </c:pt>
                <c:pt idx="7">
                  <c:v>2017</c:v>
                </c:pt>
                <c:pt idx="8">
                  <c:v>2018</c:v>
                </c:pt>
                <c:pt idx="9">
                  <c:v>2019</c:v>
                </c:pt>
                <c:pt idx="10">
                  <c:v>2020</c:v>
                </c:pt>
                <c:pt idx="11">
                  <c:v>2021</c:v>
                </c:pt>
                <c:pt idx="12">
                  <c:v>2022</c:v>
                </c:pt>
                <c:pt idx="13">
                  <c:v>2023</c:v>
                </c:pt>
                <c:pt idx="14">
                  <c:v>2024</c:v>
                </c:pt>
              </c:strCache>
            </c:strRef>
          </c:cat>
          <c:val>
            <c:numRef>
              <c:f>'Chart Data'!$D$2:$D$16</c:f>
              <c:numCache>
                <c:formatCode>General</c:formatCode>
                <c:ptCount val="15"/>
                <c:pt idx="0">
                  <c:v>0.12222222222222</c:v>
                </c:pt>
                <c:pt idx="1">
                  <c:v>0.15584415584416</c:v>
                </c:pt>
                <c:pt idx="2">
                  <c:v>0.17391304347826</c:v>
                </c:pt>
                <c:pt idx="3">
                  <c:v>0.16107382550336</c:v>
                </c:pt>
                <c:pt idx="4">
                  <c:v>0.125</c:v>
                </c:pt>
                <c:pt idx="5">
                  <c:v>0.14912280701753999</c:v>
                </c:pt>
                <c:pt idx="6">
                  <c:v>0.17142857142856999</c:v>
                </c:pt>
                <c:pt idx="7">
                  <c:v>0.27</c:v>
                </c:pt>
                <c:pt idx="8">
                  <c:v>0.28799999999999998</c:v>
                </c:pt>
                <c:pt idx="9">
                  <c:v>0.43518518518519</c:v>
                </c:pt>
                <c:pt idx="10">
                  <c:v>0.41780821917807998</c:v>
                </c:pt>
                <c:pt idx="11">
                  <c:v>0.52189781021897996</c:v>
                </c:pt>
                <c:pt idx="12">
                  <c:v>0.37837837837838001</c:v>
                </c:pt>
                <c:pt idx="13">
                  <c:v>0.52380952380951995</c:v>
                </c:pt>
                <c:pt idx="14">
                  <c:v>0.58181818181818001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E9E-6C49-87B9-CABC91C8D10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696366192"/>
        <c:axId val="696363616"/>
      </c:lineChart>
      <c:catAx>
        <c:axId val="780303712"/>
        <c:scaling>
          <c:orientation val="minMax"/>
        </c:scaling>
        <c:delete val="0"/>
        <c:axPos val="b"/>
        <c:numFmt formatCode="General" sourceLinked="1"/>
        <c:majorTickMark val="in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ea typeface="+mn-ea"/>
              </a:defRPr>
            </a:pPr>
            <a:endParaRPr lang="zh-CN"/>
          </a:p>
        </c:txPr>
        <c:crossAx val="780305424"/>
        <c:crosses val="autoZero"/>
        <c:auto val="1"/>
        <c:lblAlgn val="ctr"/>
        <c:lblOffset val="100"/>
        <c:noMultiLvlLbl val="0"/>
      </c:catAx>
      <c:valAx>
        <c:axId val="780305424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altLang="zh-CN" sz="1450" dirty="0"/>
                  <a:t>Number of AI Words</a:t>
                </a:r>
                <a:endParaRPr lang="zh-CN" altLang="en-US" sz="1450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 altLang="en-US"/>
            </a:p>
          </c:txPr>
        </c:title>
        <c:numFmt formatCode="General" sourceLinked="1"/>
        <c:majorTickMark val="in"/>
        <c:minorTickMark val="none"/>
        <c:tickLblPos val="nextTo"/>
        <c:spPr>
          <a:noFill/>
          <a:ln>
            <a:solidFill>
              <a:schemeClr val="accent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ea typeface="+mn-ea"/>
              </a:defRPr>
            </a:pPr>
            <a:endParaRPr lang="zh-CN"/>
          </a:p>
        </c:txPr>
        <c:crossAx val="780303712"/>
        <c:crosses val="autoZero"/>
        <c:crossBetween val="between"/>
      </c:valAx>
      <c:valAx>
        <c:axId val="696363616"/>
        <c:scaling>
          <c:orientation val="minMax"/>
        </c:scaling>
        <c:delete val="0"/>
        <c:axPos val="r"/>
        <c:title>
          <c:tx>
            <c:rich>
              <a:bodyPr rot="-5400000" spcFirstLastPara="1" vertOverflow="ellipsis" vert="horz" wrap="square" anchor="b" anchorCtr="0"/>
              <a:lstStyle/>
              <a:p>
                <a:pPr>
                  <a:defRPr sz="145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altLang="zh-CN" sz="1450" dirty="0"/>
                  <a:t>The ratio of IPOs mentioning</a:t>
                </a:r>
                <a:r>
                  <a:rPr lang="en-US" altLang="zh-CN" sz="1450" baseline="0" dirty="0"/>
                  <a:t> AI</a:t>
                </a:r>
                <a:endParaRPr lang="zh-CN" altLang="en-US" sz="1450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b" anchorCtr="0"/>
            <a:lstStyle/>
            <a:p>
              <a:pPr>
                <a:defRPr sz="145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 altLang="en-US"/>
            </a:p>
          </c:txPr>
        </c:title>
        <c:numFmt formatCode="General" sourceLinked="1"/>
        <c:majorTickMark val="in"/>
        <c:minorTickMark val="none"/>
        <c:tickLblPos val="high"/>
        <c:spPr>
          <a:noFill/>
          <a:ln>
            <a:solidFill>
              <a:schemeClr val="accent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ea typeface="+mn-ea"/>
              </a:defRPr>
            </a:pPr>
            <a:endParaRPr lang="zh-CN"/>
          </a:p>
        </c:txPr>
        <c:crossAx val="696366192"/>
        <c:crosses val="max"/>
        <c:crossBetween val="between"/>
      </c:valAx>
      <c:catAx>
        <c:axId val="696366192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696363616"/>
        <c:crosses val="autoZero"/>
        <c:auto val="1"/>
        <c:lblAlgn val="ctr"/>
        <c:lblOffset val="100"/>
        <c:noMultiLvlLbl val="0"/>
      </c:catAx>
      <c:spPr>
        <a:noFill/>
        <a:ln w="38100"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ea typeface="+mn-ea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4247874015748033E-2"/>
          <c:y val="3.6868280326161469E-2"/>
          <c:w val="0.84552398950131236"/>
          <c:h val="0.54017495737778176"/>
        </c:manualLayout>
      </c:layout>
      <c:barChart>
        <c:barDir val="col"/>
        <c:grouping val="clustered"/>
        <c:varyColors val="0"/>
        <c:ser>
          <c:idx val="0"/>
          <c:order val="0"/>
          <c:tx>
            <c:v>Count</c:v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'Chart Data'!$A$2:$A$21</c:f>
              <c:strCache>
                <c:ptCount val="20"/>
                <c:pt idx="0">
                  <c:v>machine learning</c:v>
                </c:pt>
                <c:pt idx="1">
                  <c:v>artificial intelligence</c:v>
                </c:pt>
                <c:pt idx="2">
                  <c:v>predictive analytics</c:v>
                </c:pt>
                <c:pt idx="3">
                  <c:v>signal processing</c:v>
                </c:pt>
                <c:pt idx="4">
                  <c:v>deep learning</c:v>
                </c:pt>
                <c:pt idx="5">
                  <c:v>computer vision</c:v>
                </c:pt>
                <c:pt idx="6">
                  <c:v>augmented reality</c:v>
                </c:pt>
                <c:pt idx="7">
                  <c:v>search algorithm</c:v>
                </c:pt>
                <c:pt idx="8">
                  <c:v>natural language processing</c:v>
                </c:pt>
                <c:pt idx="9">
                  <c:v>tokenization</c:v>
                </c:pt>
                <c:pt idx="10">
                  <c:v>pattern recognition</c:v>
                </c:pt>
                <c:pt idx="11">
                  <c:v>neural network</c:v>
                </c:pt>
                <c:pt idx="12">
                  <c:v>active learning</c:v>
                </c:pt>
                <c:pt idx="13">
                  <c:v>torch</c:v>
                </c:pt>
                <c:pt idx="14">
                  <c:v>gen ai</c:v>
                </c:pt>
                <c:pt idx="15">
                  <c:v>language model</c:v>
                </c:pt>
                <c:pt idx="16">
                  <c:v>object oriented</c:v>
                </c:pt>
                <c:pt idx="17">
                  <c:v>sensor network</c:v>
                </c:pt>
                <c:pt idx="18">
                  <c:v>facial recognition</c:v>
                </c:pt>
                <c:pt idx="19">
                  <c:v>3d imaging</c:v>
                </c:pt>
              </c:strCache>
            </c:strRef>
          </c:cat>
          <c:val>
            <c:numRef>
              <c:f>'Chart Data'!$B$2:$B$21</c:f>
              <c:numCache>
                <c:formatCode>General</c:formatCode>
                <c:ptCount val="20"/>
                <c:pt idx="0">
                  <c:v>1999</c:v>
                </c:pt>
                <c:pt idx="1">
                  <c:v>1059</c:v>
                </c:pt>
                <c:pt idx="2">
                  <c:v>327</c:v>
                </c:pt>
                <c:pt idx="3">
                  <c:v>235</c:v>
                </c:pt>
                <c:pt idx="4">
                  <c:v>189</c:v>
                </c:pt>
                <c:pt idx="5">
                  <c:v>150</c:v>
                </c:pt>
                <c:pt idx="6">
                  <c:v>109</c:v>
                </c:pt>
                <c:pt idx="7">
                  <c:v>100</c:v>
                </c:pt>
                <c:pt idx="8">
                  <c:v>69</c:v>
                </c:pt>
                <c:pt idx="9">
                  <c:v>63</c:v>
                </c:pt>
                <c:pt idx="10">
                  <c:v>52</c:v>
                </c:pt>
                <c:pt idx="11">
                  <c:v>49</c:v>
                </c:pt>
                <c:pt idx="12">
                  <c:v>36</c:v>
                </c:pt>
                <c:pt idx="13">
                  <c:v>34</c:v>
                </c:pt>
                <c:pt idx="14">
                  <c:v>28</c:v>
                </c:pt>
                <c:pt idx="15">
                  <c:v>26</c:v>
                </c:pt>
                <c:pt idx="16">
                  <c:v>21</c:v>
                </c:pt>
                <c:pt idx="17">
                  <c:v>21</c:v>
                </c:pt>
                <c:pt idx="18">
                  <c:v>20</c:v>
                </c:pt>
                <c:pt idx="19">
                  <c:v>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C98-1045-9965-2090F84CA35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5"/>
        <c:overlap val="-27"/>
        <c:axId val="1018324176"/>
        <c:axId val="1018325888"/>
      </c:barChart>
      <c:lineChart>
        <c:grouping val="standard"/>
        <c:varyColors val="0"/>
        <c:ser>
          <c:idx val="1"/>
          <c:order val="1"/>
          <c:tx>
            <c:v>Cumulative ratio</c:v>
          </c:tx>
          <c:spPr>
            <a:ln w="3810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'Chart Data'!$C$2:$C$21</c:f>
              <c:strCache>
                <c:ptCount val="20"/>
                <c:pt idx="0">
                  <c:v>machine learning</c:v>
                </c:pt>
                <c:pt idx="1">
                  <c:v>artificial intelligence</c:v>
                </c:pt>
                <c:pt idx="2">
                  <c:v>predictive analytics</c:v>
                </c:pt>
                <c:pt idx="3">
                  <c:v>signal processing</c:v>
                </c:pt>
                <c:pt idx="4">
                  <c:v>deep learning</c:v>
                </c:pt>
                <c:pt idx="5">
                  <c:v>computer vision</c:v>
                </c:pt>
                <c:pt idx="6">
                  <c:v>augmented reality</c:v>
                </c:pt>
                <c:pt idx="7">
                  <c:v>search algorithm</c:v>
                </c:pt>
                <c:pt idx="8">
                  <c:v>natural language processing</c:v>
                </c:pt>
                <c:pt idx="9">
                  <c:v>tokenization</c:v>
                </c:pt>
                <c:pt idx="10">
                  <c:v>pattern recognition</c:v>
                </c:pt>
                <c:pt idx="11">
                  <c:v>neural network</c:v>
                </c:pt>
                <c:pt idx="12">
                  <c:v>active learning</c:v>
                </c:pt>
                <c:pt idx="13">
                  <c:v>torch</c:v>
                </c:pt>
                <c:pt idx="14">
                  <c:v>gen ai</c:v>
                </c:pt>
                <c:pt idx="15">
                  <c:v>language model</c:v>
                </c:pt>
                <c:pt idx="16">
                  <c:v>object oriented</c:v>
                </c:pt>
                <c:pt idx="17">
                  <c:v>sensor network</c:v>
                </c:pt>
                <c:pt idx="18">
                  <c:v>facial recognition</c:v>
                </c:pt>
                <c:pt idx="19">
                  <c:v>3d imaging</c:v>
                </c:pt>
              </c:strCache>
            </c:strRef>
          </c:cat>
          <c:val>
            <c:numRef>
              <c:f>'Chart Data'!$D$2:$D$21</c:f>
              <c:numCache>
                <c:formatCode>0.00%</c:formatCode>
                <c:ptCount val="20"/>
                <c:pt idx="0">
                  <c:v>0.41404308202154</c:v>
                </c:pt>
                <c:pt idx="1">
                  <c:v>0.63338856669428001</c:v>
                </c:pt>
                <c:pt idx="2">
                  <c:v>0.70111847555924001</c:v>
                </c:pt>
                <c:pt idx="3">
                  <c:v>0.74979287489643998</c:v>
                </c:pt>
                <c:pt idx="4">
                  <c:v>0.78893951946976004</c:v>
                </c:pt>
                <c:pt idx="5">
                  <c:v>0.82000828500414003</c:v>
                </c:pt>
                <c:pt idx="6">
                  <c:v>0.84258492129245999</c:v>
                </c:pt>
                <c:pt idx="7">
                  <c:v>0.86329743164871997</c:v>
                </c:pt>
                <c:pt idx="8">
                  <c:v>0.87758906379453006</c:v>
                </c:pt>
                <c:pt idx="9">
                  <c:v>0.89063794531897</c:v>
                </c:pt>
                <c:pt idx="10">
                  <c:v>0.90140845070423004</c:v>
                </c:pt>
                <c:pt idx="11">
                  <c:v>0.91155758077879001</c:v>
                </c:pt>
                <c:pt idx="12">
                  <c:v>0.91901408450704003</c:v>
                </c:pt>
                <c:pt idx="13">
                  <c:v>0.92605633802817</c:v>
                </c:pt>
                <c:pt idx="14">
                  <c:v>0.93185584092791995</c:v>
                </c:pt>
                <c:pt idx="15">
                  <c:v>0.93724109362054997</c:v>
                </c:pt>
                <c:pt idx="16">
                  <c:v>0.94159072079535999</c:v>
                </c:pt>
                <c:pt idx="17">
                  <c:v>0.94594034797017001</c:v>
                </c:pt>
                <c:pt idx="18">
                  <c:v>0.95008285004143</c:v>
                </c:pt>
                <c:pt idx="19">
                  <c:v>0.95401822700910999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C98-1045-9965-2090F84CA35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18555248"/>
        <c:axId val="1018677856"/>
      </c:lineChart>
      <c:catAx>
        <c:axId val="10183241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2700000" spcFirstLastPara="1" vertOverflow="ellipsis" wrap="square" anchor="ctr" anchorCtr="1"/>
          <a:lstStyle/>
          <a:p>
            <a:pPr>
              <a:defRPr sz="15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ea typeface="+mn-ea"/>
              </a:defRPr>
            </a:pPr>
            <a:endParaRPr lang="zh-CN"/>
          </a:p>
        </c:txPr>
        <c:crossAx val="1018325888"/>
        <c:crosses val="autoZero"/>
        <c:auto val="1"/>
        <c:lblAlgn val="ctr"/>
        <c:lblOffset val="100"/>
        <c:noMultiLvlLbl val="0"/>
      </c:catAx>
      <c:valAx>
        <c:axId val="10183258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5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ea typeface="+mn-ea"/>
              </a:defRPr>
            </a:pPr>
            <a:endParaRPr lang="zh-CN"/>
          </a:p>
        </c:txPr>
        <c:crossAx val="1018324176"/>
        <c:crosses val="autoZero"/>
        <c:crossBetween val="between"/>
      </c:valAx>
      <c:valAx>
        <c:axId val="1018677856"/>
        <c:scaling>
          <c:orientation val="minMax"/>
        </c:scaling>
        <c:delete val="0"/>
        <c:axPos val="r"/>
        <c:numFmt formatCode="0%" sourceLinked="0"/>
        <c:majorTickMark val="none"/>
        <c:minorTickMark val="none"/>
        <c:tickLblPos val="high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5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ea typeface="+mn-ea"/>
              </a:defRPr>
            </a:pPr>
            <a:endParaRPr lang="zh-CN"/>
          </a:p>
        </c:txPr>
        <c:crossAx val="1018555248"/>
        <c:crosses val="max"/>
        <c:crossBetween val="between"/>
        <c:majorUnit val="0.2"/>
      </c:valAx>
      <c:catAx>
        <c:axId val="101855524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018677856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percentStacked"/>
        <c:varyColors val="0"/>
        <c:ser>
          <c:idx val="0"/>
          <c:order val="0"/>
          <c:tx>
            <c:v>AI-washing IPOs</c:v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cat>
            <c:strRef>
              <c:f>'Chart Data'!$A$2:$A$13</c:f>
              <c:strCache>
                <c:ptCount val="12"/>
                <c:pt idx="0">
                  <c:v>Other</c:v>
                </c:pt>
                <c:pt idx="1">
                  <c:v>Finance</c:v>
                </c:pt>
                <c:pt idx="2">
                  <c:v>Healthcare &amp; Medical</c:v>
                </c:pt>
                <c:pt idx="3">
                  <c:v>Wholesale &amp; Retail</c:v>
                </c:pt>
                <c:pt idx="4">
                  <c:v>Utilities</c:v>
                </c:pt>
                <c:pt idx="5">
                  <c:v>Telecom &amp; Media</c:v>
                </c:pt>
                <c:pt idx="6">
                  <c:v>Business Equipment</c:v>
                </c:pt>
                <c:pt idx="7">
                  <c:v>Chemicals and Allied Products</c:v>
                </c:pt>
                <c:pt idx="8">
                  <c:v>Energy</c:v>
                </c:pt>
                <c:pt idx="9">
                  <c:v>Manufacturing</c:v>
                </c:pt>
                <c:pt idx="10">
                  <c:v>Consumer Durables</c:v>
                </c:pt>
                <c:pt idx="11">
                  <c:v>Consumer Nondurables</c:v>
                </c:pt>
              </c:strCache>
            </c:strRef>
          </c:cat>
          <c:val>
            <c:numRef>
              <c:f>'Chart Data'!$B$2:$B$13</c:f>
              <c:numCache>
                <c:formatCode>0%</c:formatCode>
                <c:ptCount val="12"/>
                <c:pt idx="0">
                  <c:v>5.5944055944056E-2</c:v>
                </c:pt>
                <c:pt idx="1">
                  <c:v>7.5268817204300995E-2</c:v>
                </c:pt>
                <c:pt idx="2">
                  <c:v>6.0842433697348E-2</c:v>
                </c:pt>
                <c:pt idx="3">
                  <c:v>7.4999999999999997E-2</c:v>
                </c:pt>
                <c:pt idx="4">
                  <c:v>0</c:v>
                </c:pt>
                <c:pt idx="5">
                  <c:v>0</c:v>
                </c:pt>
                <c:pt idx="6">
                  <c:v>5.9459459459458998E-2</c:v>
                </c:pt>
                <c:pt idx="7">
                  <c:v>0.11764705882353001</c:v>
                </c:pt>
                <c:pt idx="8">
                  <c:v>6.3829787234043006E-2</c:v>
                </c:pt>
                <c:pt idx="9">
                  <c:v>5.1724137931034003E-2</c:v>
                </c:pt>
                <c:pt idx="10">
                  <c:v>0.08</c:v>
                </c:pt>
                <c:pt idx="11">
                  <c:v>0.11363636363636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288-1347-AA68-179802EAF16E}"/>
            </c:ext>
          </c:extLst>
        </c:ser>
        <c:ser>
          <c:idx val="1"/>
          <c:order val="1"/>
          <c:tx>
            <c:v>AI Investment IPOs</c:v>
          </c:tx>
          <c:spPr>
            <a:solidFill>
              <a:srgbClr val="0070C0"/>
            </a:solidFill>
            <a:ln>
              <a:noFill/>
            </a:ln>
            <a:effectLst/>
          </c:spPr>
          <c:invertIfNegative val="0"/>
          <c:cat>
            <c:strRef>
              <c:f>'Chart Data'!$C$2:$C$13</c:f>
              <c:strCache>
                <c:ptCount val="12"/>
                <c:pt idx="0">
                  <c:v>Other</c:v>
                </c:pt>
                <c:pt idx="1">
                  <c:v>Finance</c:v>
                </c:pt>
                <c:pt idx="2">
                  <c:v>Healthcare &amp; Medical</c:v>
                </c:pt>
                <c:pt idx="3">
                  <c:v>Wholesale &amp; Retail</c:v>
                </c:pt>
                <c:pt idx="4">
                  <c:v>Utilities</c:v>
                </c:pt>
                <c:pt idx="5">
                  <c:v>Telecom &amp; Media</c:v>
                </c:pt>
                <c:pt idx="6">
                  <c:v>Business Equipment</c:v>
                </c:pt>
                <c:pt idx="7">
                  <c:v>Chemicals and Allied Products</c:v>
                </c:pt>
                <c:pt idx="8">
                  <c:v>Energy</c:v>
                </c:pt>
                <c:pt idx="9">
                  <c:v>Manufacturing</c:v>
                </c:pt>
                <c:pt idx="10">
                  <c:v>Consumer Durables</c:v>
                </c:pt>
                <c:pt idx="11">
                  <c:v>Consumer Nondurables</c:v>
                </c:pt>
              </c:strCache>
            </c:strRef>
          </c:cat>
          <c:val>
            <c:numRef>
              <c:f>'Chart Data'!$D$2:$D$13</c:f>
              <c:numCache>
                <c:formatCode>0%</c:formatCode>
                <c:ptCount val="12"/>
                <c:pt idx="0">
                  <c:v>0.17482517482516999</c:v>
                </c:pt>
                <c:pt idx="1">
                  <c:v>7.5268817204300995E-2</c:v>
                </c:pt>
                <c:pt idx="2">
                  <c:v>0.12792511700468001</c:v>
                </c:pt>
                <c:pt idx="3">
                  <c:v>0.15833333333333</c:v>
                </c:pt>
                <c:pt idx="4">
                  <c:v>0</c:v>
                </c:pt>
                <c:pt idx="5">
                  <c:v>0.54545454545454997</c:v>
                </c:pt>
                <c:pt idx="6">
                  <c:v>0.6</c:v>
                </c:pt>
                <c:pt idx="7">
                  <c:v>0.11764705882353001</c:v>
                </c:pt>
                <c:pt idx="8">
                  <c:v>4.2553191489361999E-2</c:v>
                </c:pt>
                <c:pt idx="9">
                  <c:v>0.17241379310345001</c:v>
                </c:pt>
                <c:pt idx="10">
                  <c:v>0.28000000000000003</c:v>
                </c:pt>
                <c:pt idx="11">
                  <c:v>9.0909090909090995E-2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288-1347-AA68-179802EAF16E}"/>
            </c:ext>
          </c:extLst>
        </c:ser>
        <c:ser>
          <c:idx val="2"/>
          <c:order val="2"/>
          <c:tx>
            <c:v>Non-AI IPOs</c:v>
          </c:tx>
          <c:spPr>
            <a:solidFill>
              <a:schemeClr val="bg2">
                <a:lumMod val="75000"/>
              </a:schemeClr>
            </a:solidFill>
            <a:ln>
              <a:noFill/>
            </a:ln>
            <a:effectLst/>
          </c:spPr>
          <c:invertIfNegative val="0"/>
          <c:cat>
            <c:strRef>
              <c:f>'Chart Data'!$E$2:$E$13</c:f>
              <c:strCache>
                <c:ptCount val="12"/>
                <c:pt idx="0">
                  <c:v>Other</c:v>
                </c:pt>
                <c:pt idx="1">
                  <c:v>Finance</c:v>
                </c:pt>
                <c:pt idx="2">
                  <c:v>Healthcare &amp; Medical</c:v>
                </c:pt>
                <c:pt idx="3">
                  <c:v>Wholesale &amp; Retail</c:v>
                </c:pt>
                <c:pt idx="4">
                  <c:v>Utilities</c:v>
                </c:pt>
                <c:pt idx="5">
                  <c:v>Telecom &amp; Media</c:v>
                </c:pt>
                <c:pt idx="6">
                  <c:v>Business Equipment</c:v>
                </c:pt>
                <c:pt idx="7">
                  <c:v>Chemicals and Allied Products</c:v>
                </c:pt>
                <c:pt idx="8">
                  <c:v>Energy</c:v>
                </c:pt>
                <c:pt idx="9">
                  <c:v>Manufacturing</c:v>
                </c:pt>
                <c:pt idx="10">
                  <c:v>Consumer Durables</c:v>
                </c:pt>
                <c:pt idx="11">
                  <c:v>Consumer Nondurables</c:v>
                </c:pt>
              </c:strCache>
            </c:strRef>
          </c:cat>
          <c:val>
            <c:numRef>
              <c:f>'Chart Data'!$F$2:$F$13</c:f>
              <c:numCache>
                <c:formatCode>0%</c:formatCode>
                <c:ptCount val="12"/>
                <c:pt idx="0">
                  <c:v>0.76923076923077005</c:v>
                </c:pt>
                <c:pt idx="1">
                  <c:v>0.84946236559139998</c:v>
                </c:pt>
                <c:pt idx="2">
                  <c:v>0.81123244929797</c:v>
                </c:pt>
                <c:pt idx="3">
                  <c:v>0.76666666666667005</c:v>
                </c:pt>
                <c:pt idx="4">
                  <c:v>1</c:v>
                </c:pt>
                <c:pt idx="5">
                  <c:v>0.45454545454544998</c:v>
                </c:pt>
                <c:pt idx="6">
                  <c:v>0.34054054054054</c:v>
                </c:pt>
                <c:pt idx="7">
                  <c:v>0.76470588235294001</c:v>
                </c:pt>
                <c:pt idx="8">
                  <c:v>0.89361702127660003</c:v>
                </c:pt>
                <c:pt idx="9">
                  <c:v>0.77586206896552001</c:v>
                </c:pt>
                <c:pt idx="10">
                  <c:v>0.64</c:v>
                </c:pt>
                <c:pt idx="11">
                  <c:v>0.79545454545454997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288-1347-AA68-179802EAF16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228497807"/>
        <c:axId val="1275693759"/>
      </c:barChart>
      <c:catAx>
        <c:axId val="1228497807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ea typeface="+mn-ea"/>
              </a:defRPr>
            </a:pPr>
            <a:endParaRPr lang="zh-CN"/>
          </a:p>
        </c:txPr>
        <c:crossAx val="1275693759"/>
        <c:crosses val="autoZero"/>
        <c:auto val="1"/>
        <c:lblAlgn val="ctr"/>
        <c:lblOffset val="100"/>
        <c:noMultiLvlLbl val="0"/>
      </c:catAx>
      <c:valAx>
        <c:axId val="1275693759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ea typeface="+mn-ea"/>
              </a:defRPr>
            </a:pPr>
            <a:endParaRPr lang="zh-CN"/>
          </a:p>
        </c:txPr>
        <c:crossAx val="122849780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ea typeface="+mn-ea"/>
            </a:defRPr>
          </a:pPr>
          <a:endParaRPr lang="zh-CN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1"/>
          <c:order val="0"/>
          <c:tx>
            <c:strRef>
              <c:f>Sheet1!$B$1</c:f>
              <c:strCache>
                <c:ptCount val="1"/>
                <c:pt idx="0">
                  <c:v>All IPOs</c:v>
                </c:pt>
              </c:strCache>
            </c:strRef>
          </c:tx>
          <c:spPr>
            <a:ln w="38100" cap="rnd">
              <a:solidFill>
                <a:schemeClr val="accent2"/>
              </a:solidFill>
              <a:round/>
            </a:ln>
            <a:effectLst/>
          </c:spPr>
          <c:marker>
            <c:symbol val="square"/>
            <c:size val="5"/>
            <c:spPr>
              <a:solidFill>
                <a:schemeClr val="accent2"/>
              </a:solidFill>
              <a:ln w="38100">
                <a:solidFill>
                  <a:schemeClr val="accent2"/>
                </a:solidFill>
              </a:ln>
              <a:effectLst/>
            </c:spPr>
          </c:marker>
          <c:cat>
            <c:numRef>
              <c:f>Sheet1!$A$2:$A$17</c:f>
              <c:numCache>
                <c:formatCode>General</c:formatCode>
                <c:ptCount val="16"/>
                <c:pt idx="0">
                  <c:v>1</c:v>
                </c:pt>
                <c:pt idx="1">
                  <c:v>51</c:v>
                </c:pt>
                <c:pt idx="2">
                  <c:v>101</c:v>
                </c:pt>
                <c:pt idx="3">
                  <c:v>151</c:v>
                </c:pt>
                <c:pt idx="4">
                  <c:v>201</c:v>
                </c:pt>
                <c:pt idx="5">
                  <c:v>251</c:v>
                </c:pt>
                <c:pt idx="6">
                  <c:v>301</c:v>
                </c:pt>
                <c:pt idx="7">
                  <c:v>351</c:v>
                </c:pt>
                <c:pt idx="8">
                  <c:v>401</c:v>
                </c:pt>
                <c:pt idx="9">
                  <c:v>451</c:v>
                </c:pt>
                <c:pt idx="10">
                  <c:v>501</c:v>
                </c:pt>
                <c:pt idx="11">
                  <c:v>551</c:v>
                </c:pt>
                <c:pt idx="12">
                  <c:v>601</c:v>
                </c:pt>
                <c:pt idx="13">
                  <c:v>651</c:v>
                </c:pt>
                <c:pt idx="14">
                  <c:v>701</c:v>
                </c:pt>
                <c:pt idx="15">
                  <c:v>750</c:v>
                </c:pt>
              </c:numCache>
            </c:num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0.32800330836454422</c:v>
                </c:pt>
                <c:pt idx="1">
                  <c:v>1.14288106422998</c:v>
                </c:pt>
                <c:pt idx="2">
                  <c:v>-2.5654511994236748</c:v>
                </c:pt>
                <c:pt idx="3">
                  <c:v>-7.7179055578857847</c:v>
                </c:pt>
                <c:pt idx="4">
                  <c:v>-9.2165116348336866</c:v>
                </c:pt>
                <c:pt idx="5">
                  <c:v>-10.18861790552506</c:v>
                </c:pt>
                <c:pt idx="6">
                  <c:v>-11.499151948767651</c:v>
                </c:pt>
                <c:pt idx="7">
                  <c:v>-10.8333153600634</c:v>
                </c:pt>
                <c:pt idx="8">
                  <c:v>-13.62058555318224</c:v>
                </c:pt>
                <c:pt idx="9">
                  <c:v>-12.665856358535439</c:v>
                </c:pt>
                <c:pt idx="10">
                  <c:v>-12.815796757327041</c:v>
                </c:pt>
                <c:pt idx="11">
                  <c:v>-13.150748023942329</c:v>
                </c:pt>
                <c:pt idx="12">
                  <c:v>-14.6419982920627</c:v>
                </c:pt>
                <c:pt idx="13">
                  <c:v>-16.443593234276921</c:v>
                </c:pt>
                <c:pt idx="14">
                  <c:v>-15.48831040402804</c:v>
                </c:pt>
                <c:pt idx="15">
                  <c:v>-19.077811174936819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B0D-7B43-906A-6003DEFD6C4A}"/>
            </c:ext>
          </c:extLst>
        </c:ser>
        <c:ser>
          <c:idx val="2"/>
          <c:order val="1"/>
          <c:tx>
            <c:strRef>
              <c:f>Sheet1!$F$1</c:f>
              <c:strCache>
                <c:ptCount val="1"/>
                <c:pt idx="0">
                  <c:v>AI-Investment IPOs</c:v>
                </c:pt>
              </c:strCache>
            </c:strRef>
          </c:tx>
          <c:spPr>
            <a:ln w="38100" cap="rnd">
              <a:solidFill>
                <a:schemeClr val="accent3"/>
              </a:solidFill>
              <a:prstDash val="lgDashDot"/>
              <a:round/>
            </a:ln>
            <a:effectLst/>
          </c:spPr>
          <c:marker>
            <c:symbol val="triangle"/>
            <c:size val="5"/>
            <c:spPr>
              <a:solidFill>
                <a:schemeClr val="accent3"/>
              </a:solidFill>
              <a:ln w="38100">
                <a:solidFill>
                  <a:schemeClr val="accent3"/>
                </a:solidFill>
                <a:prstDash val="lgDashDot"/>
              </a:ln>
              <a:effectLst/>
            </c:spPr>
          </c:marker>
          <c:cat>
            <c:numRef>
              <c:f>Sheet1!$A$2:$A$17</c:f>
              <c:numCache>
                <c:formatCode>General</c:formatCode>
                <c:ptCount val="16"/>
                <c:pt idx="0">
                  <c:v>1</c:v>
                </c:pt>
                <c:pt idx="1">
                  <c:v>51</c:v>
                </c:pt>
                <c:pt idx="2">
                  <c:v>101</c:v>
                </c:pt>
                <c:pt idx="3">
                  <c:v>151</c:v>
                </c:pt>
                <c:pt idx="4">
                  <c:v>201</c:v>
                </c:pt>
                <c:pt idx="5">
                  <c:v>251</c:v>
                </c:pt>
                <c:pt idx="6">
                  <c:v>301</c:v>
                </c:pt>
                <c:pt idx="7">
                  <c:v>351</c:v>
                </c:pt>
                <c:pt idx="8">
                  <c:v>401</c:v>
                </c:pt>
                <c:pt idx="9">
                  <c:v>451</c:v>
                </c:pt>
                <c:pt idx="10">
                  <c:v>501</c:v>
                </c:pt>
                <c:pt idx="11">
                  <c:v>551</c:v>
                </c:pt>
                <c:pt idx="12">
                  <c:v>601</c:v>
                </c:pt>
                <c:pt idx="13">
                  <c:v>651</c:v>
                </c:pt>
                <c:pt idx="14">
                  <c:v>701</c:v>
                </c:pt>
                <c:pt idx="15">
                  <c:v>750</c:v>
                </c:pt>
              </c:numCache>
            </c:numRef>
          </c:cat>
          <c:val>
            <c:numRef>
              <c:f>Sheet1!$F$2:$F$17</c:f>
              <c:numCache>
                <c:formatCode>General</c:formatCode>
                <c:ptCount val="16"/>
                <c:pt idx="0">
                  <c:v>0.42914175531914889</c:v>
                </c:pt>
                <c:pt idx="1">
                  <c:v>-1.3437039372668891</c:v>
                </c:pt>
                <c:pt idx="2">
                  <c:v>-4.7788114756309996</c:v>
                </c:pt>
                <c:pt idx="3">
                  <c:v>-11.27177248376759</c:v>
                </c:pt>
                <c:pt idx="4">
                  <c:v>-11.655832775414339</c:v>
                </c:pt>
                <c:pt idx="5">
                  <c:v>-10.98997894326892</c:v>
                </c:pt>
                <c:pt idx="6">
                  <c:v>-12.62244022644459</c:v>
                </c:pt>
                <c:pt idx="7">
                  <c:v>-9.496774695328547</c:v>
                </c:pt>
                <c:pt idx="8">
                  <c:v>-8.4555429293908126</c:v>
                </c:pt>
                <c:pt idx="9">
                  <c:v>-5.6573837145986809</c:v>
                </c:pt>
                <c:pt idx="10">
                  <c:v>-1.7663121050551689</c:v>
                </c:pt>
                <c:pt idx="11">
                  <c:v>1.141764577493835</c:v>
                </c:pt>
                <c:pt idx="12">
                  <c:v>1.395737525220577</c:v>
                </c:pt>
                <c:pt idx="13">
                  <c:v>1.9893802814920341</c:v>
                </c:pt>
                <c:pt idx="14">
                  <c:v>7.8274444095864464</c:v>
                </c:pt>
                <c:pt idx="15">
                  <c:v>2.7876888819555852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B0D-7B43-906A-6003DEFD6C4A}"/>
            </c:ext>
          </c:extLst>
        </c:ser>
        <c:ser>
          <c:idx val="3"/>
          <c:order val="2"/>
          <c:tx>
            <c:strRef>
              <c:f>Sheet1!$H$1</c:f>
              <c:strCache>
                <c:ptCount val="1"/>
                <c:pt idx="0">
                  <c:v>AI-washing IPOs</c:v>
                </c:pt>
              </c:strCache>
            </c:strRef>
          </c:tx>
          <c:spPr>
            <a:ln w="38100" cap="rnd">
              <a:solidFill>
                <a:schemeClr val="accent4"/>
              </a:solidFill>
              <a:prstDash val="dash"/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38100">
                <a:solidFill>
                  <a:schemeClr val="accent4"/>
                </a:solidFill>
                <a:prstDash val="dash"/>
              </a:ln>
              <a:effectLst/>
            </c:spPr>
          </c:marker>
          <c:cat>
            <c:numRef>
              <c:f>Sheet1!$A$2:$A$17</c:f>
              <c:numCache>
                <c:formatCode>General</c:formatCode>
                <c:ptCount val="16"/>
                <c:pt idx="0">
                  <c:v>1</c:v>
                </c:pt>
                <c:pt idx="1">
                  <c:v>51</c:v>
                </c:pt>
                <c:pt idx="2">
                  <c:v>101</c:v>
                </c:pt>
                <c:pt idx="3">
                  <c:v>151</c:v>
                </c:pt>
                <c:pt idx="4">
                  <c:v>201</c:v>
                </c:pt>
                <c:pt idx="5">
                  <c:v>251</c:v>
                </c:pt>
                <c:pt idx="6">
                  <c:v>301</c:v>
                </c:pt>
                <c:pt idx="7">
                  <c:v>351</c:v>
                </c:pt>
                <c:pt idx="8">
                  <c:v>401</c:v>
                </c:pt>
                <c:pt idx="9">
                  <c:v>451</c:v>
                </c:pt>
                <c:pt idx="10">
                  <c:v>501</c:v>
                </c:pt>
                <c:pt idx="11">
                  <c:v>551</c:v>
                </c:pt>
                <c:pt idx="12">
                  <c:v>601</c:v>
                </c:pt>
                <c:pt idx="13">
                  <c:v>651</c:v>
                </c:pt>
                <c:pt idx="14">
                  <c:v>701</c:v>
                </c:pt>
                <c:pt idx="15">
                  <c:v>750</c:v>
                </c:pt>
              </c:numCache>
            </c:numRef>
          </c:cat>
          <c:val>
            <c:numRef>
              <c:f>Sheet1!$H$2:$H$17</c:f>
              <c:numCache>
                <c:formatCode>General</c:formatCode>
                <c:ptCount val="16"/>
                <c:pt idx="0">
                  <c:v>0.72656565656565608</c:v>
                </c:pt>
                <c:pt idx="1">
                  <c:v>-4.6801383315519747</c:v>
                </c:pt>
                <c:pt idx="2">
                  <c:v>-6.6046367232023702</c:v>
                </c:pt>
                <c:pt idx="3">
                  <c:v>-20.500759119243021</c:v>
                </c:pt>
                <c:pt idx="4">
                  <c:v>-19.961420178781129</c:v>
                </c:pt>
                <c:pt idx="5">
                  <c:v>-25.753120232820059</c:v>
                </c:pt>
                <c:pt idx="6">
                  <c:v>-24.547059439094401</c:v>
                </c:pt>
                <c:pt idx="7">
                  <c:v>-32.329693255032609</c:v>
                </c:pt>
                <c:pt idx="8">
                  <c:v>-34.250907486619667</c:v>
                </c:pt>
                <c:pt idx="9">
                  <c:v>-29.778302413332739</c:v>
                </c:pt>
                <c:pt idx="10">
                  <c:v>-33.804759968779962</c:v>
                </c:pt>
                <c:pt idx="11">
                  <c:v>-37.344480523461577</c:v>
                </c:pt>
                <c:pt idx="12">
                  <c:v>-41.932652497856083</c:v>
                </c:pt>
                <c:pt idx="13">
                  <c:v>-44.841604311098102</c:v>
                </c:pt>
                <c:pt idx="14">
                  <c:v>-48.654658005735577</c:v>
                </c:pt>
                <c:pt idx="15">
                  <c:v>-52.236225271800492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2B0D-7B43-906A-6003DEFD6C4A}"/>
            </c:ext>
          </c:extLst>
        </c:ser>
        <c:ser>
          <c:idx val="4"/>
          <c:order val="3"/>
          <c:tx>
            <c:strRef>
              <c:f>Sheet1!$J$1</c:f>
              <c:strCache>
                <c:ptCount val="1"/>
                <c:pt idx="0">
                  <c:v>Non-AI IPOs</c:v>
                </c:pt>
              </c:strCache>
            </c:strRef>
          </c:tx>
          <c:spPr>
            <a:ln w="38100" cap="rnd">
              <a:solidFill>
                <a:schemeClr val="accent5"/>
              </a:solidFill>
              <a:prstDash val="sysDot"/>
              <a:round/>
            </a:ln>
            <a:effectLst/>
          </c:spPr>
          <c:marker>
            <c:symbol val="diamond"/>
            <c:size val="5"/>
            <c:spPr>
              <a:solidFill>
                <a:schemeClr val="accent5"/>
              </a:solidFill>
              <a:ln w="38100">
                <a:solidFill>
                  <a:schemeClr val="accent5"/>
                </a:solidFill>
              </a:ln>
              <a:effectLst/>
            </c:spPr>
          </c:marker>
          <c:cat>
            <c:numRef>
              <c:f>Sheet1!$A$2:$A$17</c:f>
              <c:numCache>
                <c:formatCode>General</c:formatCode>
                <c:ptCount val="16"/>
                <c:pt idx="0">
                  <c:v>1</c:v>
                </c:pt>
                <c:pt idx="1">
                  <c:v>51</c:v>
                </c:pt>
                <c:pt idx="2">
                  <c:v>101</c:v>
                </c:pt>
                <c:pt idx="3">
                  <c:v>151</c:v>
                </c:pt>
                <c:pt idx="4">
                  <c:v>201</c:v>
                </c:pt>
                <c:pt idx="5">
                  <c:v>251</c:v>
                </c:pt>
                <c:pt idx="6">
                  <c:v>301</c:v>
                </c:pt>
                <c:pt idx="7">
                  <c:v>351</c:v>
                </c:pt>
                <c:pt idx="8">
                  <c:v>401</c:v>
                </c:pt>
                <c:pt idx="9">
                  <c:v>451</c:v>
                </c:pt>
                <c:pt idx="10">
                  <c:v>501</c:v>
                </c:pt>
                <c:pt idx="11">
                  <c:v>551</c:v>
                </c:pt>
                <c:pt idx="12">
                  <c:v>601</c:v>
                </c:pt>
                <c:pt idx="13">
                  <c:v>651</c:v>
                </c:pt>
                <c:pt idx="14">
                  <c:v>701</c:v>
                </c:pt>
                <c:pt idx="15">
                  <c:v>750</c:v>
                </c:pt>
              </c:numCache>
            </c:numRef>
          </c:cat>
          <c:val>
            <c:numRef>
              <c:f>Sheet1!$J$2:$J$17</c:f>
              <c:numCache>
                <c:formatCode>General</c:formatCode>
                <c:ptCount val="16"/>
                <c:pt idx="0">
                  <c:v>0.25924933451641502</c:v>
                </c:pt>
                <c:pt idx="1">
                  <c:v>2.4916232812080148</c:v>
                </c:pt>
                <c:pt idx="2">
                  <c:v>-1.46693129998635</c:v>
                </c:pt>
                <c:pt idx="3">
                  <c:v>-5.4101099261204784</c:v>
                </c:pt>
                <c:pt idx="4">
                  <c:v>-7.4409714842434473</c:v>
                </c:pt>
                <c:pt idx="5">
                  <c:v>-8.52350124347711</c:v>
                </c:pt>
                <c:pt idx="6">
                  <c:v>-9.9356856560667755</c:v>
                </c:pt>
                <c:pt idx="7">
                  <c:v>-9.3709937122607219</c:v>
                </c:pt>
                <c:pt idx="8">
                  <c:v>-13.58484681799227</c:v>
                </c:pt>
                <c:pt idx="9">
                  <c:v>-13.61168874473706</c:v>
                </c:pt>
                <c:pt idx="10">
                  <c:v>-14.871373456202869</c:v>
                </c:pt>
                <c:pt idx="11">
                  <c:v>-16.102208367944488</c:v>
                </c:pt>
                <c:pt idx="12">
                  <c:v>-17.942151966181711</c:v>
                </c:pt>
                <c:pt idx="13">
                  <c:v>-20.49996255051181</c:v>
                </c:pt>
                <c:pt idx="14">
                  <c:v>-20.922288341777449</c:v>
                </c:pt>
                <c:pt idx="15">
                  <c:v>-23.94141281345064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2B0D-7B43-906A-6003DEFD6C4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25295408"/>
        <c:axId val="2025634192"/>
      </c:lineChart>
      <c:catAx>
        <c:axId val="2025295408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550" b="0" i="0" u="none" strike="noStrike" kern="1200" baseline="0">
                    <a:solidFill>
                      <a:schemeClr val="tx1"/>
                    </a:solidFill>
                    <a:ea typeface="+mn-ea"/>
                  </a:defRPr>
                </a:pPr>
                <a:r>
                  <a:rPr lang="en-US"/>
                  <a:t>Trading</a:t>
                </a:r>
                <a:r>
                  <a:rPr lang="zh-CN"/>
                  <a:t> </a:t>
                </a:r>
                <a:r>
                  <a:rPr lang="en-US"/>
                  <a:t>Days</a:t>
                </a:r>
                <a:r>
                  <a:rPr lang="zh-CN"/>
                  <a:t> </a:t>
                </a:r>
                <a:r>
                  <a:rPr lang="en-US"/>
                  <a:t>after the IPO</a:t>
                </a:r>
                <a:endParaRPr lang="zh-CN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550" b="0" i="0" u="none" strike="noStrike" kern="1200" baseline="0">
                  <a:solidFill>
                    <a:schemeClr val="tx1"/>
                  </a:solidFill>
                  <a:ea typeface="+mn-ea"/>
                </a:defRPr>
              </a:pPr>
              <a:endParaRPr lang="zh-CN" altLang="en-US"/>
            </a:p>
          </c:txPr>
        </c:title>
        <c:numFmt formatCode="General" sourceLinked="1"/>
        <c:majorTickMark val="in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2700000" spcFirstLastPara="1" vertOverflow="ellipsis" vert="horz" wrap="square" anchor="ctr" anchorCtr="1"/>
          <a:lstStyle/>
          <a:p>
            <a:pPr>
              <a:defRPr sz="1550" b="0" i="0" u="none" strike="noStrike" kern="1200" baseline="0">
                <a:solidFill>
                  <a:schemeClr val="tx1"/>
                </a:solidFill>
                <a:ea typeface="+mn-ea"/>
              </a:defRPr>
            </a:pPr>
            <a:endParaRPr lang="zh-CN"/>
          </a:p>
        </c:txPr>
        <c:crossAx val="2025634192"/>
        <c:crosses val="autoZero"/>
        <c:auto val="1"/>
        <c:lblAlgn val="ctr"/>
        <c:lblOffset val="100"/>
        <c:tickLblSkip val="3"/>
        <c:noMultiLvlLbl val="0"/>
      </c:catAx>
      <c:valAx>
        <c:axId val="20256341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550" b="0" i="0" u="none" strike="noStrike" kern="1200" baseline="0">
                    <a:solidFill>
                      <a:schemeClr val="tx1"/>
                    </a:solidFill>
                    <a:ea typeface="+mn-ea"/>
                  </a:defRPr>
                </a:pPr>
                <a:r>
                  <a:rPr lang="en-US"/>
                  <a:t>Style-adjusted Buy-and-hold Abnormal</a:t>
                </a:r>
                <a:r>
                  <a:rPr lang="zh-CN"/>
                  <a:t> </a:t>
                </a:r>
                <a:r>
                  <a:rPr lang="en-US"/>
                  <a:t>Returns</a:t>
                </a:r>
                <a:r>
                  <a:rPr lang="zh-CN"/>
                  <a:t> </a:t>
                </a:r>
                <a:r>
                  <a:rPr lang="en-US"/>
                  <a:t>(%)</a:t>
                </a:r>
                <a:endParaRPr lang="zh-CN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550" b="0" i="0" u="none" strike="noStrike" kern="1200" baseline="0">
                  <a:solidFill>
                    <a:schemeClr val="tx1"/>
                  </a:solidFill>
                  <a:ea typeface="+mn-ea"/>
                </a:defRPr>
              </a:pPr>
              <a:endParaRPr lang="zh-CN" altLang="en-US"/>
            </a:p>
          </c:txPr>
        </c:title>
        <c:numFmt formatCode="General" sourceLinked="1"/>
        <c:majorTickMark val="in"/>
        <c:minorTickMark val="none"/>
        <c:tickLblPos val="nextTo"/>
        <c:spPr>
          <a:noFill/>
          <a:ln>
            <a:solidFill>
              <a:schemeClr val="accent4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550" b="0" i="0" u="none" strike="noStrike" kern="1200" baseline="0">
                <a:solidFill>
                  <a:schemeClr val="tx1"/>
                </a:solidFill>
                <a:ea typeface="+mn-ea"/>
              </a:defRPr>
            </a:pPr>
            <a:endParaRPr lang="zh-CN"/>
          </a:p>
        </c:txPr>
        <c:crossAx val="20252954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550" b="0" i="0" u="none" strike="noStrike" kern="1200" baseline="0">
              <a:solidFill>
                <a:schemeClr val="tx1"/>
              </a:solidFill>
              <a:ea typeface="+mn-ea"/>
            </a:defRPr>
          </a:pPr>
          <a:endParaRPr lang="zh-CN"/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1550">
          <a:solidFill>
            <a:schemeClr val="tx1"/>
          </a:solidFill>
        </a:defRPr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affiliation verified October 13, 2026: https://ruidaiwrds.info/home and https://www.usf.edu/business/about/bios/dai-rui.aspx. Rui Dai is Assistant Professor of Finance, University of South Florida, and Research Affiliate, WRDS, University of Pennsylvania. FMA official program: https://www.fmaconferences.org/Tampa/TampaProgram.htm. Session 97, Financial News, Thursday October 15, 2026, 3:45–5:15 pm EDT (UTC−4), Westshore (Level 3), JW Marriott Tampa Water Street. Second paper listed. No paper-specific start time is published. Discussant: Chen Shen, Ontario Tech University. Beijing time: October 16, 3:45–5:15 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supplied August 2026 manuscript, When AI-Washing Meets Initial Public Offerings. Original presentation design retained.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supplied August 2026 manuscript, When AI-Washing Meets Initial Public Offerings. Original presentation design retained.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About 1 minute. Why IPOs: algorithms, data and AI talent are hard to observe from outside, and an</a:t>
            </a:r>
          </a:p>
          <a:p>
            <a:r>
              <a:t>IPO firm has little public history to check claims against (paper, Introduction). Capable firms may</a:t>
            </a:r>
          </a:p>
          <a:p>
            <a:r>
              <a:t>even stay quiet to protect proprietary information (Bhattacharya and Ritter 1983), so disclosure and</a:t>
            </a:r>
          </a:p>
          <a:p>
            <a:r>
              <a:t>investment can diverge in both directions. Then the four questions, which map one-to-one onto the</a:t>
            </a:r>
          </a:p>
          <a:p>
            <a:r>
              <a:t>paper: measurement (Section 3), pricing (Section 4.1), channels (Section 4.2), regulation (Section 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About 1.5 minutes. This is the whole paper in one slide; the rest of the talk follows it in order.</a:t>
            </a:r>
          </a:p>
          <a:p>
            <a:r>
              <a:t>Sources: Introduction; Figure 1 (107 / 1,671 = 6.4%); Figure 2 Panel A (14.3% in 2023); Table 3</a:t>
            </a:r>
          </a:p>
          <a:p>
            <a:r>
              <a:t>Panel A (7.2, 8.8, 13.9, 10.2, 22.0; the 19.0 and 36.0 pp gaps use unrounded estimates); Figures 3-4</a:t>
            </a:r>
          </a:p>
          <a:p>
            <a:r>
              <a:t>(validation); Tables 6-8 (channels); Table 9 and Internet Appendix Table IA10 (regulation vs.</a:t>
            </a:r>
          </a:p>
          <a:p>
            <a:r>
              <a:t>intermediaries).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supplied August 2026 manuscript, When AI-Washing Meets Initial Public Offerings. Original presentation design retained.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About 1.5 minutes. Section 2.2.1. AI talk = count of dictionary terms in the S-1 (Appendix B lists the</a:t>
            </a:r>
          </a:p>
          <a:p>
            <a:r>
              <a:t>97 terms; broad terms such as "machine learning" and "artificial intelligence" are over 70% of</a:t>
            </a:r>
          </a:p>
          <a:p>
            <a:r>
              <a:t>mentions). AI walk 1 = employees with AI skills from the Babina et al. (2024, JFE) taxonomy, at the firm</a:t>
            </a:r>
          </a:p>
          <a:p>
            <a:r>
              <a:t>on the listing date, interns excluded, at least one STEM degree and a minimum share of AI skills</a:t>
            </a:r>
          </a:p>
          <a:p>
            <a:r>
              <a:t>(Internet Appendix Table IA2). AI walk 2 = AI patent filings (granted patents and pre-grant</a:t>
            </a:r>
          </a:p>
          <a:p>
            <a:r>
              <a:t>publications) in the three years through listing, USPTO AIPD predict93_any_ai, matched with KPSS</a:t>
            </a:r>
          </a:p>
          <a:p>
            <a:r>
              <a:t>PERMNO links plus verified assignee links; filing dates, not grant dates (Luong et al. 2017). Details</a:t>
            </a:r>
          </a:p>
          <a:p>
            <a:r>
              <a:t>and the keyword list are in the appendix.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supplied August 2026 manuscript, When AI-Washing Meets Initial Public Offerings. Original presentation design retained.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About 1 minute. Section 3.2-3.3, Figure 1. Three conditions for AI-washing: high AI talk relative to</a:t>
            </a:r>
          </a:p>
          <a:p>
            <a:r>
              <a:t>the firm's own FF12 industry over an expanding window from 2007 to the year before the IPO, zero AI</a:t>
            </a:r>
          </a:p>
          <a:p>
            <a:r>
              <a:t>employees, and zero AI patent filings. The zero-input requirement is deliberately strict, so firms</a:t>
            </a:r>
          </a:p>
          <a:p>
            <a:r>
              <a:t>with any observable AI activity are not called AI-washing. 107 AI-washing (6.4%), 232 AI-aligned</a:t>
            </a:r>
          </a:p>
          <a:p>
            <a:r>
              <a:t>(13.9%), 161 AI-quiet (9.6%; 41% of AI-investment IPOs say nothing about AI), 1,171 non-AI (70.1%).</a:t>
            </a:r>
          </a:p>
          <a:p>
            <a:r>
              <a:t>This is a disclosure-input mismatch; it does not establish intent or legal misrepresentation.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About 1 minute. Section 3.4.2, Figure 4 Panel A, Internet Appendix Table IA5. AI job postings are quarterly</a:t>
            </a:r>
          </a:p>
          <a:p>
            <a:r>
              <a:t>counts of AI-related postings from Lightcast (formerly Burning Glass; paper Appendix A). Dynamic Poisson</a:t>
            </a:r>
          </a:p>
          <a:p>
            <a:r>
              <a:t>regression of AI job postings on AIWashing x quarter relative to lockup expiration, quarters -3 to +3, quarter -1</a:t>
            </a:r>
          </a:p>
          <a:p>
            <a:r>
              <a:t>omitted; AI-washing vs. AI-investment IPOs; industry x year-quarter and relative-quarter fixed effects;</a:t>
            </a:r>
          </a:p>
          <a:p>
            <a:r>
              <a:t>industry-clustered standard errors. Quarters +2 and +3 are significantly negative. The point: if these</a:t>
            </a:r>
          </a:p>
          <a:p>
            <a:r>
              <a:t>firms were genuinely building AI and simply failing, hiring would not drop exactly when insiders can</a:t>
            </a:r>
          </a:p>
          <a:p>
            <a:r>
              <a:t>start selling. Pre-period caution: quarter -3 is positive and significant at 10% in IA5, so do not claim</a:t>
            </a:r>
          </a:p>
          <a:p>
            <a:r>
              <a:t>every pre-period estimate is zero.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About 2 minutes. Table 3 Panel A. AIWashing: -0.077 (1 yr, n.s.), -0.088** (2 yr), -0.139*** (3 yr);</a:t>
            </a:r>
          </a:p>
          <a:p>
            <a:r>
              <a:t>initial return +0.072**. AIInvestment: +10.2 pp (2 yr) and +22.0 pp (3 yr); the AIWashing vs.</a:t>
            </a:r>
          </a:p>
          <a:p>
            <a:r>
              <a:t>AIInvestment difference is significant at 1% at both horizons. Industry-clustered t-statistics;</a:t>
            </a:r>
          </a:p>
          <a:p>
            <a:r>
              <a:t>industry and year fixed effects. Robustness (bottom line): Table 4 calendar-time FF5 alphas of -1.49%</a:t>
            </a:r>
          </a:p>
          <a:p>
            <a:r>
              <a:t>(24 months) and -1.13% (36 months) per month; Table 3 Panel B PSM -16.1 / -18.8 pp and entropy</a:t>
            </a:r>
          </a:p>
          <a:p>
            <a:r>
              <a:t>balancing -12.8 / -19.6 pp; Table 5 drops firms with third-party AI tools (S-1 text), AI suppliers</a:t>
            </a:r>
          </a:p>
          <a:p>
            <a:r>
              <a:t>(FactSet Supply Chain) or AI partners (RavenPack). Market-adjusted BHARs and other keyword thresholds:</a:t>
            </a:r>
          </a:p>
          <a:p>
            <a:r>
              <a:t>Internet Appendix Tables IA6-IA7.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supplied manuscript, Figure 5. Data points reproduce the 16 trading-day horizons displayed in the Word chart. These descriptive portfolio paths differ from the controlled regression estimates.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About 1.5 minutes: the intuition before the evidence. AI-washing claims raise the offer valuation. Because</a:t>
            </a:r>
          </a:p>
          <a:p>
            <a:r>
              <a:t>the claims are unverified, the premium survives the IPO. After listing, 10-Ks, earnings calls and results</a:t>
            </a:r>
          </a:p>
          <a:p>
            <a:r>
              <a:t>accumulate, the AI story retreats, prices correct, and long-run returns are worse.</a:t>
            </a:r>
          </a:p>
          <a:p/>
          <a:p>
            <a:r>
              <a:t>The panel under the diagram is the direct evidence that the AI story retreats after listing:</a:t>
            </a:r>
          </a:p>
          <a:p>
            <a:r>
              <a:t>- Earnings calls (Figure 3 Panel A): average AI keyword mentions in calls for post-IPO quarters 1-8.</a:t>
            </a:r>
          </a:p>
          <a:p>
            <a:r>
              <a:t>  Non-AI IPOs rarely mention AI; AI-investment IPOs keep talking about it; AI-washing IPOs mention AI more</a:t>
            </a:r>
          </a:p>
          <a:p>
            <a:r>
              <a:t>  than non-AI IPOs early on but fall below AI-investment IPOs in later quarters, particularly after the</a:t>
            </a:r>
          </a:p>
          <a:p>
            <a:r>
              <a:t>  fourth quarter.</a:t>
            </a:r>
          </a:p>
          <a:p>
            <a:r>
              <a:t>- First 10-K vs S-1 (Internet Appendix Table IA9, Panel A): AIGapTenK = AI words in the first 10-K after a</a:t>
            </a:r>
          </a:p>
          <a:p>
            <a:r>
              <a:t>  full trading year minus AI words in the S-1, both restricted to Business, Risk Factors and MD&amp;A (about 212</a:t>
            </a:r>
          </a:p>
          <a:p>
            <a:r>
              <a:t>  AI-related IPOs). AIWashing x LitRisk: -1.328 (t = -1.76) with the Kim-Skinner measure, -0.547 (t = -1.92)</a:t>
            </a:r>
          </a:p>
          <a:p>
            <a:r>
              <a:t>  with industry class actions.</a:t>
            </a:r>
          </a:p>
          <a:p>
            <a:r>
              <a:t>- Year-2 earnings calls vs S-1 (IA9, Panel B): AIGapCall = AI-word intensity in calls in post-IPO quarters 5-8</a:t>
            </a:r>
          </a:p>
          <a:p>
            <a:r>
              <a:t>  relative to the S-1 (about 370 IPOs). AIWashing x LitRisk: -0.188 (t = -3.28) and -0.118 (t = -1.83).</a:t>
            </a:r>
          </a:p>
          <a:p>
            <a:r>
              <a:t>- Read together: AI talk fades after the first year, and it fades most where unsupported claims carry the</a:t>
            </a:r>
          </a:p>
          <a:p>
            <a:r>
              <a:t>  most legal exposure (no safe harbor for IPO forward-looking statements). The next slide gives the</a:t>
            </a:r>
          </a:p>
          <a:p>
            <a:r>
              <a:t>  estimates behind each channel.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About 2 minutes. Section 4.2; detailed tables are in the appendix.</a:t>
            </a:r>
          </a:p>
          <a:p>
            <a:r>
              <a:t>- Valuation premium (Table 6): AI patent stock = a listed firm's AI patents over the past ten years, older</a:t>
            </a:r>
          </a:p>
          <a:p>
            <a:r>
              <a:t>  ones down-weighted 15% a year. AIVal = within each FF12 industry, over the three years before the IPO, how</a:t>
            </a:r>
          </a:p>
          <a:p>
            <a:r>
              <a:t>  much higher listed peers' market value is per unit of AI patent stock (controlling for size, ROA, R&amp;D,</a:t>
            </a:r>
          </a:p>
          <a:p>
            <a:r>
              <a:t>  cash, advertising, sales growth): the market's price of AI in that industry. It is about peers, not the</a:t>
            </a:r>
          </a:p>
          <a:p>
            <a:r>
              <a:t>  IPO firm (AI-washing firms have no AI patents). AIWashing x AIVal is positive for relative P/S at issuance (column 2) and</a:t>
            </a:r>
          </a:p>
          <a:p>
            <a:r>
              <a:t>  negative for BHAR: -6.053 (2 years, column 4) and -5.407 (3 years, 10% level).</a:t>
            </a:r>
          </a:p>
          <a:p>
            <a:r>
              <a:t>- Verification (Table 7): AIDistance = 1 - cosine similarity between the S-1 Business section and the</a:t>
            </a:r>
          </a:p>
          <a:p>
            <a:r>
              <a:t>  AI-patent corpus (all-mpnet-base-v2 embeddings). AIWashing x AIDistance: -1.313 (2 years, 5%),</a:t>
            </a:r>
          </a:p>
          <a:p>
            <a:r>
              <a:t>  -1.425 (3 years, 10%); AIDistance alone is insignificant, which argues against a generic firm-quality</a:t>
            </a:r>
          </a:p>
          <a:p>
            <a:r>
              <a:t>  story. It may also capture technological fit.</a:t>
            </a:r>
          </a:p>
          <a:p>
            <a:r>
              <a:t>- Litigation risk (Table 8): no safe harbor for forward-looking statements in IPOs. LitRiskKS (Kim and</a:t>
            </a:r>
          </a:p>
          <a:p>
            <a:r>
              <a:t>  Skinner 2012, firm-level) and LitRiskDFY (industry class actions, Donelson et al. 2022), both over the</a:t>
            </a:r>
          </a:p>
          <a:p>
            <a:r>
              <a:t>  first post-IPO year, so the outcome is second-year BHAR [1,2yr]: -0.034 (t = -3.10) and -0.048</a:t>
            </a:r>
          </a:p>
          <a:p>
            <a:r>
              <a:t>  (t = -2.57). AI-washing firms facing more risk also cut AI words more in the first 10-K and in calls</a:t>
            </a:r>
          </a:p>
          <a:p>
            <a:r>
              <a:t>  (Internet Appendix Table IA9).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About 2 minutes, then close. Section 5 and the Conclusion.</a:t>
            </a:r>
          </a:p>
          <a:p>
            <a:r>
              <a:t>- Intermediaries (Internet Appendix Table IA10): VCAISkill, UWAIExp, AuditorAIExp all negative but</a:t>
            </a:r>
          </a:p>
          <a:p>
            <a:r>
              <a:t>  insignificant. Possible reasons: fees tied to proceeds, and certification focused on financials</a:t>
            </a:r>
          </a:p>
          <a:p>
            <a:r>
              <a:t>  rather than technology.</a:t>
            </a:r>
          </a:p>
          <a:p>
            <a:r>
              <a:t>- Comment letters (Table 9 Panel A): ComLetter = ln(1 + SEC comment letters on IPO filings issued 12 to</a:t>
            </a:r>
          </a:p>
          <a:p>
            <a:r>
              <a:t>  6 months before the focal filing, market-wide). Coefficient -0.249 for AIWashing (column 2); no</a:t>
            </a:r>
          </a:p>
          <a:p>
            <a:r>
              <a:t>  negative effect on AIInvestment. Associational: the count also reflects IPO-market volume.</a:t>
            </a:r>
          </a:p>
          <a:p>
            <a:r>
              <a:t>- Enforcement (Table 9 Panel B): sample from 2018; WashRatio from 2010-2017 by FF12 industry;</a:t>
            </a:r>
          </a:p>
          <a:p>
            <a:r>
              <a:t>  Post x WashRatio negative and significant. The post window is short (31 IPOs, 5 AI-washing).</a:t>
            </a:r>
          </a:p>
          <a:p>
            <a:r>
              <a:t>- Contributions (appendix slide): IPO pricing and information quality; technology-wave enthusiasm (AI</a:t>
            </a:r>
          </a:p>
          <a:p>
            <a:r>
              <a:t>  needs human capital we can observe); strategic disclosure and "washing" (Baker et al. 2024; Duchin</a:t>
            </a:r>
          </a:p>
          <a:p>
            <a:r>
              <a:t>  et al. 2025).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supplied August 2026 manuscript, When AI-Washing Meets Initial Public Offerings. Original presentation design retained.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Appendix: backup slides for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supplied August 2026 manuscript, When AI-Washing Meets Initial Public Offerings. Original presentation design retained.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supplied August 2026 manuscript, When AI-Washing Meets Initial Public Offerings. Original presentation design retained.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supplied August 2026 manuscript, When AI-Washing Meets Initial Public Offerings. Original presentation design retained.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supplied August 2026 manuscript, When AI-Washing Meets Initial Public Offerings. Original presentation design retained.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supplied August 2026 manuscript, When AI-Washing Meets Initial Public Offerings. Original presentation design retained.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supplied August 2026 manuscript, When AI-Washing Meets Initial Public Offerings. Original presentation design retained.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supplied manuscript, Section III. AI-washing is an empirical disclosure–input mismatch and does not establish managerial intent or legal misrepresentation. The 95th-percentile threshold uses the same FF12 industry, from 2007 through the year before the IPO.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supplied manuscript, Figure 2 Panel B. Includes Finance and Utilities, as in the current Word chart.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supplied August 2026 manuscript, When AI-Washing Meets Initial Public Offerings. Original presentation design retained.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supplied August 2026 manuscript, When AI-Washing Meets Initial Public Offerings. Original presentation design retained.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supplied August 2026 manuscript, When AI-Washing Meets Initial Public Offerings. Original presentation design retained.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supplied manuscript, Table 6, all six specifications.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supplied manuscript, Table 7, all four specifications.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supplied manuscript, Section V.C. Litigation-risk proxies use first-year post-listing information and are not ex ante probabilities at issuance.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supplied manuscript, Table 8, all four specifications. Outcome is second-year BHAR [1,2yr].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supplied manuscript, Internet Appendix Table IA9. Shows interaction specifications (3) and (5) for each panel. AIGapTenK compares common sections of 10-K and S-1. AIGapCall compares AI-word intensity in quarters 5–8 with the S-1.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supplied manuscript, Section VI and Table 9. ComLetter is market-level SEC comment-letter activity. The enforcement interaction is associational. Official SEC event: https://www.sec.gov/newsroom/press-releases/2024-36.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10/12/26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93526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10/12/26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19519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10/12/26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66598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10/12/26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93454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10/12/26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2123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10/12/26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53547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10/12/26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96766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10/12/26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3709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10/12/26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0426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10/12/26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08140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10/12/26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96043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10/12/26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62555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  <p:sldLayoutId id="2147483753" r:id="rId2"/>
    <p:sldLayoutId id="2147483754" r:id="rId3"/>
    <p:sldLayoutId id="2147483755" r:id="rId4"/>
    <p:sldLayoutId id="2147483756" r:id="rId5"/>
    <p:sldLayoutId id="2147483762" r:id="rId6"/>
    <p:sldLayoutId id="2147483757" r:id="rId7"/>
    <p:sldLayoutId id="2147483758" r:id="rId8"/>
    <p:sldLayoutId id="2147483759" r:id="rId9"/>
    <p:sldLayoutId id="2147483761" r:id="rId10"/>
    <p:sldLayoutId id="2147483760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2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2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2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2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2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5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jpg"/><Relationship Id="rId5" Type="http://schemas.openxmlformats.org/officeDocument/2006/relationships/image" Target="../media/image10.png"/><Relationship Id="rId6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4.xml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F1314C34-F582-4EEF-86CE-F88761E524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0E34DE7-06DB-1967-2237-15FE2ED2E82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000"/>
          <a:stretch>
            <a:fillRect/>
          </a:stretch>
        </p:blipFill>
        <p:spPr>
          <a:xfrm>
            <a:off x="-1" y="10"/>
            <a:ext cx="12191999" cy="685799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7319A1DD-F557-4EC6-8A8C-F7617B4CD6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2148840"/>
            <a:ext cx="7537704" cy="3611880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01F868-4C26-5ADB-30DD-B2BA73009C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5791" y="2331720"/>
            <a:ext cx="6470692" cy="2103120"/>
          </a:xfrm>
        </p:spPr>
        <p:txBody>
          <a:bodyPr wrap="square" anchor="b">
            <a:normAutofit/>
          </a:bodyPr>
          <a:lstStyle/>
          <a:p>
            <a:r>
              <a:rPr sz="3200"/>
              <a:t>When AI-Washing Meets Initial Public Offerings</a:t>
            </a:r>
            <a:endParaRPr lang="en-US" sz="5400">
              <a:solidFill>
                <a:schemeClr val="tx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E22037-B258-2C42-7D61-709048992C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5791" y="4617720"/>
            <a:ext cx="6470693" cy="1005840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sz="1400"/>
              <a:t>Rui Dai (University of South Florida), Gangxing (Gary) Guo and Bohui Zhang (CUHK-Shenzhen)</a:t>
            </a:r>
            <a:endParaRPr lang="en-US"/>
          </a:p>
          <a:p>
            <a:pPr>
              <a:spcBef>
                <a:spcPts val="0"/>
              </a:spcBef>
            </a:pPr>
            <a:r>
              <a:rPr sz="1400"/>
              <a:t>Presented by Rui Dai  |  2026 FMA Annual Meeting  |  October 15, 2026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28A9C89-B313-458F-9C85-515930A51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72429" y="4526280"/>
            <a:ext cx="6309360" cy="0"/>
          </a:xfrm>
          <a:prstGeom prst="line">
            <a:avLst/>
          </a:prstGeom>
          <a:ln w="19050">
            <a:solidFill>
              <a:schemeClr val="accent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!!footer rectangle">
            <a:extLst>
              <a:ext uri="{FF2B5EF4-FFF2-40B4-BE49-F238E27FC236}">
                <a16:creationId xmlns:a16="http://schemas.microsoft.com/office/drawing/2014/main" id="{C390A367-0330-4E03-9D5F-40308A7975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26262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2536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Background: Emerging AI disclosure in IPO prospectuses</a:t>
            </a:r>
          </a:p>
        </p:txBody>
      </p:sp>
      <p:graphicFrame>
        <p:nvGraphicFramePr>
          <p:cNvPr id="3" name="内容占位符 2">
            <a:extLst>
              <a:ext uri="{FF2B5EF4-FFF2-40B4-BE49-F238E27FC236}">
                <a16:creationId xmlns:a16="http://schemas.microsoft.com/office/drawing/2014/main" id="{577E0B09-5D41-5F07-BE0B-C7FBC8776B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4599338"/>
              </p:ext>
            </p:extLst>
          </p:nvPr>
        </p:nvGraphicFramePr>
        <p:xfrm>
          <a:off x="2366673" y="2865242"/>
          <a:ext cx="7519612" cy="3398397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8A0BD11-0C24-55FE-63A7-568FC2A6DBC3}"/>
              </a:ext>
            </a:extLst>
          </p:cNvPr>
          <p:cNvSpPr txBox="1">
            <a:spLocks/>
          </p:cNvSpPr>
          <p:nvPr/>
        </p:nvSpPr>
        <p:spPr>
          <a:xfrm>
            <a:off x="2061824" y="2103120"/>
            <a:ext cx="8129310" cy="40244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450" dirty="0"/>
              <a:t>AI is increasingly referenced by firms in the U.S. IPO market </a:t>
            </a:r>
          </a:p>
          <a:p>
            <a:pPr lvl="1" algn="just">
              <a:lnSpc>
                <a:spcPct val="100000"/>
              </a:lnSpc>
              <a:spcBef>
                <a:spcPts val="0"/>
              </a:spcBef>
            </a:pPr>
            <a:r>
              <a:rPr lang="en-US" altLang="zh-CN" sz="1450" dirty="0"/>
              <a:t>Mentions of AI in S-1 prospectuses have risen sharply over time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450" dirty="0"/>
              <a:t>Difficulties in valuing AI create scope for potential overstatement</a:t>
            </a:r>
          </a:p>
        </p:txBody>
      </p:sp>
      <p:sp>
        <p:nvSpPr>
          <p:cNvPr id="7" name="footer text"/>
          <p:cNvSpPr txBox="1"/>
          <p:nvPr/>
        </p:nvSpPr>
        <p:spPr>
          <a:xfrm>
            <a:off x="1097280" y="6446520"/>
            <a:ext cx="8686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FFFFFF"/>
                </a:solidFill>
              </a:rPr>
              <a:t>When AI-Washing Meets Initial Public Offerings  |  2026 FMA Annual Meeting</a:t>
            </a:r>
          </a:p>
        </p:txBody>
      </p:sp>
      <p:sp>
        <p:nvSpPr>
          <p:cNvPr id="8" name="slide number"/>
          <p:cNvSpPr txBox="1"/>
          <p:nvPr/>
        </p:nvSpPr>
        <p:spPr>
          <a:xfrm>
            <a:off x="10698480" y="64465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Background: SEC enforcement on AI washing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6781D91-B873-4F25-AD6B-6D2C388E260C}"/>
              </a:ext>
            </a:extLst>
          </p:cNvPr>
          <p:cNvSpPr>
            <a:spLocks noGrp="1"/>
          </p:cNvSpPr>
          <p:nvPr/>
        </p:nvSpPr>
        <p:spPr>
          <a:xfrm>
            <a:off x="1940456" y="2103120"/>
            <a:ext cx="8372046" cy="4144599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dirty="0"/>
              <a:t>AI-washing (as defined by the SEC)</a:t>
            </a:r>
          </a:p>
          <a:p>
            <a:pPr lvl="1" algn="just">
              <a:lnSpc>
                <a:spcPct val="100000"/>
              </a:lnSpc>
              <a:spcBef>
                <a:spcPts val="0"/>
              </a:spcBef>
            </a:pPr>
            <a:r>
              <a:rPr lang="en-US" sz="1500" dirty="0"/>
              <a:t>Deceptive practices in which firms </a:t>
            </a:r>
            <a:r>
              <a:rPr lang="en-US" sz="1500" dirty="0">
                <a:solidFill>
                  <a:schemeClr val="accent1"/>
                </a:solidFill>
              </a:rPr>
              <a:t>embellish</a:t>
            </a:r>
            <a:r>
              <a:rPr lang="en-US" sz="1500" dirty="0"/>
              <a:t> or </a:t>
            </a:r>
            <a:r>
              <a:rPr lang="en-US" sz="1500" dirty="0">
                <a:solidFill>
                  <a:schemeClr val="accent1"/>
                </a:solidFill>
              </a:rPr>
              <a:t>exaggerate</a:t>
            </a:r>
            <a:r>
              <a:rPr lang="en-US" sz="1500" dirty="0"/>
              <a:t> their use of AI and its capabilities to attract investors by creating a facade of innovation and reliability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94556B7-2203-1105-8A69-909059A781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1049" y="3318011"/>
            <a:ext cx="4011671" cy="2674448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7067AD37-53F2-39A1-CE89-B227DDCE04D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23"/>
          <a:stretch>
            <a:fillRect/>
          </a:stretch>
        </p:blipFill>
        <p:spPr>
          <a:xfrm>
            <a:off x="2202083" y="3046830"/>
            <a:ext cx="3154326" cy="3216809"/>
          </a:xfrm>
          <a:prstGeom prst="rect">
            <a:avLst/>
          </a:prstGeom>
        </p:spPr>
      </p:pic>
      <p:sp>
        <p:nvSpPr>
          <p:cNvPr id="9" name="footer text"/>
          <p:cNvSpPr txBox="1"/>
          <p:nvPr/>
        </p:nvSpPr>
        <p:spPr>
          <a:xfrm>
            <a:off x="1097280" y="6446520"/>
            <a:ext cx="8686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FFFFFF"/>
                </a:solidFill>
              </a:rPr>
              <a:t>When AI-Washing Meets Initial Public Offerings  |  2026 FMA Annual Meeting</a:t>
            </a:r>
          </a:p>
        </p:txBody>
      </p:sp>
      <p:sp>
        <p:nvSpPr>
          <p:cNvPr id="10" name="slide number"/>
          <p:cNvSpPr txBox="1"/>
          <p:nvPr/>
        </p:nvSpPr>
        <p:spPr>
          <a:xfrm>
            <a:off x="10698480" y="64465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Research questions</a:t>
            </a:r>
          </a:p>
        </p:txBody>
      </p:sp>
      <p:sp>
        <p:nvSpPr>
          <p:cNvPr id="3" name="text4"/>
          <p:cNvSpPr txBox="1"/>
          <p:nvPr/>
        </p:nvSpPr>
        <p:spPr>
          <a:xfrm>
            <a:off x="1097280" y="2103120"/>
            <a:ext cx="10058400" cy="4160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28600" indent="-228600">
              <a:spcBef>
                <a:spcPts val="800"/>
              </a:spcBef>
              <a:buClr>
                <a:srgbClr val="2683C6"/>
              </a:buClr>
              <a:buFont typeface="Arial"/>
              <a:buChar char="▪"/>
            </a:pPr>
            <a:r>
              <a:rPr sz="2000" b="1">
                <a:solidFill>
                  <a:srgbClr val="2683C6"/>
                </a:solidFill>
              </a:rPr>
              <a:t>Why IPOs?</a:t>
            </a:r>
            <a:r>
              <a:rPr sz="2000" b="0">
                <a:solidFill>
                  <a:srgbClr val="404040"/>
                </a:solidFill>
              </a:rPr>
              <a:t> AI inputs are hard to observe, and issuers have no public track record</a:t>
            </a:r>
          </a:p>
          <a:p>
            <a:pPr marL="228600" indent="-228600">
              <a:spcBef>
                <a:spcPts val="800"/>
              </a:spcBef>
              <a:buClr>
                <a:srgbClr val="2683C6"/>
              </a:buClr>
              <a:buFont typeface="Arial"/>
              <a:buChar char="▪"/>
            </a:pPr>
            <a:r>
              <a:rPr sz="2000" b="0">
                <a:solidFill>
                  <a:srgbClr val="404040"/>
                </a:solidFill>
              </a:rPr>
              <a:t>How prevalent is AI-washing in the IPO market?</a:t>
            </a:r>
          </a:p>
          <a:p>
            <a:pPr marL="228600" indent="-228600">
              <a:spcBef>
                <a:spcPts val="800"/>
              </a:spcBef>
              <a:buClr>
                <a:srgbClr val="2683C6"/>
              </a:buClr>
              <a:buFont typeface="Arial"/>
              <a:buChar char="▪"/>
            </a:pPr>
            <a:r>
              <a:rPr sz="2000" b="0">
                <a:solidFill>
                  <a:srgbClr val="404040"/>
                </a:solidFill>
              </a:rPr>
              <a:t>How can we distinguish AI talk from observable AI investment?</a:t>
            </a:r>
          </a:p>
          <a:p>
            <a:pPr marL="640080" indent="-205740">
              <a:spcBef>
                <a:spcPts val="200"/>
              </a:spcBef>
              <a:buClr>
                <a:srgbClr val="2683C6"/>
              </a:buClr>
              <a:buFont typeface="Arial"/>
              <a:buChar char="–"/>
            </a:pPr>
            <a:r>
              <a:rPr sz="1800" b="0">
                <a:solidFill>
                  <a:srgbClr val="404040"/>
                </a:solidFill>
              </a:rPr>
              <a:t>S-1 disclosures vs. pre-IPO AI employees and AI patent filings</a:t>
            </a:r>
          </a:p>
          <a:p>
            <a:pPr marL="228600" indent="-228600">
              <a:spcBef>
                <a:spcPts val="800"/>
              </a:spcBef>
              <a:buClr>
                <a:srgbClr val="2683C6"/>
              </a:buClr>
              <a:buFont typeface="Arial"/>
              <a:buChar char="▪"/>
            </a:pPr>
            <a:r>
              <a:rPr sz="2000" b="0">
                <a:solidFill>
                  <a:srgbClr val="404040"/>
                </a:solidFill>
              </a:rPr>
              <a:t>How do investors price this disclosure–input mismatch?</a:t>
            </a:r>
          </a:p>
          <a:p>
            <a:pPr marL="640080" indent="-205740">
              <a:spcBef>
                <a:spcPts val="200"/>
              </a:spcBef>
              <a:buClr>
                <a:srgbClr val="2683C6"/>
              </a:buClr>
              <a:buFont typeface="Arial"/>
              <a:buChar char="–"/>
            </a:pPr>
            <a:r>
              <a:rPr sz="1800" b="0">
                <a:solidFill>
                  <a:srgbClr val="404040"/>
                </a:solidFill>
              </a:rPr>
              <a:t>First-day returns and long-run stock performance</a:t>
            </a:r>
          </a:p>
          <a:p>
            <a:pPr marL="228600" indent="-228600">
              <a:spcBef>
                <a:spcPts val="800"/>
              </a:spcBef>
              <a:buClr>
                <a:srgbClr val="2683C6"/>
              </a:buClr>
              <a:buFont typeface="Arial"/>
              <a:buChar char="▪"/>
            </a:pPr>
            <a:r>
              <a:rPr sz="2000" b="0">
                <a:solidFill>
                  <a:srgbClr val="404040"/>
                </a:solidFill>
              </a:rPr>
              <a:t>What explains the mispricing, and what curbs AI-washing?</a:t>
            </a:r>
          </a:p>
        </p:txBody>
      </p:sp>
      <p:sp>
        <p:nvSpPr>
          <p:cNvPr id="4" name="footer text"/>
          <p:cNvSpPr txBox="1"/>
          <p:nvPr/>
        </p:nvSpPr>
        <p:spPr>
          <a:xfrm>
            <a:off x="1097280" y="6446520"/>
            <a:ext cx="8686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FFFFFF"/>
                </a:solidFill>
              </a:rPr>
              <a:t>When AI-Washing Meets Initial Public Offerings  |  2026 FMA Annual Meeting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10698480" y="64465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Preview of findings</a:t>
            </a:r>
          </a:p>
        </p:txBody>
      </p:sp>
      <p:sp>
        <p:nvSpPr>
          <p:cNvPr id="3" name="text5"/>
          <p:cNvSpPr txBox="1"/>
          <p:nvPr/>
        </p:nvSpPr>
        <p:spPr>
          <a:xfrm>
            <a:off x="1097280" y="2103120"/>
            <a:ext cx="10058400" cy="4160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28600" indent="-228600">
              <a:spcBef>
                <a:spcPts val="800"/>
              </a:spcBef>
              <a:buClr>
                <a:srgbClr val="2683C6"/>
              </a:buClr>
              <a:buFont typeface="Arial"/>
              <a:buChar char="▪"/>
            </a:pPr>
            <a:r>
              <a:rPr sz="2000" b="1">
                <a:solidFill>
                  <a:srgbClr val="2683C6"/>
                </a:solidFill>
              </a:rPr>
              <a:t>Prevalence:</a:t>
            </a:r>
            <a:r>
              <a:rPr sz="2000" b="0">
                <a:solidFill>
                  <a:srgbClr val="404040"/>
                </a:solidFill>
              </a:rPr>
              <a:t> 107 of 1,671 IPOs (6.4%) are AI-washing; 14.3% of IPOs in 2023</a:t>
            </a:r>
          </a:p>
          <a:p>
            <a:pPr marL="228600" indent="-228600">
              <a:spcBef>
                <a:spcPts val="800"/>
              </a:spcBef>
              <a:buClr>
                <a:srgbClr val="2683C6"/>
              </a:buClr>
              <a:buFont typeface="Arial"/>
              <a:buChar char="▪"/>
            </a:pPr>
            <a:r>
              <a:rPr sz="2000" b="1">
                <a:solidFill>
                  <a:srgbClr val="2683C6"/>
                </a:solidFill>
              </a:rPr>
              <a:t>Pricing:</a:t>
            </a:r>
            <a:r>
              <a:rPr sz="2000" b="0">
                <a:solidFill>
                  <a:srgbClr val="404040"/>
                </a:solidFill>
              </a:rPr>
              <a:t> AI-washing IPOs earn 7.2 pp higher first-day returns, then underperform</a:t>
            </a:r>
          </a:p>
          <a:p>
            <a:pPr marL="640080" indent="-205740">
              <a:spcBef>
                <a:spcPts val="200"/>
              </a:spcBef>
              <a:buClr>
                <a:srgbClr val="2683C6"/>
              </a:buClr>
              <a:buFont typeface="Arial"/>
              <a:buChar char="–"/>
            </a:pPr>
            <a:r>
              <a:rPr sz="1800" b="0">
                <a:solidFill>
                  <a:srgbClr val="404040"/>
                </a:solidFill>
              </a:rPr>
              <a:t>−8.8 pp (2 years) and −13.9 pp (3 years) vs. non-AI IPOs</a:t>
            </a:r>
          </a:p>
          <a:p>
            <a:pPr marL="640080" indent="-205740">
              <a:spcBef>
                <a:spcPts val="200"/>
              </a:spcBef>
              <a:buClr>
                <a:srgbClr val="2683C6"/>
              </a:buClr>
              <a:buFont typeface="Arial"/>
              <a:buChar char="–"/>
            </a:pPr>
            <a:r>
              <a:rPr sz="1800" b="0">
                <a:solidFill>
                  <a:srgbClr val="404040"/>
                </a:solidFill>
              </a:rPr>
              <a:t>AI-investment IPOs: +10.2 pp and +22.0 pp; gap of 19.0 and 36.0 pp</a:t>
            </a:r>
          </a:p>
          <a:p>
            <a:pPr marL="228600" indent="-228600">
              <a:spcBef>
                <a:spcPts val="800"/>
              </a:spcBef>
              <a:buClr>
                <a:srgbClr val="2683C6"/>
              </a:buClr>
              <a:buFont typeface="Arial"/>
              <a:buChar char="▪"/>
            </a:pPr>
            <a:r>
              <a:rPr sz="2000" b="1">
                <a:solidFill>
                  <a:srgbClr val="2683C6"/>
                </a:solidFill>
              </a:rPr>
              <a:t>Validation:</a:t>
            </a:r>
            <a:r>
              <a:rPr sz="2000" b="0">
                <a:solidFill>
                  <a:srgbClr val="404040"/>
                </a:solidFill>
              </a:rPr>
              <a:t> AI talk fades after year 1; AI job postings (Lightcast) drop after lockup</a:t>
            </a:r>
          </a:p>
          <a:p>
            <a:pPr marL="228600" indent="-228600">
              <a:spcBef>
                <a:spcPts val="800"/>
              </a:spcBef>
              <a:buClr>
                <a:srgbClr val="2683C6"/>
              </a:buClr>
              <a:buFont typeface="Arial"/>
              <a:buChar char="▪"/>
            </a:pPr>
            <a:r>
              <a:rPr sz="2000" b="1">
                <a:solidFill>
                  <a:srgbClr val="2683C6"/>
                </a:solidFill>
              </a:rPr>
              <a:t>Channels:</a:t>
            </a:r>
            <a:r>
              <a:rPr sz="2000" b="0">
                <a:solidFill>
                  <a:srgbClr val="404040"/>
                </a:solidFill>
              </a:rPr>
              <a:t> valuation premium, verification difficulty, litigation risk</a:t>
            </a:r>
          </a:p>
          <a:p>
            <a:pPr marL="228600" indent="-228600">
              <a:spcBef>
                <a:spcPts val="800"/>
              </a:spcBef>
              <a:buClr>
                <a:srgbClr val="2683C6"/>
              </a:buClr>
              <a:buFont typeface="Arial"/>
              <a:buChar char="▪"/>
            </a:pPr>
            <a:r>
              <a:rPr sz="2000" b="1">
                <a:solidFill>
                  <a:srgbClr val="2683C6"/>
                </a:solidFill>
              </a:rPr>
              <a:t>Discipline:</a:t>
            </a:r>
            <a:r>
              <a:rPr sz="2000" b="0">
                <a:solidFill>
                  <a:srgbClr val="404040"/>
                </a:solidFill>
              </a:rPr>
              <a:t> less AI-washing under SEC scrutiny; AI-savvy intermediaries do not help</a:t>
            </a:r>
          </a:p>
        </p:txBody>
      </p:sp>
      <p:sp>
        <p:nvSpPr>
          <p:cNvPr id="4" name="footer text"/>
          <p:cNvSpPr txBox="1"/>
          <p:nvPr/>
        </p:nvSpPr>
        <p:spPr>
          <a:xfrm>
            <a:off x="1097280" y="6446520"/>
            <a:ext cx="8686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FFFFFF"/>
                </a:solidFill>
              </a:rPr>
              <a:t>When AI-Washing Meets Initial Public Offerings  |  2026 FMA Annual Meeting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10698480" y="64465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Dataset</a:t>
            </a:r>
          </a:p>
        </p:txBody>
      </p:sp>
      <p:sp>
        <p:nvSpPr>
          <p:cNvPr id="3" name="text6"/>
          <p:cNvSpPr txBox="1"/>
          <p:nvPr/>
        </p:nvSpPr>
        <p:spPr>
          <a:xfrm>
            <a:off x="1097280" y="2103120"/>
            <a:ext cx="10058400" cy="4160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28600" indent="-228600">
              <a:spcBef>
                <a:spcPts val="800"/>
              </a:spcBef>
              <a:buClr>
                <a:srgbClr val="2683C6"/>
              </a:buClr>
              <a:buFont typeface="Arial"/>
              <a:buChar char="▪"/>
            </a:pPr>
            <a:r>
              <a:rPr sz="2000" b="0">
                <a:solidFill>
                  <a:srgbClr val="404040"/>
                </a:solidFill>
              </a:rPr>
              <a:t>1,671 U.S. IPOs from 2010 to 2024</a:t>
            </a:r>
          </a:p>
          <a:p>
            <a:pPr marL="640080" indent="-205740">
              <a:spcBef>
                <a:spcPts val="200"/>
              </a:spcBef>
              <a:buClr>
                <a:srgbClr val="2683C6"/>
              </a:buClr>
              <a:buFont typeface="Arial"/>
              <a:buChar char="–"/>
            </a:pPr>
            <a:r>
              <a:rPr sz="1800" b="0">
                <a:solidFill>
                  <a:srgbClr val="404040"/>
                </a:solidFill>
              </a:rPr>
              <a:t>Exclude offer prices below $5, ADRs, REITs, closed-end funds, and issuers without first-day CRSP trading records (Lowry et al., 2017)</a:t>
            </a:r>
          </a:p>
          <a:p>
            <a:pPr marL="228600" indent="-228600">
              <a:spcBef>
                <a:spcPts val="800"/>
              </a:spcBef>
              <a:buClr>
                <a:srgbClr val="2683C6"/>
              </a:buClr>
              <a:buFont typeface="Arial"/>
              <a:buChar char="▪"/>
            </a:pPr>
            <a:r>
              <a:rPr sz="2000" b="0">
                <a:solidFill>
                  <a:srgbClr val="404040"/>
                </a:solidFill>
              </a:rPr>
              <a:t>Main datasets</a:t>
            </a:r>
          </a:p>
          <a:p>
            <a:pPr marL="640080" indent="-205740">
              <a:spcBef>
                <a:spcPts val="200"/>
              </a:spcBef>
              <a:buClr>
                <a:srgbClr val="2683C6"/>
              </a:buClr>
              <a:buFont typeface="Arial"/>
              <a:buChar char="–"/>
            </a:pPr>
            <a:r>
              <a:rPr sz="1800" b="0">
                <a:solidFill>
                  <a:srgbClr val="404040"/>
                </a:solidFill>
              </a:rPr>
              <a:t>SDC Platinum and Jay Ritter: IPO characteristics and controls</a:t>
            </a:r>
          </a:p>
          <a:p>
            <a:pPr marL="640080" indent="-205740">
              <a:spcBef>
                <a:spcPts val="200"/>
              </a:spcBef>
              <a:buClr>
                <a:srgbClr val="2683C6"/>
              </a:buClr>
              <a:buFont typeface="Arial"/>
              <a:buChar char="–"/>
            </a:pPr>
            <a:r>
              <a:rPr sz="1800" b="0">
                <a:solidFill>
                  <a:srgbClr val="404040"/>
                </a:solidFill>
              </a:rPr>
              <a:t>CRSP/Compustat: stock returns, financials, and industry classifications</a:t>
            </a:r>
          </a:p>
          <a:p>
            <a:pPr marL="640080" indent="-205740">
              <a:spcBef>
                <a:spcPts val="200"/>
              </a:spcBef>
              <a:buClr>
                <a:srgbClr val="2683C6"/>
              </a:buClr>
              <a:buFont typeface="Arial"/>
              <a:buChar char="–"/>
            </a:pPr>
            <a:r>
              <a:rPr sz="1800" b="0">
                <a:solidFill>
                  <a:srgbClr val="404040"/>
                </a:solidFill>
              </a:rPr>
              <a:t>SEC EDGAR: S-1 filings, 10-K filings, and other disclosures</a:t>
            </a:r>
          </a:p>
          <a:p>
            <a:pPr marL="640080" indent="-205740">
              <a:spcBef>
                <a:spcPts val="200"/>
              </a:spcBef>
              <a:buClr>
                <a:srgbClr val="2683C6"/>
              </a:buClr>
              <a:buFont typeface="Arial"/>
              <a:buChar char="–"/>
            </a:pPr>
            <a:r>
              <a:rPr sz="1800" b="0">
                <a:solidFill>
                  <a:srgbClr val="404040"/>
                </a:solidFill>
              </a:rPr>
              <a:t>Revelio Labs: LinkedIn employee profiles (April 2025 snapshot)</a:t>
            </a:r>
          </a:p>
          <a:p>
            <a:pPr marL="640080" indent="-205740">
              <a:spcBef>
                <a:spcPts val="200"/>
              </a:spcBef>
              <a:buClr>
                <a:srgbClr val="2683C6"/>
              </a:buClr>
              <a:buFont typeface="Arial"/>
              <a:buChar char="–"/>
            </a:pPr>
            <a:r>
              <a:rPr sz="1800" b="0">
                <a:solidFill>
                  <a:srgbClr val="404040"/>
                </a:solidFill>
              </a:rPr>
              <a:t>Lightcast (formerly Burning Glass): AI job postings</a:t>
            </a:r>
          </a:p>
          <a:p>
            <a:pPr marL="640080" indent="-205740">
              <a:spcBef>
                <a:spcPts val="200"/>
              </a:spcBef>
              <a:buClr>
                <a:srgbClr val="2683C6"/>
              </a:buClr>
              <a:buFont typeface="Arial"/>
              <a:buChar char="–"/>
            </a:pPr>
            <a:r>
              <a:rPr sz="1800" b="0">
                <a:solidFill>
                  <a:srgbClr val="404040"/>
                </a:solidFill>
              </a:rPr>
              <a:t>USPTO AIPD: AI patent documents through 2023</a:t>
            </a:r>
          </a:p>
        </p:txBody>
      </p:sp>
      <p:sp>
        <p:nvSpPr>
          <p:cNvPr id="4" name="footer text"/>
          <p:cNvSpPr txBox="1"/>
          <p:nvPr/>
        </p:nvSpPr>
        <p:spPr>
          <a:xfrm>
            <a:off x="1097280" y="6446520"/>
            <a:ext cx="8686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FFFFFF"/>
                </a:solidFill>
              </a:rPr>
              <a:t>When AI-Washing Meets Initial Public Offerings  |  2026 FMA Annual Meeting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10698480" y="64465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Measuring AI talk and AI walk</a:t>
            </a:r>
          </a:p>
        </p:txBody>
      </p:sp>
      <p:sp>
        <p:nvSpPr>
          <p:cNvPr id="3" name="text7"/>
          <p:cNvSpPr txBox="1"/>
          <p:nvPr/>
        </p:nvSpPr>
        <p:spPr>
          <a:xfrm>
            <a:off x="1097280" y="2103120"/>
            <a:ext cx="10058400" cy="4160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28600" indent="-228600">
              <a:spcBef>
                <a:spcPts val="800"/>
              </a:spcBef>
              <a:buClr>
                <a:srgbClr val="2683C6"/>
              </a:buClr>
              <a:buFont typeface="Arial"/>
              <a:buChar char="▪"/>
            </a:pPr>
            <a:r>
              <a:rPr sz="2000" b="1">
                <a:solidFill>
                  <a:srgbClr val="2683C6"/>
                </a:solidFill>
              </a:rPr>
              <a:t>AI talk:</a:t>
            </a:r>
            <a:r>
              <a:rPr sz="2000" b="0">
                <a:solidFill>
                  <a:srgbClr val="404040"/>
                </a:solidFill>
              </a:rPr>
              <a:t> AI keyword mentions in the S-1 registration statement</a:t>
            </a:r>
          </a:p>
          <a:p>
            <a:pPr marL="640080" indent="-205740">
              <a:spcBef>
                <a:spcPts val="200"/>
              </a:spcBef>
              <a:buClr>
                <a:srgbClr val="2683C6"/>
              </a:buClr>
              <a:buFont typeface="Arial"/>
              <a:buChar char="–"/>
            </a:pPr>
            <a:r>
              <a:rPr sz="1800" b="0">
                <a:solidFill>
                  <a:srgbClr val="404040"/>
                </a:solidFill>
              </a:rPr>
              <a:t>97-term dictionary from prior studies; 57 terms appear in S-1s</a:t>
            </a:r>
          </a:p>
          <a:p>
            <a:pPr marL="228600" indent="-228600">
              <a:spcBef>
                <a:spcPts val="800"/>
              </a:spcBef>
              <a:buClr>
                <a:srgbClr val="2683C6"/>
              </a:buClr>
              <a:buFont typeface="Arial"/>
              <a:buChar char="▪"/>
            </a:pPr>
            <a:r>
              <a:rPr sz="2000" b="1">
                <a:solidFill>
                  <a:srgbClr val="2683C6"/>
                </a:solidFill>
              </a:rPr>
              <a:t>AI walk 1 – human capital:</a:t>
            </a:r>
            <a:r>
              <a:rPr sz="2000" b="0">
                <a:solidFill>
                  <a:srgbClr val="404040"/>
                </a:solidFill>
              </a:rPr>
              <a:t> AI-skilled employees at the listing date</a:t>
            </a:r>
          </a:p>
          <a:p>
            <a:pPr marL="640080" indent="-205740">
              <a:spcBef>
                <a:spcPts val="200"/>
              </a:spcBef>
              <a:buClr>
                <a:srgbClr val="2683C6"/>
              </a:buClr>
              <a:buFont typeface="Arial"/>
              <a:buChar char="–"/>
            </a:pPr>
            <a:r>
              <a:rPr sz="1800" b="0">
                <a:solidFill>
                  <a:srgbClr val="404040"/>
                </a:solidFill>
              </a:rPr>
              <a:t>Revelio Labs (LinkedIn); Babina et al. (2024) skills; STEM degree required</a:t>
            </a:r>
          </a:p>
          <a:p>
            <a:pPr marL="228600" indent="-228600">
              <a:spcBef>
                <a:spcPts val="800"/>
              </a:spcBef>
              <a:buClr>
                <a:srgbClr val="2683C6"/>
              </a:buClr>
              <a:buFont typeface="Arial"/>
              <a:buChar char="▪"/>
            </a:pPr>
            <a:r>
              <a:rPr sz="2000" b="1">
                <a:solidFill>
                  <a:srgbClr val="2683C6"/>
                </a:solidFill>
              </a:rPr>
              <a:t>AI walk 2 – patents:</a:t>
            </a:r>
            <a:r>
              <a:rPr sz="2000" b="0">
                <a:solidFill>
                  <a:srgbClr val="404040"/>
                </a:solidFill>
              </a:rPr>
              <a:t> AI patent filings in the three years before listing</a:t>
            </a:r>
          </a:p>
          <a:p>
            <a:pPr marL="640080" indent="-205740">
              <a:spcBef>
                <a:spcPts val="200"/>
              </a:spcBef>
              <a:buClr>
                <a:srgbClr val="2683C6"/>
              </a:buClr>
              <a:buFont typeface="Arial"/>
              <a:buChar char="–"/>
            </a:pPr>
            <a:r>
              <a:rPr sz="1800" b="0">
                <a:solidFill>
                  <a:srgbClr val="404040"/>
                </a:solidFill>
              </a:rPr>
              <a:t>USPTO AI Patent Dataset (0.93 threshold); KPSS links plus name matching</a:t>
            </a:r>
          </a:p>
          <a:p>
            <a:pPr marL="228600" indent="-228600">
              <a:spcBef>
                <a:spcPts val="800"/>
              </a:spcBef>
              <a:buClr>
                <a:srgbClr val="2683C6"/>
              </a:buClr>
              <a:buFont typeface="Arial"/>
              <a:buChar char="▪"/>
            </a:pPr>
            <a:r>
              <a:rPr sz="2000" b="0">
                <a:solidFill>
                  <a:srgbClr val="404040"/>
                </a:solidFill>
              </a:rPr>
              <a:t>All inputs are dated no later than the listing date</a:t>
            </a:r>
          </a:p>
        </p:txBody>
      </p:sp>
      <p:sp>
        <p:nvSpPr>
          <p:cNvPr id="4" name="footer text"/>
          <p:cNvSpPr txBox="1"/>
          <p:nvPr/>
        </p:nvSpPr>
        <p:spPr>
          <a:xfrm>
            <a:off x="1097280" y="6446520"/>
            <a:ext cx="8686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FFFFFF"/>
                </a:solidFill>
              </a:rPr>
              <a:t>When AI-Washing Meets Initial Public Offerings  |  2026 FMA Annual Meeting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10698480" y="64465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AI disclosure and AI inputs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0837218-9CCA-21F3-488C-1EB3C0B1399B}"/>
              </a:ext>
            </a:extLst>
          </p:cNvPr>
          <p:cNvSpPr>
            <a:spLocks noGrp="1"/>
          </p:cNvSpPr>
          <p:nvPr/>
        </p:nvSpPr>
        <p:spPr>
          <a:xfrm>
            <a:off x="2099503" y="2103120"/>
            <a:ext cx="8053952" cy="416052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zh-CN" altLang="zh-CN" sz="1450" dirty="0"/>
              <a:t>Poisson regressions relate AI disclosures to pre-IPO AI employees and patents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altLang="zh-CN" dirty="0"/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n-US" altLang="zh-CN" sz="1600" dirty="0"/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1600" dirty="0"/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1600" dirty="0"/>
          </a:p>
        </p:txBody>
      </p:sp>
      <p:sp>
        <p:nvSpPr>
          <p:cNvPr id="205" name="poisson_eq">
            <a:extLst>
              <a:ext uri="{FF2B5EF4-FFF2-40B4-BE49-F238E27FC236}">
                <a16:creationId xmlns:a16="http://schemas.microsoft.com/office/drawing/2014/main" id="{B1B5C4F4-586F-4DB9-A3D3-D6F888A59091}"/>
              </a:ext>
            </a:extLst>
          </p:cNvPr>
          <p:cNvSpPr>
            <a:spLocks noGrp="1"/>
          </p:cNvSpPr>
          <p:nvPr/>
        </p:nvSpPr>
        <p:spPr>
          <a:xfrm>
            <a:off x="2539954" y="2463180"/>
            <a:ext cx="7173051" cy="283146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ctr">
              <a:defRPr sz="1450" b="0">
                <a:solidFill>
                  <a:srgbClr val="000000"/>
                </a:solidFill>
              </a:defRPr>
            </a:defPPr>
          </a:lstStyle>
          <a:p>
            <a:pPr algn="ctr">
              <a:defRPr sz="1450" b="0">
                <a:solidFill>
                  <a:srgbClr val="000000"/>
                </a:solidFill>
              </a:defRPr>
            </a:pPr>
            <a:r>
              <a:rPr sz="1450" b="0" dirty="0">
                <a:solidFill>
                  <a:srgbClr val="000000"/>
                </a:solidFill>
              </a:rPr>
              <a:t>E[</a:t>
            </a:r>
            <a:r>
              <a:rPr sz="1450" b="0" i="1" dirty="0" err="1">
                <a:solidFill>
                  <a:srgbClr val="000000"/>
                </a:solidFill>
              </a:rPr>
              <a:t>AIWord</a:t>
            </a:r>
            <a:r>
              <a:rPr sz="1450" b="0" dirty="0">
                <a:solidFill>
                  <a:srgbClr val="000000"/>
                </a:solidFill>
              </a:rPr>
              <a:t> | X] = exp(β₁ </a:t>
            </a:r>
            <a:r>
              <a:rPr sz="1450" b="0" i="1" dirty="0" err="1">
                <a:solidFill>
                  <a:srgbClr val="000000"/>
                </a:solidFill>
              </a:rPr>
              <a:t>AIEmployee</a:t>
            </a:r>
            <a:r>
              <a:rPr sz="1450" b="0" dirty="0">
                <a:solidFill>
                  <a:srgbClr val="000000"/>
                </a:solidFill>
              </a:rPr>
              <a:t> + β₂ </a:t>
            </a:r>
            <a:r>
              <a:rPr sz="1450" b="0" i="1" dirty="0" err="1">
                <a:solidFill>
                  <a:srgbClr val="000000"/>
                </a:solidFill>
              </a:rPr>
              <a:t>AIPatent</a:t>
            </a:r>
            <a:r>
              <a:rPr sz="1450" b="0" dirty="0">
                <a:solidFill>
                  <a:srgbClr val="000000"/>
                </a:solidFill>
              </a:rPr>
              <a:t> + Industry FE + Year FE)</a:t>
            </a:r>
          </a:p>
        </p:txBody>
      </p:sp>
      <p:graphicFrame>
        <p:nvGraphicFramePr>
          <p:cNvPr id="206" name="表格 205">
            <a:extLst>
              <a:ext uri="{FF2B5EF4-FFF2-40B4-BE49-F238E27FC236}">
                <a16:creationId xmlns:a16="http://schemas.microsoft.com/office/drawing/2014/main" id="{C5B3AFA1-AEDF-4F80-BADE-EF952FFBC9F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78241437"/>
              </p:ext>
            </p:extLst>
          </p:nvPr>
        </p:nvGraphicFramePr>
        <p:xfrm>
          <a:off x="1817454" y="3094910"/>
          <a:ext cx="8618052" cy="2548324"/>
        </p:xfrm>
        <a:graphic>
          <a:graphicData uri="http://schemas.openxmlformats.org/drawingml/2006/table">
            <a:tbl>
              <a:tblPr/>
              <a:tblGrid>
                <a:gridCol w="15101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46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46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46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46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465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8465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5483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1" dirty="0">
                          <a:solidFill>
                            <a:srgbClr val="000000"/>
                          </a:solidFill>
                        </a:rPr>
                        <a:t>Dep. Variable=</a:t>
                      </a:r>
                    </a:p>
                  </a:txBody>
                  <a:tcPr marL="22860" marR="22860" marT="4572" marB="4572" anchor="ctr">
                    <a:lnL w="0"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1" i="1" dirty="0" err="1">
                          <a:solidFill>
                            <a:srgbClr val="000000"/>
                          </a:solidFill>
                        </a:rPr>
                        <a:t>AIWord</a:t>
                      </a:r>
                      <a:endParaRPr sz="1450" b="1" i="1" dirty="0">
                        <a:solidFill>
                          <a:srgbClr val="000000"/>
                        </a:solidFill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dirty="0"/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dirty="0"/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dirty="0"/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dirty="0"/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dirty="0"/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83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1">
                          <a:solidFill>
                            <a:srgbClr val="000000"/>
                          </a:solidFill>
                        </a:rPr>
                        <a:t>Variable</a:t>
                      </a:r>
                    </a:p>
                  </a:txBody>
                  <a:tcPr marL="22860" marR="22860" marT="4572" marB="4572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1">
                          <a:solidFill>
                            <a:srgbClr val="000000"/>
                          </a:solidFill>
                        </a:rPr>
                        <a:t>(1)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1">
                          <a:solidFill>
                            <a:srgbClr val="000000"/>
                          </a:solidFill>
                        </a:rPr>
                        <a:t>(2)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1" dirty="0">
                          <a:solidFill>
                            <a:srgbClr val="000000"/>
                          </a:solidFill>
                        </a:rPr>
                        <a:t>(3)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1">
                          <a:solidFill>
                            <a:srgbClr val="000000"/>
                          </a:solidFill>
                        </a:rPr>
                        <a:t>(4)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1">
                          <a:solidFill>
                            <a:srgbClr val="000000"/>
                          </a:solidFill>
                        </a:rPr>
                        <a:t>(5)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1">
                          <a:solidFill>
                            <a:srgbClr val="000000"/>
                          </a:solidFill>
                        </a:rPr>
                        <a:t>(6)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83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0" i="1" dirty="0" err="1">
                          <a:solidFill>
                            <a:srgbClr val="000000"/>
                          </a:solidFill>
                        </a:rPr>
                        <a:t>AIEmployee</a:t>
                      </a:r>
                      <a:endParaRPr sz="1450" b="0" i="1" dirty="0">
                        <a:solidFill>
                          <a:srgbClr val="000000"/>
                        </a:solidFill>
                      </a:endParaRPr>
                    </a:p>
                  </a:txBody>
                  <a:tcPr marL="22860" marR="22860" marT="4572" marB="4572" anchor="ctr">
                    <a:lnL w="0"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0">
                          <a:solidFill>
                            <a:srgbClr val="000000"/>
                          </a:solidFill>
                        </a:rPr>
                        <a:t>0.093***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0" dirty="0">
                          <a:solidFill>
                            <a:srgbClr val="000000"/>
                          </a:solidFill>
                        </a:rPr>
                        <a:t>0.046***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450"/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450" dirty="0"/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1" dirty="0">
                          <a:solidFill>
                            <a:srgbClr val="FF0000"/>
                          </a:solidFill>
                        </a:rPr>
                        <a:t>0.077***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1" dirty="0">
                          <a:solidFill>
                            <a:srgbClr val="FF0000"/>
                          </a:solidFill>
                        </a:rPr>
                        <a:t>0.042***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83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450" i="1" dirty="0"/>
                    </a:p>
                  </a:txBody>
                  <a:tcPr marL="22860" marR="22860" marT="4572" marB="4572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0">
                          <a:solidFill>
                            <a:srgbClr val="000000"/>
                          </a:solidFill>
                        </a:rPr>
                        <a:t>(6.24)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0" dirty="0">
                          <a:solidFill>
                            <a:srgbClr val="000000"/>
                          </a:solidFill>
                        </a:rPr>
                        <a:t>(5.20)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450"/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450"/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1" dirty="0">
                          <a:solidFill>
                            <a:srgbClr val="FF0000"/>
                          </a:solidFill>
                        </a:rPr>
                        <a:t>(7.98)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1" dirty="0">
                          <a:solidFill>
                            <a:srgbClr val="FF0000"/>
                          </a:solidFill>
                        </a:rPr>
                        <a:t>(6.34)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83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0" i="1" dirty="0" err="1">
                          <a:solidFill>
                            <a:srgbClr val="000000"/>
                          </a:solidFill>
                        </a:rPr>
                        <a:t>AIPatent</a:t>
                      </a:r>
                      <a:endParaRPr sz="1450" b="0" i="1" dirty="0">
                        <a:solidFill>
                          <a:srgbClr val="000000"/>
                        </a:solidFill>
                      </a:endParaRPr>
                    </a:p>
                  </a:txBody>
                  <a:tcPr marL="22860" marR="22860" marT="4572" marB="4572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450"/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450"/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0">
                          <a:solidFill>
                            <a:srgbClr val="000000"/>
                          </a:solidFill>
                        </a:rPr>
                        <a:t>0.031***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0">
                          <a:solidFill>
                            <a:srgbClr val="000000"/>
                          </a:solidFill>
                        </a:rPr>
                        <a:t>0.012***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1">
                          <a:solidFill>
                            <a:srgbClr val="FF0000"/>
                          </a:solidFill>
                        </a:rPr>
                        <a:t>0.012***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1" dirty="0">
                          <a:solidFill>
                            <a:srgbClr val="FF0000"/>
                          </a:solidFill>
                        </a:rPr>
                        <a:t>0.005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483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450" i="1" dirty="0"/>
                    </a:p>
                  </a:txBody>
                  <a:tcPr marL="22860" marR="22860" marT="4572" marB="4572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450"/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450"/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0">
                          <a:solidFill>
                            <a:srgbClr val="000000"/>
                          </a:solidFill>
                        </a:rPr>
                        <a:t>(4.21)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0">
                          <a:solidFill>
                            <a:srgbClr val="000000"/>
                          </a:solidFill>
                        </a:rPr>
                        <a:t>(2.94)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1">
                          <a:solidFill>
                            <a:srgbClr val="FF0000"/>
                          </a:solidFill>
                        </a:rPr>
                        <a:t>(3.64)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1" dirty="0">
                          <a:solidFill>
                            <a:srgbClr val="FF0000"/>
                          </a:solidFill>
                        </a:rPr>
                        <a:t>(1.49)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483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450"/>
                    </a:p>
                  </a:txBody>
                  <a:tcPr marL="22860" marR="22860" marT="4572" marB="4572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450"/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450"/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450"/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450"/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450"/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450" dirty="0"/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483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0">
                          <a:solidFill>
                            <a:srgbClr val="000000"/>
                          </a:solidFill>
                        </a:rPr>
                        <a:t>Fixed Effects</a:t>
                      </a:r>
                    </a:p>
                  </a:txBody>
                  <a:tcPr marL="22860" marR="22860" marT="4572" marB="4572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0">
                          <a:solidFill>
                            <a:srgbClr val="000000"/>
                          </a:solidFill>
                        </a:rPr>
                        <a:t>No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0">
                          <a:solidFill>
                            <a:srgbClr val="000000"/>
                          </a:solidFill>
                        </a:rPr>
                        <a:t>Ind &amp; Year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0">
                          <a:solidFill>
                            <a:srgbClr val="000000"/>
                          </a:solidFill>
                        </a:rPr>
                        <a:t>No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0">
                          <a:solidFill>
                            <a:srgbClr val="000000"/>
                          </a:solidFill>
                        </a:rPr>
                        <a:t>Ind &amp; Year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0">
                          <a:solidFill>
                            <a:srgbClr val="000000"/>
                          </a:solidFill>
                        </a:rPr>
                        <a:t>No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0" dirty="0">
                          <a:solidFill>
                            <a:srgbClr val="000000"/>
                          </a:solidFill>
                        </a:rPr>
                        <a:t>Ind &amp; Year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483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0">
                          <a:solidFill>
                            <a:srgbClr val="000000"/>
                          </a:solidFill>
                        </a:rPr>
                        <a:t>Observations</a:t>
                      </a:r>
                    </a:p>
                  </a:txBody>
                  <a:tcPr marL="22860" marR="22860" marT="4572" marB="4572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0">
                          <a:solidFill>
                            <a:srgbClr val="000000"/>
                          </a:solidFill>
                        </a:rPr>
                        <a:t>1,671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0">
                          <a:solidFill>
                            <a:srgbClr val="000000"/>
                          </a:solidFill>
                        </a:rPr>
                        <a:t>1,660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0">
                          <a:solidFill>
                            <a:srgbClr val="000000"/>
                          </a:solidFill>
                        </a:rPr>
                        <a:t>1,671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0">
                          <a:solidFill>
                            <a:srgbClr val="000000"/>
                          </a:solidFill>
                        </a:rPr>
                        <a:t>1,660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0">
                          <a:solidFill>
                            <a:srgbClr val="000000"/>
                          </a:solidFill>
                        </a:rPr>
                        <a:t>1,671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0" dirty="0">
                          <a:solidFill>
                            <a:srgbClr val="000000"/>
                          </a:solidFill>
                        </a:rPr>
                        <a:t>1,660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483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0">
                          <a:solidFill>
                            <a:srgbClr val="000000"/>
                          </a:solidFill>
                        </a:rPr>
                        <a:t>Pseudo R2</a:t>
                      </a:r>
                    </a:p>
                  </a:txBody>
                  <a:tcPr marL="22860" marR="22860" marT="4572" marB="4572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0">
                          <a:solidFill>
                            <a:srgbClr val="000000"/>
                          </a:solidFill>
                        </a:rPr>
                        <a:t>8.1%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0">
                          <a:solidFill>
                            <a:srgbClr val="000000"/>
                          </a:solidFill>
                        </a:rPr>
                        <a:t>32.1%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0">
                          <a:solidFill>
                            <a:srgbClr val="000000"/>
                          </a:solidFill>
                        </a:rPr>
                        <a:t>4.6%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0">
                          <a:solidFill>
                            <a:srgbClr val="000000"/>
                          </a:solidFill>
                        </a:rPr>
                        <a:t>31.0%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0">
                          <a:solidFill>
                            <a:srgbClr val="000000"/>
                          </a:solidFill>
                        </a:rPr>
                        <a:t>8.6%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0" dirty="0">
                          <a:solidFill>
                            <a:srgbClr val="000000"/>
                          </a:solidFill>
                        </a:rPr>
                        <a:t>32.2%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207" name="footer text"/>
          <p:cNvSpPr txBox="1"/>
          <p:nvPr/>
        </p:nvSpPr>
        <p:spPr>
          <a:xfrm>
            <a:off x="1097280" y="6446520"/>
            <a:ext cx="8686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FFFFFF"/>
                </a:solidFill>
              </a:rPr>
              <a:t>When AI-Washing Meets Initial Public Offerings  |  2026 FMA Annual Meeting</a:t>
            </a:r>
          </a:p>
        </p:txBody>
      </p:sp>
      <p:sp>
        <p:nvSpPr>
          <p:cNvPr id="208" name="slide number"/>
          <p:cNvSpPr txBox="1"/>
          <p:nvPr/>
        </p:nvSpPr>
        <p:spPr>
          <a:xfrm>
            <a:off x="10698480" y="64465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Classifying IPOs: AI talk vs. AI walk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A1BDD3FA-B40F-A775-4E22-BA28332763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9248598"/>
              </p:ext>
            </p:extLst>
          </p:nvPr>
        </p:nvGraphicFramePr>
        <p:xfrm>
          <a:off x="2004156" y="2593253"/>
          <a:ext cx="8244648" cy="287815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8547">
                  <a:extLst>
                    <a:ext uri="{9D8B030D-6E8A-4147-A177-3AD203B41FA5}">
                      <a16:colId xmlns:a16="http://schemas.microsoft.com/office/drawing/2014/main" val="1925572958"/>
                    </a:ext>
                  </a:extLst>
                </a:gridCol>
                <a:gridCol w="3745230">
                  <a:extLst>
                    <a:ext uri="{9D8B030D-6E8A-4147-A177-3AD203B41FA5}">
                      <a16:colId xmlns:a16="http://schemas.microsoft.com/office/drawing/2014/main" val="2146356473"/>
                    </a:ext>
                  </a:extLst>
                </a:gridCol>
                <a:gridCol w="188547">
                  <a:extLst>
                    <a:ext uri="{9D8B030D-6E8A-4147-A177-3AD203B41FA5}">
                      <a16:colId xmlns:a16="http://schemas.microsoft.com/office/drawing/2014/main" val="1926315353"/>
                    </a:ext>
                  </a:extLst>
                </a:gridCol>
                <a:gridCol w="188547">
                  <a:extLst>
                    <a:ext uri="{9D8B030D-6E8A-4147-A177-3AD203B41FA5}">
                      <a16:colId xmlns:a16="http://schemas.microsoft.com/office/drawing/2014/main" val="4058832952"/>
                    </a:ext>
                  </a:extLst>
                </a:gridCol>
                <a:gridCol w="3745230">
                  <a:extLst>
                    <a:ext uri="{9D8B030D-6E8A-4147-A177-3AD203B41FA5}">
                      <a16:colId xmlns:a16="http://schemas.microsoft.com/office/drawing/2014/main" val="987771038"/>
                    </a:ext>
                  </a:extLst>
                </a:gridCol>
                <a:gridCol w="188547">
                  <a:extLst>
                    <a:ext uri="{9D8B030D-6E8A-4147-A177-3AD203B41FA5}">
                      <a16:colId xmlns:a16="http://schemas.microsoft.com/office/drawing/2014/main" val="3639590534"/>
                    </a:ext>
                  </a:extLst>
                </a:gridCol>
              </a:tblGrid>
              <a:tr h="703909">
                <a:tc gridSpan="6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650" kern="1200" dirty="0">
                          <a:solidFill>
                            <a:schemeClr val="accent1"/>
                          </a:solidFill>
                          <a:cs typeface="+mn-cs"/>
                        </a:rPr>
                        <a:t>AI-investment IPOs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650" kern="1200" dirty="0">
                          <a:solidFill>
                            <a:schemeClr val="accent1"/>
                          </a:solidFill>
                          <a:cs typeface="+mn-cs"/>
                        </a:rPr>
                        <a:t>393 23.5%</a:t>
                      </a:r>
                      <a:endParaRPr lang="zh-CN" altLang="en-US" sz="2000" kern="1200" dirty="0">
                        <a:solidFill>
                          <a:schemeClr val="accent1"/>
                        </a:solidFill>
                        <a:cs typeface="+mn-cs"/>
                      </a:endParaRPr>
                    </a:p>
                  </a:txBody>
                  <a:tcPr marL="22860" marR="22860" marT="4572" marB="4572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altLang="en-US"/>
                    </a:p>
                  </a:txBody>
                  <a:tcPr marL="22860" marR="22860" marT="4572" marB="4572"/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altLang="en-US"/>
                    </a:p>
                  </a:txBody>
                  <a:tcPr marL="22860" marR="22860" marT="4572" marB="4572"/>
                </a:tc>
                <a:tc hMerge="1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zh-CN" altLang="en-US" sz="2000" kern="1200" dirty="0">
                        <a:solidFill>
                          <a:schemeClr val="tx1"/>
                        </a:solidFill>
                        <a:ea typeface="+mn-ea"/>
                        <a:cs typeface="+mn-cs"/>
                      </a:endParaRPr>
                    </a:p>
                  </a:txBody>
                  <a:tcPr marL="22860" marR="22860" marT="4572" marB="4572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altLang="en-US"/>
                    </a:p>
                  </a:txBody>
                  <a:tcPr marL="22860" marR="22860" marT="4572" marB="4572"/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altLang="en-US"/>
                    </a:p>
                  </a:txBody>
                  <a:tcPr marL="22860" marR="22860" marT="4572" marB="4572"/>
                </a:tc>
                <a:extLst>
                  <a:ext uri="{0D108BD9-81ED-4DB2-BD59-A6C34878D82A}">
                    <a16:rowId xmlns:a16="http://schemas.microsoft.com/office/drawing/2014/main" val="570931382"/>
                  </a:ext>
                </a:extLst>
              </a:tr>
              <a:tr h="339385">
                <a:tc>
                  <a:txBody>
                    <a:bodyPr/>
                    <a:lstStyle/>
                    <a:p>
                      <a:pPr marL="0" algn="ctr" defTabSz="457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kumimoji="1" lang="zh-CN" altLang="en-US" sz="2000" kern="1200" dirty="0">
                        <a:solidFill>
                          <a:schemeClr val="tx1"/>
                        </a:solidFill>
                        <a:ea typeface="+mn-ea"/>
                        <a:cs typeface="+mn-cs"/>
                      </a:endParaRPr>
                    </a:p>
                  </a:txBody>
                  <a:tcPr marL="22860" marR="22860" marT="4572" marB="4572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1" lang="en-US" altLang="zh-CN" sz="1650" kern="1200" dirty="0">
                          <a:solidFill>
                            <a:schemeClr val="tx1"/>
                          </a:solidFill>
                          <a:ea typeface="+mn-ea"/>
                          <a:cs typeface="+mn-cs"/>
                        </a:rPr>
                        <a:t>AI-aligned IPOs</a:t>
                      </a:r>
                    </a:p>
                    <a:p>
                      <a:pPr marL="0" algn="ctr" defTabSz="457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1" lang="en-US" altLang="zh-CN" sz="1650" kern="1200" dirty="0">
                          <a:solidFill>
                            <a:schemeClr val="tx1"/>
                          </a:solidFill>
                          <a:ea typeface="+mn-ea"/>
                          <a:cs typeface="+mn-cs"/>
                        </a:rPr>
                        <a:t>232 13.9%</a:t>
                      </a:r>
                      <a:endParaRPr kumimoji="1" lang="zh-CN" altLang="en-US" sz="1650" kern="1200" dirty="0">
                        <a:solidFill>
                          <a:schemeClr val="tx1"/>
                        </a:solidFill>
                        <a:ea typeface="+mn-ea"/>
                        <a:cs typeface="+mn-cs"/>
                      </a:endParaRPr>
                    </a:p>
                  </a:txBody>
                  <a:tcPr marL="22860" marR="22860" marT="4572" marB="4572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kumimoji="1" lang="zh-CN" altLang="en-US" sz="2000" kern="1200" dirty="0">
                        <a:solidFill>
                          <a:schemeClr val="tx1"/>
                        </a:solidFill>
                        <a:ea typeface="+mn-ea"/>
                        <a:cs typeface="+mn-cs"/>
                      </a:endParaRPr>
                    </a:p>
                  </a:txBody>
                  <a:tcPr marL="22860" marR="22860" marT="4572" marB="4572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zh-CN" altLang="en-US" sz="2000" kern="1200" dirty="0">
                        <a:solidFill>
                          <a:schemeClr val="tx1"/>
                        </a:solidFill>
                        <a:ea typeface="+mn-ea"/>
                        <a:cs typeface="+mn-cs"/>
                      </a:endParaRPr>
                    </a:p>
                  </a:txBody>
                  <a:tcPr marL="22860" marR="22860" marT="4572" marB="4572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650" kern="1200" dirty="0">
                          <a:solidFill>
                            <a:schemeClr val="tx1"/>
                          </a:solidFill>
                          <a:ea typeface="+mn-ea"/>
                          <a:cs typeface="+mn-cs"/>
                        </a:rPr>
                        <a:t>AI-quiet IPOs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650" kern="1200" dirty="0">
                          <a:solidFill>
                            <a:schemeClr val="tx1"/>
                          </a:solidFill>
                          <a:ea typeface="+mn-ea"/>
                          <a:cs typeface="+mn-cs"/>
                        </a:rPr>
                        <a:t>161 9.6%</a:t>
                      </a:r>
                      <a:endParaRPr kumimoji="1" lang="zh-CN" altLang="en-US" sz="1650" kern="1200" dirty="0">
                        <a:solidFill>
                          <a:schemeClr val="tx1"/>
                        </a:solidFill>
                        <a:ea typeface="+mn-ea"/>
                        <a:cs typeface="+mn-cs"/>
                      </a:endParaRPr>
                    </a:p>
                  </a:txBody>
                  <a:tcPr marL="22860" marR="22860" marT="4572" marB="4572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zh-CN" altLang="en-US" sz="2000" kern="1200" dirty="0">
                        <a:solidFill>
                          <a:schemeClr val="tx1"/>
                        </a:solidFill>
                        <a:ea typeface="+mn-ea"/>
                        <a:cs typeface="+mn-cs"/>
                      </a:endParaRPr>
                    </a:p>
                  </a:txBody>
                  <a:tcPr marL="22860" marR="22860" marT="4572" marB="4572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95651865"/>
                  </a:ext>
                </a:extLst>
              </a:tr>
              <a:tr h="326617">
                <a:tc>
                  <a:txBody>
                    <a:bodyPr/>
                    <a:lstStyle/>
                    <a:p>
                      <a:pPr marL="0" algn="ctr" defTabSz="457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kumimoji="1" lang="zh-CN" altLang="en-US" sz="2000" kern="1200" dirty="0">
                        <a:solidFill>
                          <a:schemeClr val="tx1"/>
                        </a:solidFill>
                        <a:ea typeface="+mn-ea"/>
                        <a:cs typeface="+mn-cs"/>
                      </a:endParaRPr>
                    </a:p>
                  </a:txBody>
                  <a:tcPr marL="22860" marR="22860" marT="4572" marB="4572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kumimoji="1" lang="zh-CN" altLang="en-US" sz="1650" kern="1200" dirty="0">
                        <a:solidFill>
                          <a:schemeClr val="tx1"/>
                        </a:solidFill>
                        <a:ea typeface="+mn-ea"/>
                        <a:cs typeface="+mn-cs"/>
                      </a:endParaRPr>
                    </a:p>
                  </a:txBody>
                  <a:tcPr marL="22860" marR="22860" marT="4572" marB="4572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kumimoji="1" lang="zh-CN" altLang="en-US" sz="2000" kern="1200" dirty="0">
                        <a:solidFill>
                          <a:schemeClr val="tx1"/>
                        </a:solidFill>
                        <a:ea typeface="+mn-ea"/>
                        <a:cs typeface="+mn-cs"/>
                      </a:endParaRPr>
                    </a:p>
                  </a:txBody>
                  <a:tcPr marL="22860" marR="22860" marT="4572" marB="4572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zh-CN" altLang="en-US" sz="2000" kern="1200" dirty="0">
                        <a:solidFill>
                          <a:schemeClr val="tx1"/>
                        </a:solidFill>
                        <a:ea typeface="+mn-ea"/>
                        <a:cs typeface="+mn-cs"/>
                      </a:endParaRPr>
                    </a:p>
                  </a:txBody>
                  <a:tcPr marL="22860" marR="22860" marT="4572" marB="4572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zh-CN" altLang="en-US" sz="1650" kern="1200" dirty="0">
                        <a:solidFill>
                          <a:schemeClr val="tx1"/>
                        </a:solidFill>
                        <a:ea typeface="+mn-ea"/>
                        <a:cs typeface="+mn-cs"/>
                      </a:endParaRPr>
                    </a:p>
                  </a:txBody>
                  <a:tcPr marL="22860" marR="22860" marT="4572" marB="4572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zh-CN" altLang="en-US" sz="2000" kern="1200" dirty="0">
                        <a:solidFill>
                          <a:schemeClr val="tx1"/>
                        </a:solidFill>
                        <a:ea typeface="+mn-ea"/>
                        <a:cs typeface="+mn-cs"/>
                      </a:endParaRPr>
                    </a:p>
                  </a:txBody>
                  <a:tcPr marL="22860" marR="22860" marT="4572" marB="4572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32638705"/>
                  </a:ext>
                </a:extLst>
              </a:tr>
              <a:tr h="1337289">
                <a:tc gridSpan="3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650" kern="1200" dirty="0">
                          <a:solidFill>
                            <a:srgbClr val="FF0000"/>
                          </a:solidFill>
                          <a:ea typeface="+mn-ea"/>
                          <a:cs typeface="+mn-cs"/>
                        </a:rPr>
                        <a:t>AI-washing IPOs 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650" kern="1200" dirty="0">
                          <a:solidFill>
                            <a:srgbClr val="FF0000"/>
                          </a:solidFill>
                          <a:ea typeface="+mn-ea"/>
                          <a:cs typeface="+mn-cs"/>
                        </a:rPr>
                        <a:t>107 6.4%</a:t>
                      </a:r>
                    </a:p>
                  </a:txBody>
                  <a:tcPr marL="22860" marR="22860" marT="4572" marB="4572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altLang="en-US"/>
                    </a:p>
                  </a:txBody>
                  <a:tcPr marL="22860" marR="22860" marT="4572" marB="4572"/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altLang="en-US"/>
                    </a:p>
                  </a:txBody>
                  <a:tcPr marL="22860" marR="22860" marT="4572" marB="4572"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50" kern="1200" dirty="0">
                          <a:solidFill>
                            <a:schemeClr val="accent1"/>
                          </a:solidFill>
                          <a:cs typeface="+mn-cs"/>
                        </a:rPr>
                        <a:t>Non-AI IPOs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50" kern="1200" dirty="0">
                          <a:solidFill>
                            <a:schemeClr val="accent1"/>
                          </a:solidFill>
                          <a:cs typeface="+mn-cs"/>
                        </a:rPr>
                        <a:t>1,171 70.1%</a:t>
                      </a:r>
                      <a:endParaRPr lang="zh-CN" altLang="en-US" sz="2000" kern="1200" dirty="0">
                        <a:solidFill>
                          <a:schemeClr val="accent1"/>
                        </a:solidFill>
                        <a:cs typeface="+mn-cs"/>
                      </a:endParaRPr>
                    </a:p>
                  </a:txBody>
                  <a:tcPr marL="22860" marR="22860" marT="4572" marB="4572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altLang="en-US"/>
                    </a:p>
                  </a:txBody>
                  <a:tcPr marL="22860" marR="22860" marT="4572" marB="4572"/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altLang="en-US"/>
                    </a:p>
                  </a:txBody>
                  <a:tcPr marL="22860" marR="22860" marT="4572" marB="4572"/>
                </a:tc>
                <a:extLst>
                  <a:ext uri="{0D108BD9-81ED-4DB2-BD59-A6C34878D82A}">
                    <a16:rowId xmlns:a16="http://schemas.microsoft.com/office/drawing/2014/main" val="389309225"/>
                  </a:ext>
                </a:extLst>
              </a:tr>
            </a:tbl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C169EBC5-F76F-921F-5325-1C3FDB609966}"/>
              </a:ext>
            </a:extLst>
          </p:cNvPr>
          <p:cNvSpPr txBox="1"/>
          <p:nvPr/>
        </p:nvSpPr>
        <p:spPr>
          <a:xfrm>
            <a:off x="4154599" y="2103120"/>
            <a:ext cx="935178" cy="380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800" dirty="0"/>
              <a:t>AI Talk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A2E2EED-4A38-9A7A-9036-0698419CD24C}"/>
              </a:ext>
            </a:extLst>
          </p:cNvPr>
          <p:cNvSpPr txBox="1"/>
          <p:nvPr/>
        </p:nvSpPr>
        <p:spPr>
          <a:xfrm>
            <a:off x="8176941" y="2103120"/>
            <a:ext cx="1312940" cy="380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800" dirty="0"/>
              <a:t>No AI Talk</a:t>
            </a:r>
            <a:endParaRPr kumimoji="1" lang="zh-CN" altLang="en-US" sz="200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5F3BF4F-0283-0CF4-9F3B-A5957958F37E}"/>
              </a:ext>
            </a:extLst>
          </p:cNvPr>
          <p:cNvSpPr txBox="1"/>
          <p:nvPr/>
        </p:nvSpPr>
        <p:spPr>
          <a:xfrm>
            <a:off x="528944" y="3128599"/>
            <a:ext cx="1311671" cy="380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800" dirty="0"/>
              <a:t>AI Walk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E67962C-9597-AC62-3F3C-123DF84DC9B7}"/>
              </a:ext>
            </a:extLst>
          </p:cNvPr>
          <p:cNvSpPr txBox="1"/>
          <p:nvPr/>
        </p:nvSpPr>
        <p:spPr>
          <a:xfrm>
            <a:off x="475502" y="4730122"/>
            <a:ext cx="1418553" cy="380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/>
              <a:t>No AI Walk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03485" y="5584869"/>
            <a:ext cx="9276526" cy="678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1500" dirty="0" b="1"/>
              <a:t>AI-washing:</a:t>
            </a:r>
            <a:r>
              <a:rPr kumimoji="1" lang="en-US" altLang="zh-CN" sz="1500" dirty="0" b="0"/>
              <a:t> AI talk above the FF12 industry’s historical 95th percentile (2007 to t−1), with zero AI employees and zero AI patents. </a:t>
            </a:r>
            <a:r>
              <a:rPr kumimoji="1" lang="en-US" altLang="zh-CN" sz="1500" dirty="0" b="1"/>
              <a:t>AI-investment:</a:t>
            </a:r>
            <a:r>
              <a:rPr kumimoji="1" lang="en-US" altLang="zh-CN" sz="1500" dirty="0" b="0"/>
              <a:t> at least one AI employee or AI patent.</a:t>
            </a:r>
          </a:p>
        </p:txBody>
      </p:sp>
      <p:sp>
        <p:nvSpPr>
          <p:cNvPr id="20" name="footer text"/>
          <p:cNvSpPr txBox="1"/>
          <p:nvPr/>
        </p:nvSpPr>
        <p:spPr>
          <a:xfrm>
            <a:off x="1097280" y="6446520"/>
            <a:ext cx="8686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FFFFFF"/>
                </a:solidFill>
              </a:rPr>
              <a:t>When AI-Washing Meets Initial Public Offerings  |  2026 FMA Annual Meeting</a:t>
            </a:r>
          </a:p>
        </p:txBody>
      </p:sp>
      <p:sp>
        <p:nvSpPr>
          <p:cNvPr id="21" name="slide number"/>
          <p:cNvSpPr txBox="1"/>
          <p:nvPr/>
        </p:nvSpPr>
        <p:spPr>
          <a:xfrm>
            <a:off x="10698480" y="64465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AI washing or AI failures?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2AF45F60-35B1-AC86-E2A3-80FC628A4463}"/>
                  </a:ext>
                </a:extLst>
              </p:cNvPr>
              <p:cNvSpPr txBox="1"/>
              <p:nvPr/>
            </p:nvSpPr>
            <p:spPr>
              <a:xfrm>
                <a:off x="3017520" y="2560320"/>
                <a:ext cx="6217920" cy="4957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eqArr>
                        <m:eqArrPr>
                          <m:ctrlPr>
                            <a:rPr lang="zh-CN" altLang="en-US" sz="1100" i="1" smtClean="0"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r>
                            <a:rPr lang="zh-CN" altLang="en-US" sz="1100">
                              <a:latin typeface="Cambria Math" panose="02040503050406030204" pitchFamily="18" charset="0"/>
                            </a:rPr>
                            <m:t>&amp;</m:t>
                          </m:r>
                          <m:sSub>
                            <m:sSubPr>
                              <m:ctrlPr>
                                <a:rPr lang="zh-CN" altLang="en-US" sz="1100" b="0" i="1"/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zh-CN" altLang="en-US" sz="1100" b="0" i="1"/>
                                <m:t>AIJobPost</m:t>
                              </m:r>
                            </m:e>
                            <m:sub>
                              <m:r>
                                <a:rPr lang="zh-CN" altLang="en-US" sz="1100" b="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zh-CN" altLang="en-US" sz="1100" b="0" i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sz="1100" b="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zh-CN" altLang="en-US" sz="1100" b="0" i="1"/>
                            <m:t>=</m:t>
                          </m:r>
                          <m:nary>
                            <m:naryPr>
                              <m:chr m:val="∑"/>
                              <m:limLoc m:val="subSup"/>
                              <m:ctrlPr>
                                <a:rPr lang="zh-CN" altLang="en-US" sz="1100" b="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eqArr>
                                <m:eqArrPr>
                                  <m:ctrlPr>
                                    <a:rPr lang="zh-CN" altLang="en-US" sz="1100" b="0" i="1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zh-CN" altLang="en-US" sz="1100" b="0" i="0">
                                      <a:latin typeface="Cambria Math" panose="02040503050406030204" pitchFamily="18" charset="0"/>
                                    </a:rPr>
                                    <m:t>&amp;</m:t>
                                  </m:r>
                                  <m:r>
                                    <a:rPr lang="zh-CN" altLang="en-US" sz="1100" b="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zh-CN" altLang="en-US" sz="1100" b="0" i="0">
                                      <a:latin typeface="Cambria Math" panose="02040503050406030204" pitchFamily="18" charset="0"/>
                                    </a:rPr>
                                    <m:t>≠−1</m:t>
                                  </m:r>
                                </m:e>
                                <m:e>
                                  <m:r>
                                    <a:rPr lang="zh-CN" altLang="en-US" sz="1100" b="0" i="0">
                                      <a:latin typeface="Cambria Math" panose="02040503050406030204" pitchFamily="18" charset="0"/>
                                    </a:rPr>
                                    <m:t>&amp;</m:t>
                                  </m:r>
                                  <m:r>
                                    <a:rPr lang="zh-CN" altLang="en-US" sz="1100" b="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zh-CN" altLang="en-US" sz="1100" b="0" i="0">
                                      <a:latin typeface="Cambria Math" panose="02040503050406030204" pitchFamily="18" charset="0"/>
                                    </a:rPr>
                                    <m:t>=−</m:t>
                                  </m:r>
                                  <m:r>
                                    <a:rPr lang="en-US" altLang="zh-CN" sz="11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</m:eqArr>
                            </m:sub>
                            <m:sup>
                              <m:r>
                                <a:rPr lang="en-US" altLang="zh-CN" sz="1100" b="0" i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zh-CN" altLang="en-US" sz="1100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100" b="0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zh-CN" altLang="en-US" sz="1100" b="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zh-CN" altLang="en-US" sz="1100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en-US" sz="11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100" b="0" i="1">
                                          <a:latin typeface="Cambria Math" panose="02040503050406030204" pitchFamily="18" charset="0"/>
                                        </a:rPr>
                                        <m:t>𝐴𝐼𝑊𝑎𝑠ℎ𝑖𝑛𝑔</m:t>
                                      </m:r>
                                    </m:e>
                                    <m:sub>
                                      <m:r>
                                        <a:rPr lang="zh-CN" altLang="en-US" sz="1100" b="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zh-CN" altLang="en-US" sz="1100" b="0" i="0">
                                      <a:latin typeface="Cambria Math" panose="02040503050406030204" pitchFamily="18" charset="0"/>
                                    </a:rPr>
                                    <m:t>×1</m:t>
                                  </m:r>
                                  <m:d>
                                    <m:dPr>
                                      <m:ctrlPr>
                                        <a:rPr lang="zh-CN" altLang="en-US" sz="11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altLang="en-US" sz="1100" b="0" i="1">
                                          <a:latin typeface="Cambria Math" panose="02040503050406030204" pitchFamily="18" charset="0"/>
                                        </a:rPr>
                                        <m:t>𝑟𝑒𝑙</m:t>
                                      </m:r>
                                      <m:r>
                                        <m:rPr>
                                          <m:lit/>
                                        </m:rPr>
                                        <a:rPr lang="zh-CN" altLang="en-US" sz="1100" b="0" i="1">
                                          <a:latin typeface="Cambria Math" panose="02040503050406030204" pitchFamily="18" charset="0"/>
                                        </a:rPr>
                                        <m:t>_</m:t>
                                      </m:r>
                                      <m:r>
                                        <m:rPr>
                                          <m:lit/>
                                        </m:rPr>
                                        <a:rPr lang="en-US" altLang="zh-CN" sz="1100" b="0" i="1" smtClean="0">
                                          <a:latin typeface="Cambria Math" panose="02040503050406030204" pitchFamily="18" charset="0"/>
                                        </a:rPr>
                                        <m:t>𝑞𝑢𝑎𝑟𝑡𝑒𝑟</m:t>
                                      </m:r>
                                      <m:r>
                                        <a:rPr lang="zh-CN" altLang="en-US" sz="1100" b="0" i="0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r>
                                        <a:rPr lang="zh-CN" altLang="en-US" sz="1100" b="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</m:d>
                                </m:e>
                              </m:d>
                            </m:e>
                          </m:nary>
                          <m:r>
                            <a:rPr lang="zh-CN" altLang="en-US" sz="1100" b="0" i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en-US" sz="11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100" b="0" i="1">
                                  <a:latin typeface="Cambria Math" panose="02040503050406030204" pitchFamily="18" charset="0"/>
                                </a:rPr>
                                <m:t>𝐴𝐼𝑊𝑎𝑠ℎ𝑖𝑛𝑔</m:t>
                              </m:r>
                            </m:e>
                            <m:sub>
                              <m:r>
                                <a:rPr lang="zh-CN" altLang="en-US" sz="1100" b="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zh-CN" altLang="en-US" sz="110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en-US" sz="11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100" i="1">
                                  <a:latin typeface="Cambria Math" panose="02040503050406030204" pitchFamily="18" charset="0"/>
                                </a:rPr>
                                <m:t>𝐶𝑂𝑁𝑇𝑅𝑂𝐿𝑆</m:t>
                              </m:r>
                            </m:e>
                            <m:sub>
                              <m:r>
                                <a:rPr lang="zh-CN" altLang="en-US" sz="11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zh-CN" altLang="en-US" sz="110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en-US" sz="11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100" i="1">
                                  <a:latin typeface="Cambria Math" panose="02040503050406030204" pitchFamily="18" charset="0"/>
                                </a:rPr>
                                <m:t>𝐹𝐸</m:t>
                              </m:r>
                            </m:e>
                            <m:sub>
                              <m:r>
                                <a:rPr lang="zh-CN" altLang="en-US" sz="11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zh-CN" altLang="en-US" sz="110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sz="11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zh-CN" altLang="en-US" sz="110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en-US" sz="11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100" i="1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zh-CN" altLang="en-US" sz="11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zh-CN" altLang="en-US" sz="110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sz="11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  <m:e>
                          <m:r>
                            <a:rPr lang="zh-CN" altLang="en-US" sz="1100" b="0" i="0">
                              <a:latin typeface="Cambria Math" panose="02040503050406030204" pitchFamily="18" charset="0"/>
                            </a:rPr>
                            <m:t>&amp;#</m:t>
                          </m:r>
                        </m:e>
                      </m:eqAr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2AF45F60-35B1-AC86-E2A3-80FC628A44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7520" y="2560320"/>
                <a:ext cx="6217920" cy="495724"/>
              </a:xfrm>
              <a:prstGeom prst="rect">
                <a:avLst/>
              </a:prstGeom>
              <a:blipFill>
                <a:blip r:embed="rId2"/>
                <a:stretch>
                  <a:fillRect l="-447" t="-116667" r="-1006" b="-1541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6" name="Picture 205" descr="fig4_panelA_lockup_redraw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2188" y="3092620"/>
            <a:ext cx="4768584" cy="2503507"/>
          </a:xfrm>
          <a:prstGeom prst="rect">
            <a:avLst/>
          </a:prstGeom>
        </p:spPr>
      </p:pic>
      <p:sp>
        <p:nvSpPr>
          <p:cNvPr id="207" name="lead-in"/>
          <p:cNvSpPr txBox="1"/>
          <p:nvPr/>
        </p:nvSpPr>
        <p:spPr>
          <a:xfrm>
            <a:off x="1097280" y="2011680"/>
            <a:ext cx="10058400" cy="548640"/>
          </a:xfrm>
          <a:prstGeom prst="rect">
            <a:avLst/>
          </a:prstGeom>
          <a:noFill/>
        </p:spPr>
        <p:txBody>
          <a:bodyPr wrap="square" anchor="ctr" lIns="137160" rIns="137160">
            <a:spAutoFit/>
          </a:bodyPr>
          <a:lstStyle/>
          <a:p>
            <a:r>
              <a:rPr sz="1500" b="0">
                <a:solidFill>
                  <a:srgbClr val="404040"/>
                </a:solidFill>
              </a:rPr>
              <a:t>We estimate a dynamic regression using an event window of [−3, +3] quarters around the expiration day, focusing on the subsample of AI-washing and AI-investment IPOs:</a:t>
            </a:r>
          </a:p>
        </p:txBody>
      </p:sp>
      <p:sp>
        <p:nvSpPr>
          <p:cNvPr id="208" name="finding"/>
          <p:cNvSpPr txBox="1"/>
          <p:nvPr/>
        </p:nvSpPr>
        <p:spPr>
          <a:xfrm>
            <a:off x="1097280" y="5623560"/>
            <a:ext cx="10058400" cy="640080"/>
          </a:xfrm>
          <a:prstGeom prst="rect">
            <a:avLst/>
          </a:prstGeom>
          <a:noFill/>
        </p:spPr>
        <p:txBody>
          <a:bodyPr wrap="square" anchor="ctr" lIns="137160" rIns="137160">
            <a:spAutoFit/>
          </a:bodyPr>
          <a:lstStyle/>
          <a:p>
            <a:pPr algn="ctr"/>
            <a:r>
              <a:rPr sz="1500" b="1">
                <a:solidFill>
                  <a:srgbClr val="2683C6"/>
                </a:solidFill>
              </a:rPr>
              <a:t>AI-washing firms post fewer AI jobs (Lightcast) in quarters +2 and +3.</a:t>
            </a:r>
          </a:p>
          <a:p>
            <a:pPr algn="ctr"/>
            <a:r>
              <a:rPr sz="1500" b="0">
                <a:solidFill>
                  <a:srgbClr val="404040"/>
                </a:solidFill>
              </a:rPr>
              <a:t>A firm genuinely building AI has no reason to stop hiring just when insiders can start selling.</a:t>
            </a:r>
          </a:p>
        </p:txBody>
      </p:sp>
      <p:sp>
        <p:nvSpPr>
          <p:cNvPr id="209" name="footer text"/>
          <p:cNvSpPr txBox="1"/>
          <p:nvPr/>
        </p:nvSpPr>
        <p:spPr>
          <a:xfrm>
            <a:off x="1097280" y="6446520"/>
            <a:ext cx="8686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FFFFFF"/>
                </a:solidFill>
              </a:rPr>
              <a:t>When AI-Washing Meets Initial Public Offerings  |  2026 FMA Annual Meeting</a:t>
            </a:r>
          </a:p>
        </p:txBody>
      </p:sp>
      <p:sp>
        <p:nvSpPr>
          <p:cNvPr id="210" name="slide number"/>
          <p:cNvSpPr txBox="1"/>
          <p:nvPr/>
        </p:nvSpPr>
        <p:spPr>
          <a:xfrm>
            <a:off x="10698480" y="64465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Baseline test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046A2EF-45BF-6504-888C-EA075C1CA1C8}"/>
              </a:ext>
            </a:extLst>
          </p:cNvPr>
          <p:cNvSpPr>
            <a:spLocks noGrp="1"/>
          </p:cNvSpPr>
          <p:nvPr/>
        </p:nvSpPr>
        <p:spPr>
          <a:xfrm>
            <a:off x="2542028" y="2103120"/>
            <a:ext cx="7168903" cy="3703320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altLang="zh-CN" sz="1300" dirty="0"/>
              <a:t>OLS regressions of long-run </a:t>
            </a:r>
            <a:r>
              <a:rPr lang="en-US" altLang="zh-CN" sz="1300" i="1" dirty="0"/>
              <a:t>BHAR</a:t>
            </a:r>
            <a:r>
              <a:rPr lang="en-US" altLang="zh-CN" sz="1300" dirty="0"/>
              <a:t> on </a:t>
            </a:r>
            <a:r>
              <a:rPr lang="en-US" altLang="zh-CN" sz="1300" i="1" dirty="0" err="1"/>
              <a:t>AIWashing</a:t>
            </a:r>
            <a:r>
              <a:rPr lang="en-US" altLang="zh-CN" sz="1300" dirty="0"/>
              <a:t> and </a:t>
            </a:r>
            <a:r>
              <a:rPr lang="en-US" altLang="zh-CN" sz="1300" i="1" dirty="0" err="1"/>
              <a:t>AIInvestment</a:t>
            </a:r>
            <a:endParaRPr lang="en-US" altLang="zh-CN" sz="1400" i="1" dirty="0"/>
          </a:p>
          <a:p>
            <a:pPr lvl="1" algn="just">
              <a:lnSpc>
                <a:spcPct val="100000"/>
              </a:lnSpc>
              <a:spcBef>
                <a:spcPts val="0"/>
              </a:spcBef>
            </a:pPr>
            <a:r>
              <a:rPr lang="en-US" altLang="zh-CN" sz="1300" dirty="0"/>
              <a:t>Benchmark: Fama–French 5×5 size and book-to-market portfolios</a:t>
            </a: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1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4F8F731A-1124-A8BD-CD27-3CF4288F05C9}"/>
                  </a:ext>
                </a:extLst>
              </p:cNvPr>
              <p:cNvSpPr txBox="1"/>
              <p:nvPr/>
            </p:nvSpPr>
            <p:spPr>
              <a:xfrm>
                <a:off x="2542028" y="2550330"/>
                <a:ext cx="7168903" cy="3400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kumimoji="1" lang="en-US" altLang="zh-CN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400" i="1">
                              <a:latin typeface="Cambria Math" panose="02040503050406030204" pitchFamily="18" charset="0"/>
                            </a:rPr>
                            <m:t>𝐵𝐻𝐴𝑅</m:t>
                          </m:r>
                        </m:e>
                        <m:sub>
                          <m:r>
                            <a:rPr kumimoji="1" lang="en-US" altLang="zh-CN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zh-CN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kumimoji="1" lang="en-US" altLang="zh-CN" sz="14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kumimoji="1" lang="en-US" altLang="zh-CN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zh-CN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kumimoji="1" lang="en-US" altLang="zh-C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zh-CN" altLang="en-US" sz="1400" i="1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kumimoji="1" lang="en-US" altLang="zh-CN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400" i="1">
                              <a:latin typeface="Cambria Math" panose="02040503050406030204" pitchFamily="18" charset="0"/>
                            </a:rPr>
                            <m:t>𝐴𝐼𝑊𝑎𝑠ℎ𝑖𝑛𝑔</m:t>
                          </m:r>
                        </m:e>
                        <m:sub>
                          <m:r>
                            <a:rPr kumimoji="1" lang="en-US" altLang="zh-CN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kumimoji="1" lang="en-US" altLang="zh-CN" sz="1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kumimoji="1" lang="en-US" altLang="zh-CN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kumimoji="1" lang="en-US" altLang="zh-C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kumimoji="1" lang="zh-CN" alt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zh-CN" altLang="en-US" sz="1400" i="1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kumimoji="1" lang="en-US" altLang="zh-CN" sz="1400" i="1">
                              <a:latin typeface="Cambria Math" panose="02040503050406030204" pitchFamily="18" charset="0"/>
                            </a:rPr>
                            <m:t>𝐴𝐼𝐼𝑛𝑣𝑒𝑠𝑡</m:t>
                          </m:r>
                          <m:r>
                            <a:rPr kumimoji="1" lang="en-US" altLang="zh-CN" sz="1400" b="0" i="1" smtClean="0">
                              <a:latin typeface="Cambria Math" panose="02040503050406030204" pitchFamily="18" charset="0"/>
                            </a:rPr>
                            <m:t>𝑚𝑒𝑛𝑡</m:t>
                          </m:r>
                        </m:e>
                        <m:sub>
                          <m:r>
                            <a:rPr kumimoji="1" lang="en-US" altLang="zh-CN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kumimoji="1" lang="en-US" altLang="zh-CN" sz="1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kumimoji="1" lang="en-US" altLang="zh-CN" sz="1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400" i="1" dirty="0">
                              <a:latin typeface="Cambria Math" panose="02040503050406030204" pitchFamily="18" charset="0"/>
                            </a:rPr>
                            <m:t>𝐶𝑂𝑁𝑇𝑅𝑂𝐿𝑆</m:t>
                          </m:r>
                        </m:e>
                        <m:sub>
                          <m:r>
                            <a:rPr kumimoji="1" lang="en-US" altLang="zh-CN" sz="140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kumimoji="1" lang="en-US" altLang="zh-CN" sz="1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kumimoji="1" lang="en-US" altLang="zh-CN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400" i="1">
                              <a:latin typeface="Cambria Math" panose="02040503050406030204" pitchFamily="18" charset="0"/>
                            </a:rPr>
                            <m:t>𝐹𝐸</m:t>
                          </m:r>
                        </m:e>
                        <m:sub>
                          <m:r>
                            <a:rPr kumimoji="1" lang="en-US" altLang="zh-CN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zh-CN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kumimoji="1" lang="en-US" altLang="zh-CN" sz="14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kumimoji="1" lang="en-US" altLang="zh-CN" sz="1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kumimoji="1" lang="en-US" altLang="zh-CN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kumimoji="1" lang="en-US" altLang="zh-CN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zh-CN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kumimoji="1" lang="en-US" altLang="zh-CN" sz="14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kumimoji="1" lang="zh-CN" altLang="en-US" sz="1400" i="1" dirty="0"/>
              </a:p>
            </p:txBody>
          </p:sp>
        </mc:Choice>
        <mc:Fallback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4F8F731A-1124-A8BD-CD27-3CF4288F05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2028" y="2550330"/>
                <a:ext cx="7168903" cy="340077"/>
              </a:xfrm>
              <a:prstGeom prst="rect">
                <a:avLst/>
              </a:prstGeom>
              <a:blipFill>
                <a:blip r:embed="rId2"/>
                <a:stretch>
                  <a:fillRect b="-108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06" name="表格 205">
            <a:extLst>
              <a:ext uri="{FF2B5EF4-FFF2-40B4-BE49-F238E27FC236}">
                <a16:creationId xmlns:a16="http://schemas.microsoft.com/office/drawing/2014/main" id="{697CA4A0-C0C1-4A58-8A69-07BC71F7C7E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16396654"/>
              </p:ext>
            </p:extLst>
          </p:nvPr>
        </p:nvGraphicFramePr>
        <p:xfrm>
          <a:off x="2057653" y="2895480"/>
          <a:ext cx="8137653" cy="2390381"/>
        </p:xfrm>
        <a:graphic>
          <a:graphicData uri="http://schemas.openxmlformats.org/drawingml/2006/table">
            <a:tbl>
              <a:tblPr/>
              <a:tblGrid>
                <a:gridCol w="13441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23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23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23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4028">
                  <a:extLst>
                    <a:ext uri="{9D8B030D-6E8A-4147-A177-3AD203B41FA5}">
                      <a16:colId xmlns:a16="http://schemas.microsoft.com/office/drawing/2014/main" val="1846767066"/>
                    </a:ext>
                  </a:extLst>
                </a:gridCol>
                <a:gridCol w="1642364">
                  <a:extLst>
                    <a:ext uri="{9D8B030D-6E8A-4147-A177-3AD203B41FA5}">
                      <a16:colId xmlns:a16="http://schemas.microsoft.com/office/drawing/2014/main" val="3906398483"/>
                    </a:ext>
                  </a:extLst>
                </a:gridCol>
              </a:tblGrid>
              <a:tr h="217307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dirty="0">
                          <a:solidFill>
                            <a:srgbClr val="000000"/>
                          </a:solidFill>
                        </a:rPr>
                        <a:t>Dep. Variable=</a:t>
                      </a:r>
                    </a:p>
                  </a:txBody>
                  <a:tcPr marL="22860" marR="22860" marT="4572" marB="4572" anchor="ctr">
                    <a:lnL w="0"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1" dirty="0">
                          <a:solidFill>
                            <a:srgbClr val="000000"/>
                          </a:solidFill>
                        </a:rPr>
                        <a:t>BHAR[0,1yr]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1" dirty="0">
                          <a:solidFill>
                            <a:srgbClr val="000000"/>
                          </a:solidFill>
                        </a:rPr>
                        <a:t>BHAR[0,2yr]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1" dirty="0">
                          <a:solidFill>
                            <a:srgbClr val="000000"/>
                          </a:solidFill>
                        </a:rPr>
                        <a:t>BHAR[0,3yr]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300" b="1" i="1" dirty="0">
                        <a:solidFill>
                          <a:srgbClr val="000000"/>
                        </a:solidFill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1" dirty="0" err="1">
                          <a:solidFill>
                            <a:srgbClr val="000000"/>
                          </a:solidFill>
                        </a:rPr>
                        <a:t>InitialReturn</a:t>
                      </a:r>
                      <a:endParaRPr sz="1300" b="1" i="1" dirty="0">
                        <a:solidFill>
                          <a:srgbClr val="000000"/>
                        </a:solidFill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307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dirty="0">
                          <a:solidFill>
                            <a:srgbClr val="000000"/>
                          </a:solidFill>
                        </a:rPr>
                        <a:t>Variable</a:t>
                      </a:r>
                    </a:p>
                  </a:txBody>
                  <a:tcPr marL="22860" marR="22860" marT="4572" marB="4572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dirty="0">
                          <a:solidFill>
                            <a:srgbClr val="000000"/>
                          </a:solidFill>
                        </a:rPr>
                        <a:t>(1)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dirty="0">
                          <a:solidFill>
                            <a:srgbClr val="000000"/>
                          </a:solidFill>
                        </a:rPr>
                        <a:t>(2)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dirty="0">
                          <a:solidFill>
                            <a:srgbClr val="000000"/>
                          </a:solidFill>
                        </a:rPr>
                        <a:t>(3)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300" b="0" dirty="0">
                        <a:solidFill>
                          <a:srgbClr val="000000"/>
                        </a:solidFill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dirty="0">
                          <a:solidFill>
                            <a:srgbClr val="000000"/>
                          </a:solidFill>
                        </a:rPr>
                        <a:t>(4)</a:t>
                      </a:r>
                      <a:endParaRPr sz="1300" b="0" dirty="0">
                        <a:solidFill>
                          <a:srgbClr val="000000"/>
                        </a:solidFill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307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1" dirty="0" err="1">
                          <a:solidFill>
                            <a:srgbClr val="000000"/>
                          </a:solidFill>
                        </a:rPr>
                        <a:t>AIWashing</a:t>
                      </a:r>
                      <a:endParaRPr sz="1300" b="0" i="1" dirty="0">
                        <a:solidFill>
                          <a:srgbClr val="000000"/>
                        </a:solidFill>
                      </a:endParaRPr>
                    </a:p>
                  </a:txBody>
                  <a:tcPr marL="22860" marR="22860" marT="4572" marB="4572" anchor="ctr">
                    <a:lnL w="0"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dirty="0">
                          <a:solidFill>
                            <a:srgbClr val="FF0000"/>
                          </a:solidFill>
                        </a:rPr>
                        <a:t>-0.077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dirty="0">
                          <a:solidFill>
                            <a:srgbClr val="FF0000"/>
                          </a:solidFill>
                        </a:rPr>
                        <a:t>-0.088**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dirty="0">
                          <a:solidFill>
                            <a:srgbClr val="FF0000"/>
                          </a:solidFill>
                        </a:rPr>
                        <a:t>-0.139***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300" b="0" dirty="0">
                        <a:solidFill>
                          <a:srgbClr val="FF0000"/>
                        </a:solidFill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dirty="0">
                          <a:solidFill>
                            <a:srgbClr val="FF0000"/>
                          </a:solidFill>
                        </a:rPr>
                        <a:t>0.072**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30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300" i="1" dirty="0"/>
                    </a:p>
                  </a:txBody>
                  <a:tcPr marL="22860" marR="22860" marT="4572" marB="4572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FF0000"/>
                          </a:solidFill>
                        </a:rPr>
                        <a:t>(-1.09)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dirty="0">
                          <a:solidFill>
                            <a:srgbClr val="FF0000"/>
                          </a:solidFill>
                        </a:rPr>
                        <a:t>(-2.35)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dirty="0">
                          <a:solidFill>
                            <a:srgbClr val="FF0000"/>
                          </a:solidFill>
                        </a:rPr>
                        <a:t>(-2.73)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300" b="0" dirty="0">
                        <a:solidFill>
                          <a:srgbClr val="FF0000"/>
                        </a:solidFill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dirty="0">
                          <a:solidFill>
                            <a:srgbClr val="FF0000"/>
                          </a:solidFill>
                        </a:rPr>
                        <a:t>(2.04)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7307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1" dirty="0" err="1">
                          <a:solidFill>
                            <a:srgbClr val="000000"/>
                          </a:solidFill>
                        </a:rPr>
                        <a:t>AIInvestment</a:t>
                      </a:r>
                      <a:endParaRPr sz="1300" b="0" i="1" dirty="0">
                        <a:solidFill>
                          <a:srgbClr val="000000"/>
                        </a:solidFill>
                      </a:endParaRPr>
                    </a:p>
                  </a:txBody>
                  <a:tcPr marL="22860" marR="22860" marT="4572" marB="4572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FF0000"/>
                          </a:solidFill>
                        </a:rPr>
                        <a:t>-0.022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dirty="0">
                          <a:solidFill>
                            <a:srgbClr val="FF0000"/>
                          </a:solidFill>
                        </a:rPr>
                        <a:t>0.102**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dirty="0">
                          <a:solidFill>
                            <a:srgbClr val="FF0000"/>
                          </a:solidFill>
                        </a:rPr>
                        <a:t>0.220***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300" b="0" dirty="0">
                        <a:solidFill>
                          <a:srgbClr val="FF0000"/>
                        </a:solidFill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dirty="0">
                          <a:solidFill>
                            <a:srgbClr val="FF0000"/>
                          </a:solidFill>
                        </a:rPr>
                        <a:t>0.014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730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300" i="1" dirty="0"/>
                    </a:p>
                  </a:txBody>
                  <a:tcPr marL="22860" marR="22860" marT="4572" marB="4572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dirty="0">
                          <a:solidFill>
                            <a:srgbClr val="FF0000"/>
                          </a:solidFill>
                        </a:rPr>
                        <a:t>(-0.74)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dirty="0">
                          <a:solidFill>
                            <a:srgbClr val="FF0000"/>
                          </a:solidFill>
                        </a:rPr>
                        <a:t>(2.31)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dirty="0">
                          <a:solidFill>
                            <a:srgbClr val="FF0000"/>
                          </a:solidFill>
                        </a:rPr>
                        <a:t>(4.85)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300" b="0" dirty="0">
                        <a:solidFill>
                          <a:srgbClr val="FF0000"/>
                        </a:solidFill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dirty="0">
                          <a:solidFill>
                            <a:srgbClr val="FF0000"/>
                          </a:solidFill>
                        </a:rPr>
                        <a:t>(0.59)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7307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300" b="0" dirty="0">
                        <a:solidFill>
                          <a:srgbClr val="000000"/>
                        </a:solidFill>
                      </a:endParaRPr>
                    </a:p>
                  </a:txBody>
                  <a:tcPr marL="22860" marR="22860" marT="4572" marB="4572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300" b="0" dirty="0">
                        <a:solidFill>
                          <a:srgbClr val="000000"/>
                        </a:solidFill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300" b="0" dirty="0">
                        <a:solidFill>
                          <a:srgbClr val="000000"/>
                        </a:solidFill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300" b="0" dirty="0">
                        <a:solidFill>
                          <a:srgbClr val="000000"/>
                        </a:solidFill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300" b="0" dirty="0">
                        <a:solidFill>
                          <a:srgbClr val="000000"/>
                        </a:solidFill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300" b="0" dirty="0">
                        <a:solidFill>
                          <a:srgbClr val="000000"/>
                        </a:solidFill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4681518"/>
                  </a:ext>
                </a:extLst>
              </a:tr>
              <a:tr h="217307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dirty="0">
                          <a:solidFill>
                            <a:srgbClr val="000000"/>
                          </a:solidFill>
                        </a:rPr>
                        <a:t>Controls</a:t>
                      </a:r>
                    </a:p>
                  </a:txBody>
                  <a:tcPr marL="22860" marR="22860" marT="4572" marB="4572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dirty="0">
                          <a:solidFill>
                            <a:srgbClr val="000000"/>
                          </a:solidFill>
                        </a:rPr>
                        <a:t>Yes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dirty="0">
                          <a:solidFill>
                            <a:srgbClr val="000000"/>
                          </a:solidFill>
                        </a:rPr>
                        <a:t>Yes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dirty="0">
                          <a:solidFill>
                            <a:srgbClr val="000000"/>
                          </a:solidFill>
                        </a:rPr>
                        <a:t>Yes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300" b="0" dirty="0">
                        <a:solidFill>
                          <a:srgbClr val="000000"/>
                        </a:solidFill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dirty="0">
                          <a:solidFill>
                            <a:srgbClr val="000000"/>
                          </a:solidFill>
                        </a:rPr>
                        <a:t>Yes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7307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00000"/>
                          </a:solidFill>
                        </a:rPr>
                        <a:t>Fixed Effects</a:t>
                      </a:r>
                    </a:p>
                  </a:txBody>
                  <a:tcPr marL="22860" marR="22860" marT="4572" marB="4572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00000"/>
                          </a:solidFill>
                        </a:rPr>
                        <a:t>Ind &amp; Year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dirty="0">
                          <a:solidFill>
                            <a:srgbClr val="000000"/>
                          </a:solidFill>
                        </a:rPr>
                        <a:t>Ind &amp; Year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dirty="0">
                          <a:solidFill>
                            <a:srgbClr val="000000"/>
                          </a:solidFill>
                        </a:rPr>
                        <a:t>Ind &amp; Year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300" b="0" dirty="0">
                        <a:solidFill>
                          <a:srgbClr val="000000"/>
                        </a:solidFill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300" b="0" dirty="0">
                          <a:solidFill>
                            <a:srgbClr val="000000"/>
                          </a:solidFill>
                        </a:rPr>
                        <a:t>Ind &amp; Year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7307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00000"/>
                          </a:solidFill>
                        </a:rPr>
                        <a:t>Observations</a:t>
                      </a:r>
                    </a:p>
                  </a:txBody>
                  <a:tcPr marL="22860" marR="22860" marT="4572" marB="4572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00000"/>
                          </a:solidFill>
                        </a:rPr>
                        <a:t>1,581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dirty="0">
                          <a:solidFill>
                            <a:srgbClr val="000000"/>
                          </a:solidFill>
                        </a:rPr>
                        <a:t>1,538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dirty="0">
                          <a:solidFill>
                            <a:srgbClr val="000000"/>
                          </a:solidFill>
                        </a:rPr>
                        <a:t>1,498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300" b="0" dirty="0">
                        <a:solidFill>
                          <a:srgbClr val="000000"/>
                        </a:solidFill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dirty="0">
                          <a:solidFill>
                            <a:srgbClr val="000000"/>
                          </a:solidFill>
                        </a:rPr>
                        <a:t>1,652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7307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dirty="0">
                          <a:solidFill>
                            <a:srgbClr val="000000"/>
                          </a:solidFill>
                        </a:rPr>
                        <a:t>Adjusted R2</a:t>
                      </a:r>
                    </a:p>
                  </a:txBody>
                  <a:tcPr marL="22860" marR="22860" marT="4572" marB="4572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dirty="0">
                          <a:solidFill>
                            <a:srgbClr val="000000"/>
                          </a:solidFill>
                        </a:rPr>
                        <a:t>14.5%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dirty="0">
                          <a:solidFill>
                            <a:srgbClr val="000000"/>
                          </a:solidFill>
                        </a:rPr>
                        <a:t>10.0%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dirty="0">
                          <a:solidFill>
                            <a:srgbClr val="000000"/>
                          </a:solidFill>
                        </a:rPr>
                        <a:t>7.6%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300" b="0" dirty="0">
                        <a:solidFill>
                          <a:srgbClr val="000000"/>
                        </a:solidFill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dirty="0">
                          <a:solidFill>
                            <a:srgbClr val="000000"/>
                          </a:solidFill>
                        </a:rPr>
                        <a:t>22.7%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207" name="robust"/>
          <p:cNvSpPr txBox="1"/>
          <p:nvPr/>
        </p:nvSpPr>
        <p:spPr>
          <a:xfrm>
            <a:off x="1097280" y="5897880"/>
            <a:ext cx="10058400" cy="411480"/>
          </a:xfrm>
          <a:prstGeom prst="rect">
            <a:avLst/>
          </a:prstGeom>
          <a:noFill/>
        </p:spPr>
        <p:txBody>
          <a:bodyPr wrap="square" anchor="ctr" lIns="137160" rIns="137160">
            <a:spAutoFit/>
          </a:bodyPr>
          <a:lstStyle/>
          <a:p>
            <a:r>
              <a:rPr sz="1200" b="0">
                <a:solidFill>
                  <a:srgbClr val="404040"/>
                </a:solidFill>
              </a:rPr>
              <a:t>Robust to calendar-time alphas (FF5: −1.49%/month over 24 months), propensity-score matching, entropy balancing, and excluding firms with third-party AI tools, suppliers or partners.</a:t>
            </a:r>
          </a:p>
        </p:txBody>
      </p:sp>
      <p:sp>
        <p:nvSpPr>
          <p:cNvPr id="208" name="footer text"/>
          <p:cNvSpPr txBox="1"/>
          <p:nvPr/>
        </p:nvSpPr>
        <p:spPr>
          <a:xfrm>
            <a:off x="1097280" y="6446520"/>
            <a:ext cx="8686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FFFFFF"/>
                </a:solidFill>
              </a:rPr>
              <a:t>When AI-Washing Meets Initial Public Offerings  |  2026 FMA Annual Meeting</a:t>
            </a:r>
          </a:p>
        </p:txBody>
      </p:sp>
      <p:sp>
        <p:nvSpPr>
          <p:cNvPr id="209" name="slide number"/>
          <p:cNvSpPr txBox="1"/>
          <p:nvPr/>
        </p:nvSpPr>
        <p:spPr>
          <a:xfrm>
            <a:off x="10698480" y="64465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Post-IPO stock performance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5E1B47B-21DF-FA53-F038-B1DF33514BE8}"/>
              </a:ext>
            </a:extLst>
          </p:cNvPr>
          <p:cNvSpPr txBox="1"/>
          <p:nvPr/>
        </p:nvSpPr>
        <p:spPr>
          <a:xfrm>
            <a:off x="1862949" y="2103120"/>
            <a:ext cx="8527061" cy="3227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1700" dirty="0"/>
              <a:t>Style-adjusted buy-and-hold abnormal returns for 1,671 U.S. IPOs, 2010–2024</a:t>
            </a:r>
          </a:p>
        </p:txBody>
      </p:sp>
      <p:graphicFrame>
        <p:nvGraphicFramePr>
          <p:cNvPr id="3" name="图表 2">
            <a:extLst>
              <a:ext uri="{FF2B5EF4-FFF2-40B4-BE49-F238E27FC236}">
                <a16:creationId xmlns:a16="http://schemas.microsoft.com/office/drawing/2014/main" id="{9CF90FC4-511A-45C2-0430-CC0099C8DB5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1878049"/>
              </p:ext>
            </p:extLst>
          </p:nvPr>
        </p:nvGraphicFramePr>
        <p:xfrm>
          <a:off x="2716738" y="2459113"/>
          <a:ext cx="6819482" cy="380452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footer text"/>
          <p:cNvSpPr txBox="1"/>
          <p:nvPr/>
        </p:nvSpPr>
        <p:spPr>
          <a:xfrm>
            <a:off x="1097280" y="6446520"/>
            <a:ext cx="8686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FFFFFF"/>
                </a:solidFill>
              </a:rPr>
              <a:t>When AI-Washing Meets Initial Public Offerings  |  2026 FMA Annual Meeting</a:t>
            </a:r>
          </a:p>
        </p:txBody>
      </p:sp>
      <p:sp>
        <p:nvSpPr>
          <p:cNvPr id="10" name="slide number"/>
          <p:cNvSpPr txBox="1"/>
          <p:nvPr/>
        </p:nvSpPr>
        <p:spPr>
          <a:xfrm>
            <a:off x="10698480" y="64465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Mechanisms: why do AI-washing IPOs underperform?</a:t>
            </a:r>
          </a:p>
        </p:txBody>
      </p:sp>
      <p:sp>
        <p:nvSpPr>
          <p:cNvPr id="3" name="box_AI-washing a"/>
          <p:cNvSpPr/>
          <p:nvPr/>
        </p:nvSpPr>
        <p:spPr>
          <a:xfrm>
            <a:off x="1188720" y="2148840"/>
            <a:ext cx="2926080" cy="731520"/>
          </a:xfrm>
          <a:prstGeom prst="roundRect">
            <a:avLst/>
          </a:prstGeom>
          <a:solidFill>
            <a:srgbClr val="3440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700" b="0">
                <a:solidFill>
                  <a:srgbClr val="FFFFFF"/>
                </a:solidFill>
              </a:rPr>
              <a:t>AI-washing at the IPO</a:t>
            </a:r>
          </a:p>
        </p:txBody>
      </p:sp>
      <p:sp>
        <p:nvSpPr>
          <p:cNvPr id="4" name="box_Higher initi"/>
          <p:cNvSpPr/>
          <p:nvPr/>
        </p:nvSpPr>
        <p:spPr>
          <a:xfrm>
            <a:off x="4754880" y="2148840"/>
            <a:ext cx="2926080" cy="731520"/>
          </a:xfrm>
          <a:prstGeom prst="roundRect">
            <a:avLst/>
          </a:prstGeom>
          <a:solidFill>
            <a:srgbClr val="3440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700" b="0">
                <a:solidFill>
                  <a:srgbClr val="FFFFFF"/>
                </a:solidFill>
              </a:rPr>
              <a:t>Higher initial valuation</a:t>
            </a:r>
          </a:p>
        </p:txBody>
      </p:sp>
      <p:sp>
        <p:nvSpPr>
          <p:cNvPr id="5" name="box_Unverified A"/>
          <p:cNvSpPr/>
          <p:nvPr/>
        </p:nvSpPr>
        <p:spPr>
          <a:xfrm>
            <a:off x="8321040" y="2148840"/>
            <a:ext cx="2926080" cy="731520"/>
          </a:xfrm>
          <a:prstGeom prst="roundRect">
            <a:avLst/>
          </a:prstGeom>
          <a:solidFill>
            <a:srgbClr val="3440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700" b="0">
                <a:solidFill>
                  <a:srgbClr val="FFFFFF"/>
                </a:solidFill>
              </a:rPr>
              <a:t>Unverified AI claims</a:t>
            </a:r>
          </a:p>
        </p:txBody>
      </p:sp>
      <p:sp>
        <p:nvSpPr>
          <p:cNvPr id="6" name="box_Worse long-r"/>
          <p:cNvSpPr/>
          <p:nvPr/>
        </p:nvSpPr>
        <p:spPr>
          <a:xfrm>
            <a:off x="1188720" y="3520440"/>
            <a:ext cx="2926080" cy="731520"/>
          </a:xfrm>
          <a:prstGeom prst="roundRect">
            <a:avLst/>
          </a:prstGeom>
          <a:solidFill>
            <a:srgbClr val="D9E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700" b="0">
                <a:solidFill>
                  <a:srgbClr val="344068"/>
                </a:solidFill>
              </a:rPr>
              <a:t>Worse long-run returns</a:t>
            </a:r>
          </a:p>
        </p:txBody>
      </p:sp>
      <p:sp>
        <p:nvSpPr>
          <p:cNvPr id="7" name="box_Price correc"/>
          <p:cNvSpPr/>
          <p:nvPr/>
        </p:nvSpPr>
        <p:spPr>
          <a:xfrm>
            <a:off x="4754880" y="3520440"/>
            <a:ext cx="2926080" cy="731520"/>
          </a:xfrm>
          <a:prstGeom prst="roundRect">
            <a:avLst/>
          </a:prstGeom>
          <a:solidFill>
            <a:srgbClr val="D9E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700" b="0">
                <a:solidFill>
                  <a:srgbClr val="344068"/>
                </a:solidFill>
              </a:rPr>
              <a:t>Price correction</a:t>
            </a:r>
          </a:p>
        </p:txBody>
      </p:sp>
      <p:sp>
        <p:nvSpPr>
          <p:cNvPr id="8" name="box_AI talk retr"/>
          <p:cNvSpPr/>
          <p:nvPr/>
        </p:nvSpPr>
        <p:spPr>
          <a:xfrm>
            <a:off x="8321040" y="3520440"/>
            <a:ext cx="2926080" cy="731520"/>
          </a:xfrm>
          <a:prstGeom prst="roundRect">
            <a:avLst/>
          </a:prstGeom>
          <a:solidFill>
            <a:srgbClr val="D9E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700" b="0">
                <a:solidFill>
                  <a:srgbClr val="344068"/>
                </a:solidFill>
              </a:rPr>
              <a:t>AI talk retreats after IPO</a:t>
            </a:r>
          </a:p>
        </p:txBody>
      </p:sp>
      <p:sp>
        <p:nvSpPr>
          <p:cNvPr id="9" name="rarrow0"/>
          <p:cNvSpPr/>
          <p:nvPr/>
        </p:nvSpPr>
        <p:spPr>
          <a:xfrm>
            <a:off x="4206240" y="2368296"/>
            <a:ext cx="457199" cy="292608"/>
          </a:xfrm>
          <a:prstGeom prst="rightArrow">
            <a:avLst/>
          </a:prstGeom>
          <a:solidFill>
            <a:srgbClr val="268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</a:p>
        </p:txBody>
      </p:sp>
      <p:sp>
        <p:nvSpPr>
          <p:cNvPr id="10" name="larrow0"/>
          <p:cNvSpPr/>
          <p:nvPr/>
        </p:nvSpPr>
        <p:spPr>
          <a:xfrm>
            <a:off x="4206240" y="3739896"/>
            <a:ext cx="457199" cy="292608"/>
          </a:xfrm>
          <a:prstGeom prst="leftArrow">
            <a:avLst/>
          </a:prstGeom>
          <a:solidFill>
            <a:srgbClr val="268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</a:p>
        </p:txBody>
      </p:sp>
      <p:sp>
        <p:nvSpPr>
          <p:cNvPr id="11" name="rarrow1"/>
          <p:cNvSpPr/>
          <p:nvPr/>
        </p:nvSpPr>
        <p:spPr>
          <a:xfrm>
            <a:off x="7772400" y="2368296"/>
            <a:ext cx="457199" cy="292608"/>
          </a:xfrm>
          <a:prstGeom prst="rightArrow">
            <a:avLst/>
          </a:prstGeom>
          <a:solidFill>
            <a:srgbClr val="268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</a:p>
        </p:txBody>
      </p:sp>
      <p:sp>
        <p:nvSpPr>
          <p:cNvPr id="12" name="larrow1"/>
          <p:cNvSpPr/>
          <p:nvPr/>
        </p:nvSpPr>
        <p:spPr>
          <a:xfrm>
            <a:off x="7772400" y="3739896"/>
            <a:ext cx="457199" cy="292608"/>
          </a:xfrm>
          <a:prstGeom prst="leftArrow">
            <a:avLst/>
          </a:prstGeom>
          <a:solidFill>
            <a:srgbClr val="268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</a:p>
        </p:txBody>
      </p:sp>
      <p:sp>
        <p:nvSpPr>
          <p:cNvPr id="13" name="darrow"/>
          <p:cNvSpPr/>
          <p:nvPr/>
        </p:nvSpPr>
        <p:spPr>
          <a:xfrm>
            <a:off x="9601200" y="2971800"/>
            <a:ext cx="365760" cy="457199"/>
          </a:xfrm>
          <a:prstGeom prst="downArrow">
            <a:avLst/>
          </a:prstGeom>
          <a:solidFill>
            <a:srgbClr val="268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</a:p>
        </p:txBody>
      </p:sp>
      <p:sp>
        <p:nvSpPr>
          <p:cNvPr id="14" name="after"/>
          <p:cNvSpPr txBox="1"/>
          <p:nvPr/>
        </p:nvSpPr>
        <p:spPr>
          <a:xfrm>
            <a:off x="6355080" y="3108960"/>
            <a:ext cx="3108960" cy="457200"/>
          </a:xfrm>
          <a:prstGeom prst="rect">
            <a:avLst/>
          </a:prstGeom>
          <a:noFill/>
        </p:spPr>
        <p:txBody>
          <a:bodyPr wrap="square" anchor="ctr" lIns="137160" rIns="137160">
            <a:spAutoFit/>
          </a:bodyPr>
          <a:lstStyle/>
          <a:p>
            <a:pPr algn="r"/>
            <a:r>
              <a:rPr sz="1200" b="0">
                <a:solidFill>
                  <a:srgbClr val="404040"/>
                </a:solidFill>
              </a:rPr>
              <a:t>after listing: 10-Ks, earnings calls, results</a:t>
            </a:r>
          </a:p>
        </p:txBody>
      </p:sp>
      <p:sp>
        <p:nvSpPr>
          <p:cNvPr id="15" name="after_evidence"/>
          <p:cNvSpPr txBox="1"/>
          <p:nvPr/>
        </p:nvSpPr>
        <p:spPr>
          <a:xfrm>
            <a:off x="1097280" y="4434840"/>
            <a:ext cx="10058400" cy="1828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900" b="1">
                <a:solidFill>
                  <a:srgbClr val="344068"/>
                </a:solidFill>
              </a:rPr>
              <a:t>After listing, the AI story fades</a:t>
            </a:r>
          </a:p>
          <a:p>
            <a:pPr marL="194310" indent="-194310">
              <a:spcBef>
                <a:spcPts val="600"/>
              </a:spcBef>
              <a:buClr>
                <a:srgbClr val="2683C6"/>
              </a:buClr>
              <a:buFont typeface="Arial"/>
              <a:buChar char="▪"/>
            </a:pPr>
            <a:r>
              <a:rPr sz="1700" b="1">
                <a:solidFill>
                  <a:srgbClr val="2683C6"/>
                </a:solidFill>
              </a:rPr>
              <a:t>Earnings calls:</a:t>
            </a:r>
            <a:r>
              <a:rPr sz="1700" b="0">
                <a:solidFill>
                  <a:srgbClr val="404040"/>
                </a:solidFill>
              </a:rPr>
              <a:t> less AI talk after year 1 (Fig. 3A)</a:t>
            </a:r>
          </a:p>
          <a:p>
            <a:pPr marL="194310" indent="-194310">
              <a:spcBef>
                <a:spcPts val="600"/>
              </a:spcBef>
              <a:buClr>
                <a:srgbClr val="2683C6"/>
              </a:buClr>
              <a:buFont typeface="Arial"/>
              <a:buChar char="▪"/>
            </a:pPr>
            <a:r>
              <a:rPr sz="1700" b="1">
                <a:solidFill>
                  <a:srgbClr val="2683C6"/>
                </a:solidFill>
              </a:rPr>
              <a:t>First 10-K:</a:t>
            </a:r>
            <a:r>
              <a:rPr sz="1700" b="0">
                <a:solidFill>
                  <a:srgbClr val="404040"/>
                </a:solidFill>
              </a:rPr>
              <a:t> fewer AI words than the S-1 (IA9)</a:t>
            </a:r>
          </a:p>
          <a:p>
            <a:pPr marL="194310" indent="-194310">
              <a:spcBef>
                <a:spcPts val="600"/>
              </a:spcBef>
              <a:buClr>
                <a:srgbClr val="2683C6"/>
              </a:buClr>
              <a:buFont typeface="Arial"/>
              <a:buChar char="▪"/>
            </a:pPr>
            <a:r>
              <a:rPr sz="1700" b="1">
                <a:solidFill>
                  <a:srgbClr val="2683C6"/>
                </a:solidFill>
              </a:rPr>
              <a:t>Year-2 calls:</a:t>
            </a:r>
            <a:r>
              <a:rPr sz="1700" b="0">
                <a:solidFill>
                  <a:srgbClr val="404040"/>
                </a:solidFill>
              </a:rPr>
              <a:t> fewer AI words than the S-1 (IA9)</a:t>
            </a:r>
          </a:p>
        </p:txBody>
      </p:sp>
      <p:sp>
        <p:nvSpPr>
          <p:cNvPr id="16" name="footer text"/>
          <p:cNvSpPr txBox="1"/>
          <p:nvPr/>
        </p:nvSpPr>
        <p:spPr>
          <a:xfrm>
            <a:off x="1097280" y="6446520"/>
            <a:ext cx="8686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FFFFFF"/>
                </a:solidFill>
              </a:rPr>
              <a:t>When AI-Washing Meets Initial Public Offerings  |  2026 FMA Annual Meeting</a:t>
            </a:r>
          </a:p>
        </p:txBody>
      </p:sp>
      <p:sp>
        <p:nvSpPr>
          <p:cNvPr id="17" name="slide number"/>
          <p:cNvSpPr txBox="1"/>
          <p:nvPr/>
        </p:nvSpPr>
        <p:spPr>
          <a:xfrm>
            <a:off x="10698480" y="64465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Mechanisms: the evidence</a:t>
            </a:r>
          </a:p>
        </p:txBody>
      </p:sp>
      <p:sp>
        <p:nvSpPr>
          <p:cNvPr id="3" name="head0"/>
          <p:cNvSpPr/>
          <p:nvPr/>
        </p:nvSpPr>
        <p:spPr>
          <a:xfrm>
            <a:off x="1097280" y="2103120"/>
            <a:ext cx="3200400" cy="457200"/>
          </a:xfrm>
          <a:prstGeom prst="rect">
            <a:avLst/>
          </a:prstGeom>
          <a:solidFill>
            <a:srgbClr val="3440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400" b="1">
                <a:solidFill>
                  <a:srgbClr val="FFFFFF"/>
                </a:solidFill>
              </a:rPr>
              <a:t>1  Valuation premium (Table 6)</a:t>
            </a:r>
          </a:p>
        </p:txBody>
      </p:sp>
      <p:sp>
        <p:nvSpPr>
          <p:cNvPr id="4" name="col0"/>
          <p:cNvSpPr txBox="1"/>
          <p:nvPr/>
        </p:nvSpPr>
        <p:spPr>
          <a:xfrm>
            <a:off x="1097280" y="2651760"/>
            <a:ext cx="3200400" cy="3611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148590" indent="-148590">
              <a:spcBef>
                <a:spcPts val="500"/>
              </a:spcBef>
              <a:buClr>
                <a:srgbClr val="2683C6"/>
              </a:buClr>
              <a:buFont typeface="Arial"/>
              <a:buChar char="▪"/>
            </a:pPr>
            <a:r>
              <a:rPr sz="1300" b="1">
                <a:solidFill>
                  <a:srgbClr val="2683C6"/>
                </a:solidFill>
              </a:rPr>
              <a:t>Measure:</a:t>
            </a:r>
            <a:r>
              <a:rPr sz="1300" b="0">
                <a:solidFill>
                  <a:srgbClr val="404040"/>
                </a:solidFill>
              </a:rPr>
              <a:t> AIVal, how much the market rewards AI patents at listed peers in the same industry (3 years before the IPO)</a:t>
            </a:r>
          </a:p>
          <a:p>
            <a:pPr marL="148590" indent="-148590">
              <a:spcBef>
                <a:spcPts val="500"/>
              </a:spcBef>
              <a:buClr>
                <a:srgbClr val="2683C6"/>
              </a:buClr>
              <a:buFont typeface="Arial"/>
              <a:buChar char="▪"/>
            </a:pPr>
            <a:r>
              <a:rPr sz="1300" b="1">
                <a:solidFill>
                  <a:srgbClr val="2683C6"/>
                </a:solidFill>
              </a:rPr>
              <a:t>Test:</a:t>
            </a:r>
            <a:r>
              <a:rPr sz="1300" b="0">
                <a:solidFill>
                  <a:srgbClr val="404040"/>
                </a:solidFill>
              </a:rPr>
              <a:t> AI-washing × AIVal</a:t>
            </a:r>
          </a:p>
          <a:p>
            <a:pPr marL="148590" indent="-148590">
              <a:spcBef>
                <a:spcPts val="500"/>
              </a:spcBef>
              <a:buClr>
                <a:srgbClr val="2683C6"/>
              </a:buClr>
              <a:buFont typeface="Arial"/>
              <a:buChar char="▪"/>
            </a:pPr>
            <a:r>
              <a:rPr sz="1300" b="1">
                <a:solidFill>
                  <a:srgbClr val="2683C6"/>
                </a:solidFill>
              </a:rPr>
              <a:t>P/S at the offer:</a:t>
            </a:r>
            <a:r>
              <a:rPr sz="1300" b="0">
                <a:solidFill>
                  <a:srgbClr val="404040"/>
                </a:solidFill>
              </a:rPr>
              <a:t> +16.1∗∗∗ (t = 2.87)</a:t>
            </a:r>
          </a:p>
          <a:p>
            <a:pPr marL="148590" indent="-148590">
              <a:spcBef>
                <a:spcPts val="500"/>
              </a:spcBef>
              <a:buClr>
                <a:srgbClr val="2683C6"/>
              </a:buClr>
              <a:buFont typeface="Arial"/>
              <a:buChar char="▪"/>
            </a:pPr>
            <a:r>
              <a:rPr sz="1300" b="1">
                <a:solidFill>
                  <a:srgbClr val="2683C6"/>
                </a:solidFill>
              </a:rPr>
              <a:t>2-year BHAR:</a:t>
            </a:r>
            <a:r>
              <a:rPr sz="1300" b="0">
                <a:solidFill>
                  <a:srgbClr val="404040"/>
                </a:solidFill>
              </a:rPr>
              <a:t> −6.05∗∗∗ (t = −3.16)</a:t>
            </a:r>
          </a:p>
          <a:p>
            <a:pPr marL="148590" indent="-148590">
              <a:spcBef>
                <a:spcPts val="500"/>
              </a:spcBef>
              <a:buClr>
                <a:srgbClr val="2683C6"/>
              </a:buClr>
              <a:buFont typeface="Arial"/>
              <a:buChar char="▪"/>
            </a:pPr>
            <a:r>
              <a:rPr sz="1300" b="1">
                <a:solidFill>
                  <a:srgbClr val="2683C6"/>
                </a:solidFill>
              </a:rPr>
              <a:t>3-year BHAR:</a:t>
            </a:r>
            <a:r>
              <a:rPr sz="1300" b="0">
                <a:solidFill>
                  <a:srgbClr val="404040"/>
                </a:solidFill>
              </a:rPr>
              <a:t> −5.41∗ (t = −2.00)</a:t>
            </a:r>
          </a:p>
          <a:p>
            <a:pPr marL="148590" indent="-148590">
              <a:spcBef>
                <a:spcPts val="500"/>
              </a:spcBef>
              <a:buClr>
                <a:srgbClr val="2683C6"/>
              </a:buClr>
              <a:buFont typeface="Arial"/>
              <a:buChar char="▪"/>
            </a:pPr>
            <a:r>
              <a:rPr sz="1300" b="1">
                <a:solidFill>
                  <a:srgbClr val="2683C6"/>
                </a:solidFill>
              </a:rPr>
              <a:t>Reading:</a:t>
            </a:r>
            <a:r>
              <a:rPr sz="1300" b="0">
                <a:solidFill>
                  <a:srgbClr val="404040"/>
                </a:solidFill>
              </a:rPr>
              <a:t> AI-washers borrow the AI premium where AI is prized, then give it back</a:t>
            </a:r>
          </a:p>
        </p:txBody>
      </p:sp>
      <p:sp>
        <p:nvSpPr>
          <p:cNvPr id="5" name="head1"/>
          <p:cNvSpPr/>
          <p:nvPr/>
        </p:nvSpPr>
        <p:spPr>
          <a:xfrm>
            <a:off x="4526280" y="2103120"/>
            <a:ext cx="3200400" cy="457200"/>
          </a:xfrm>
          <a:prstGeom prst="rect">
            <a:avLst/>
          </a:prstGeom>
          <a:solidFill>
            <a:srgbClr val="3440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400" b="1">
                <a:solidFill>
                  <a:srgbClr val="FFFFFF"/>
                </a:solidFill>
              </a:rPr>
              <a:t>2  Verification (Table 7)</a:t>
            </a:r>
          </a:p>
        </p:txBody>
      </p:sp>
      <p:sp>
        <p:nvSpPr>
          <p:cNvPr id="6" name="col1"/>
          <p:cNvSpPr txBox="1"/>
          <p:nvPr/>
        </p:nvSpPr>
        <p:spPr>
          <a:xfrm>
            <a:off x="4526280" y="2651760"/>
            <a:ext cx="3200400" cy="3611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148590" indent="-148590">
              <a:spcBef>
                <a:spcPts val="500"/>
              </a:spcBef>
              <a:buClr>
                <a:srgbClr val="2683C6"/>
              </a:buClr>
              <a:buFont typeface="Arial"/>
              <a:buChar char="▪"/>
            </a:pPr>
            <a:r>
              <a:rPr sz="1300" b="1">
                <a:solidFill>
                  <a:srgbClr val="2683C6"/>
                </a:solidFill>
              </a:rPr>
              <a:t>Measure:</a:t>
            </a:r>
            <a:r>
              <a:rPr sz="1300" b="0">
                <a:solidFill>
                  <a:srgbClr val="404040"/>
                </a:solidFill>
              </a:rPr>
              <a:t> AIDistance, 1 − similarity of the S-1 Business section to AI patents (sentence embeddings)</a:t>
            </a:r>
          </a:p>
          <a:p>
            <a:pPr marL="148590" indent="-148590">
              <a:spcBef>
                <a:spcPts val="500"/>
              </a:spcBef>
              <a:buClr>
                <a:srgbClr val="2683C6"/>
              </a:buClr>
              <a:buFont typeface="Arial"/>
              <a:buChar char="▪"/>
            </a:pPr>
            <a:r>
              <a:rPr sz="1300" b="1">
                <a:solidFill>
                  <a:srgbClr val="2683C6"/>
                </a:solidFill>
              </a:rPr>
              <a:t>Test:</a:t>
            </a:r>
            <a:r>
              <a:rPr sz="1300" b="0">
                <a:solidFill>
                  <a:srgbClr val="404040"/>
                </a:solidFill>
              </a:rPr>
              <a:t> AI-washing × AIDistance</a:t>
            </a:r>
          </a:p>
          <a:p>
            <a:pPr marL="148590" indent="-148590">
              <a:spcBef>
                <a:spcPts val="500"/>
              </a:spcBef>
              <a:buClr>
                <a:srgbClr val="2683C6"/>
              </a:buClr>
              <a:buFont typeface="Arial"/>
              <a:buChar char="▪"/>
            </a:pPr>
            <a:r>
              <a:rPr sz="1300" b="1">
                <a:solidFill>
                  <a:srgbClr val="2683C6"/>
                </a:solidFill>
              </a:rPr>
              <a:t>2-year BHAR:</a:t>
            </a:r>
            <a:r>
              <a:rPr sz="1300" b="0">
                <a:solidFill>
                  <a:srgbClr val="404040"/>
                </a:solidFill>
              </a:rPr>
              <a:t> −1.31∗∗ (t = −2.19)</a:t>
            </a:r>
          </a:p>
          <a:p>
            <a:pPr marL="148590" indent="-148590">
              <a:spcBef>
                <a:spcPts val="500"/>
              </a:spcBef>
              <a:buClr>
                <a:srgbClr val="2683C6"/>
              </a:buClr>
              <a:buFont typeface="Arial"/>
              <a:buChar char="▪"/>
            </a:pPr>
            <a:r>
              <a:rPr sz="1300" b="1">
                <a:solidFill>
                  <a:srgbClr val="2683C6"/>
                </a:solidFill>
              </a:rPr>
              <a:t>3-year BHAR:</a:t>
            </a:r>
            <a:r>
              <a:rPr sz="1300" b="0">
                <a:solidFill>
                  <a:srgbClr val="404040"/>
                </a:solidFill>
              </a:rPr>
              <a:t> −1.43∗ (t = −1.98)</a:t>
            </a:r>
          </a:p>
          <a:p>
            <a:pPr marL="148590" indent="-148590">
              <a:spcBef>
                <a:spcPts val="500"/>
              </a:spcBef>
              <a:buClr>
                <a:srgbClr val="2683C6"/>
              </a:buClr>
              <a:buFont typeface="Arial"/>
              <a:buChar char="▪"/>
            </a:pPr>
            <a:r>
              <a:rPr sz="1300" b="1">
                <a:solidFill>
                  <a:srgbClr val="2683C6"/>
                </a:solidFill>
              </a:rPr>
              <a:t>Distance alone:</a:t>
            </a:r>
            <a:r>
              <a:rPr sz="1300" b="0">
                <a:solidFill>
                  <a:srgbClr val="404040"/>
                </a:solidFill>
              </a:rPr>
              <a:t> no effect</a:t>
            </a:r>
          </a:p>
          <a:p>
            <a:pPr marL="148590" indent="-148590">
              <a:spcBef>
                <a:spcPts val="500"/>
              </a:spcBef>
              <a:buClr>
                <a:srgbClr val="2683C6"/>
              </a:buClr>
              <a:buFont typeface="Arial"/>
              <a:buChar char="▪"/>
            </a:pPr>
            <a:r>
              <a:rPr sz="1300" b="1">
                <a:solidFill>
                  <a:srgbClr val="2683C6"/>
                </a:solidFill>
              </a:rPr>
              <a:t>Reading:</a:t>
            </a:r>
            <a:r>
              <a:rPr sz="1300" b="0">
                <a:solidFill>
                  <a:srgbClr val="404040"/>
                </a:solidFill>
              </a:rPr>
              <a:t> claims far from the business are hardest to check, so mispricing lasts longer</a:t>
            </a:r>
          </a:p>
        </p:txBody>
      </p:sp>
      <p:sp>
        <p:nvSpPr>
          <p:cNvPr id="7" name="head2"/>
          <p:cNvSpPr/>
          <p:nvPr/>
        </p:nvSpPr>
        <p:spPr>
          <a:xfrm>
            <a:off x="7955279" y="2103120"/>
            <a:ext cx="3200400" cy="457200"/>
          </a:xfrm>
          <a:prstGeom prst="rect">
            <a:avLst/>
          </a:prstGeom>
          <a:solidFill>
            <a:srgbClr val="3440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400" b="1">
                <a:solidFill>
                  <a:srgbClr val="FFFFFF"/>
                </a:solidFill>
              </a:rPr>
              <a:t>3  Litigation risk (Table 8, IA9)</a:t>
            </a:r>
          </a:p>
        </p:txBody>
      </p:sp>
      <p:sp>
        <p:nvSpPr>
          <p:cNvPr id="8" name="col2"/>
          <p:cNvSpPr txBox="1"/>
          <p:nvPr/>
        </p:nvSpPr>
        <p:spPr>
          <a:xfrm>
            <a:off x="7955279" y="2651760"/>
            <a:ext cx="3200400" cy="3611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148590" indent="-148590">
              <a:spcBef>
                <a:spcPts val="500"/>
              </a:spcBef>
              <a:buClr>
                <a:srgbClr val="2683C6"/>
              </a:buClr>
              <a:buFont typeface="Arial"/>
              <a:buChar char="▪"/>
            </a:pPr>
            <a:r>
              <a:rPr sz="1300" b="1">
                <a:solidFill>
                  <a:srgbClr val="2683C6"/>
                </a:solidFill>
              </a:rPr>
              <a:t>Measure:</a:t>
            </a:r>
            <a:r>
              <a:rPr sz="1300" b="0">
                <a:solidFill>
                  <a:srgbClr val="404040"/>
                </a:solidFill>
              </a:rPr>
              <a:t> first-year litigation risk: Kim–Skinner (firm) and industry class actions (Donelson et al.)</a:t>
            </a:r>
          </a:p>
          <a:p>
            <a:pPr marL="148590" indent="-148590">
              <a:spcBef>
                <a:spcPts val="500"/>
              </a:spcBef>
              <a:buClr>
                <a:srgbClr val="2683C6"/>
              </a:buClr>
              <a:buFont typeface="Arial"/>
              <a:buChar char="▪"/>
            </a:pPr>
            <a:r>
              <a:rPr sz="1300" b="1">
                <a:solidFill>
                  <a:srgbClr val="2683C6"/>
                </a:solidFill>
              </a:rPr>
              <a:t>Why IPOs:</a:t>
            </a:r>
            <a:r>
              <a:rPr sz="1300" b="0">
                <a:solidFill>
                  <a:srgbClr val="404040"/>
                </a:solidFill>
              </a:rPr>
              <a:t> no safe harbor for forward-looking statements</a:t>
            </a:r>
          </a:p>
          <a:p>
            <a:pPr marL="148590" indent="-148590">
              <a:spcBef>
                <a:spcPts val="500"/>
              </a:spcBef>
              <a:buClr>
                <a:srgbClr val="2683C6"/>
              </a:buClr>
              <a:buFont typeface="Arial"/>
              <a:buChar char="▪"/>
            </a:pPr>
            <a:r>
              <a:rPr sz="1300" b="1">
                <a:solidFill>
                  <a:srgbClr val="2683C6"/>
                </a:solidFill>
              </a:rPr>
              <a:t>2nd-year BHAR:</a:t>
            </a:r>
            <a:r>
              <a:rPr sz="1300" b="0">
                <a:solidFill>
                  <a:srgbClr val="404040"/>
                </a:solidFill>
              </a:rPr>
              <a:t> −0.034∗∗∗ (KS), −0.048∗∗ (DFY)</a:t>
            </a:r>
          </a:p>
          <a:p>
            <a:pPr marL="148590" indent="-148590">
              <a:spcBef>
                <a:spcPts val="500"/>
              </a:spcBef>
              <a:buClr>
                <a:srgbClr val="2683C6"/>
              </a:buClr>
              <a:buFont typeface="Arial"/>
              <a:buChar char="▪"/>
            </a:pPr>
            <a:r>
              <a:rPr sz="1300" b="1">
                <a:solidFill>
                  <a:srgbClr val="2683C6"/>
                </a:solidFill>
              </a:rPr>
              <a:t>AI words, first 10-K vs S-1:</a:t>
            </a:r>
            <a:r>
              <a:rPr sz="1300" b="0">
                <a:solidFill>
                  <a:srgbClr val="404040"/>
                </a:solidFill>
              </a:rPr>
              <a:t> −1.33∗, −0.55∗</a:t>
            </a:r>
          </a:p>
          <a:p>
            <a:pPr marL="148590" indent="-148590">
              <a:spcBef>
                <a:spcPts val="500"/>
              </a:spcBef>
              <a:buClr>
                <a:srgbClr val="2683C6"/>
              </a:buClr>
              <a:buFont typeface="Arial"/>
              <a:buChar char="▪"/>
            </a:pPr>
            <a:r>
              <a:rPr sz="1300" b="1">
                <a:solidFill>
                  <a:srgbClr val="2683C6"/>
                </a:solidFill>
              </a:rPr>
              <a:t>AI words, calls vs S-1:</a:t>
            </a:r>
            <a:r>
              <a:rPr sz="1300" b="0">
                <a:solidFill>
                  <a:srgbClr val="404040"/>
                </a:solidFill>
              </a:rPr>
              <a:t> −0.19∗∗∗, −0.12∗</a:t>
            </a:r>
          </a:p>
          <a:p>
            <a:pPr marL="148590" indent="-148590">
              <a:spcBef>
                <a:spcPts val="500"/>
              </a:spcBef>
              <a:buClr>
                <a:srgbClr val="2683C6"/>
              </a:buClr>
              <a:buFont typeface="Arial"/>
              <a:buChar char="▪"/>
            </a:pPr>
            <a:r>
              <a:rPr sz="1300" b="1">
                <a:solidFill>
                  <a:srgbClr val="2683C6"/>
                </a:solidFill>
              </a:rPr>
              <a:t>Reading:</a:t>
            </a:r>
            <a:r>
              <a:rPr sz="1300" b="0">
                <a:solidFill>
                  <a:srgbClr val="404040"/>
                </a:solidFill>
              </a:rPr>
              <a:t> legal exposure makes the AI story unwind</a:t>
            </a:r>
          </a:p>
        </p:txBody>
      </p:sp>
      <p:sp>
        <p:nvSpPr>
          <p:cNvPr id="9" name="footer text"/>
          <p:cNvSpPr txBox="1"/>
          <p:nvPr/>
        </p:nvSpPr>
        <p:spPr>
          <a:xfrm>
            <a:off x="1097280" y="6446520"/>
            <a:ext cx="8686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FFFFFF"/>
                </a:solidFill>
              </a:rPr>
              <a:t>When AI-Washing Meets Initial Public Offerings  |  2026 FMA Annual Meeting</a:t>
            </a:r>
          </a:p>
        </p:txBody>
      </p:sp>
      <p:sp>
        <p:nvSpPr>
          <p:cNvPr id="10" name="slide number"/>
          <p:cNvSpPr txBox="1"/>
          <p:nvPr/>
        </p:nvSpPr>
        <p:spPr>
          <a:xfrm>
            <a:off x="10698480" y="64465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Who curbs AI-washing? Takeaways</a:t>
            </a:r>
          </a:p>
        </p:txBody>
      </p:sp>
      <p:sp>
        <p:nvSpPr>
          <p:cNvPr id="3" name="text14"/>
          <p:cNvSpPr txBox="1"/>
          <p:nvPr/>
        </p:nvSpPr>
        <p:spPr>
          <a:xfrm>
            <a:off x="1097280" y="2103120"/>
            <a:ext cx="10058400" cy="4160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28600" indent="-228600">
              <a:spcBef>
                <a:spcPts val="800"/>
              </a:spcBef>
              <a:buClr>
                <a:srgbClr val="2683C6"/>
              </a:buClr>
              <a:buFont typeface="Arial"/>
              <a:buChar char="▪"/>
            </a:pPr>
            <a:r>
              <a:rPr sz="2000" b="1">
                <a:solidFill>
                  <a:srgbClr val="2683C6"/>
                </a:solidFill>
              </a:rPr>
              <a:t>Who curbs AI-washing?</a:t>
            </a:r>
          </a:p>
          <a:p>
            <a:pPr marL="640080" indent="-205740">
              <a:spcBef>
                <a:spcPts val="200"/>
              </a:spcBef>
              <a:buClr>
                <a:srgbClr val="2683C6"/>
              </a:buClr>
              <a:buFont typeface="Arial"/>
              <a:buChar char="–"/>
            </a:pPr>
            <a:r>
              <a:rPr sz="1800" b="0">
                <a:solidFill>
                  <a:srgbClr val="404040"/>
                </a:solidFill>
              </a:rPr>
              <a:t>Intermediaries: AI expertise of VCs, underwriters and auditors shows no reliable effect</a:t>
            </a:r>
          </a:p>
          <a:p>
            <a:pPr marL="640080" indent="-205740">
              <a:spcBef>
                <a:spcPts val="200"/>
              </a:spcBef>
              <a:buClr>
                <a:srgbClr val="2683C6"/>
              </a:buClr>
              <a:buFont typeface="Arial"/>
              <a:buChar char="–"/>
            </a:pPr>
            <a:r>
              <a:rPr sz="1800" b="0">
                <a:solidFill>
                  <a:srgbClr val="404040"/>
                </a:solidFill>
              </a:rPr>
              <a:t>SEC comment letters: more letters market-wide → less AI-washing, not less AI investment</a:t>
            </a:r>
          </a:p>
          <a:p>
            <a:pPr marL="640080" indent="-205740">
              <a:spcBef>
                <a:spcPts val="200"/>
              </a:spcBef>
              <a:buClr>
                <a:srgbClr val="2683C6"/>
              </a:buClr>
              <a:buFont typeface="Arial"/>
              <a:buChar char="–"/>
            </a:pPr>
            <a:r>
              <a:rPr sz="1800" b="0">
                <a:solidFill>
                  <a:srgbClr val="404040"/>
                </a:solidFill>
              </a:rPr>
              <a:t>SEC enforcement (March 18, 2024): AI-washing falls more where it was common</a:t>
            </a:r>
          </a:p>
          <a:p>
            <a:pPr marL="228600" indent="-228600">
              <a:spcBef>
                <a:spcPts val="800"/>
              </a:spcBef>
              <a:buClr>
                <a:srgbClr val="2683C6"/>
              </a:buClr>
              <a:buFont typeface="Arial"/>
              <a:buChar char="▪"/>
            </a:pPr>
            <a:r>
              <a:rPr sz="2000" b="1">
                <a:solidFill>
                  <a:srgbClr val="2683C6"/>
                </a:solidFill>
              </a:rPr>
              <a:t>Takeaways</a:t>
            </a:r>
          </a:p>
          <a:p>
            <a:pPr marL="640080" indent="-205740">
              <a:spcBef>
                <a:spcPts val="200"/>
              </a:spcBef>
              <a:buClr>
                <a:srgbClr val="2683C6"/>
              </a:buClr>
              <a:buFont typeface="Arial"/>
              <a:buChar char="–"/>
            </a:pPr>
            <a:r>
              <a:rPr sz="1800" b="0">
                <a:solidFill>
                  <a:srgbClr val="404040"/>
                </a:solidFill>
              </a:rPr>
              <a:t>AI talk at the IPO is a weak signal unless backed by AI walk</a:t>
            </a:r>
          </a:p>
          <a:p>
            <a:pPr marL="640080" indent="-205740">
              <a:spcBef>
                <a:spcPts val="200"/>
              </a:spcBef>
              <a:buClr>
                <a:srgbClr val="2683C6"/>
              </a:buClr>
              <a:buFont typeface="Arial"/>
              <a:buChar char="–"/>
            </a:pPr>
            <a:r>
              <a:rPr sz="1800" b="0">
                <a:solidFill>
                  <a:srgbClr val="404040"/>
                </a:solidFill>
              </a:rPr>
              <a:t>The talk–walk mismatch predicts long-run underperformance</a:t>
            </a:r>
          </a:p>
          <a:p>
            <a:pPr marL="640080" indent="-205740">
              <a:spcBef>
                <a:spcPts val="200"/>
              </a:spcBef>
              <a:buClr>
                <a:srgbClr val="2683C6"/>
              </a:buClr>
              <a:buFont typeface="Arial"/>
              <a:buChar char="–"/>
            </a:pPr>
            <a:r>
              <a:rPr sz="1800" b="0">
                <a:solidFill>
                  <a:srgbClr val="404040"/>
                </a:solidFill>
              </a:rPr>
              <a:t>Regulators can check AI claims against observable inputs</a:t>
            </a:r>
          </a:p>
        </p:txBody>
      </p:sp>
      <p:sp>
        <p:nvSpPr>
          <p:cNvPr id="4" name="footer text"/>
          <p:cNvSpPr txBox="1"/>
          <p:nvPr/>
        </p:nvSpPr>
        <p:spPr>
          <a:xfrm>
            <a:off x="1097280" y="6446520"/>
            <a:ext cx="8686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FFFFFF"/>
                </a:solidFill>
              </a:rPr>
              <a:t>When AI-Washing Meets Initial Public Offerings  |  2026 FMA Annual Meeting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10698480" y="64465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F1314C34-F582-4EEF-86CE-F88761E524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0E34DE7-06DB-1967-2237-15FE2ED2E82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000"/>
          <a:stretch>
            <a:fillRect/>
          </a:stretch>
        </p:blipFill>
        <p:spPr>
          <a:xfrm>
            <a:off x="-1" y="10"/>
            <a:ext cx="12191999" cy="685799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7319A1DD-F557-4EC6-8A8C-F7617B4CD6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2148840"/>
            <a:ext cx="7537704" cy="3611880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01F868-4C26-5ADB-30DD-B2BA73009C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5791" y="2331720"/>
            <a:ext cx="6470692" cy="2103120"/>
          </a:xfrm>
        </p:spPr>
        <p:txBody>
          <a:bodyPr wrap="square" anchor="b">
            <a:normAutofit/>
          </a:bodyPr>
          <a:lstStyle/>
          <a:p>
            <a:r>
              <a:rPr sz="4400"/>
              <a:t>Thank you!</a:t>
            </a:r>
            <a:endParaRPr lang="en-US" sz="5400">
              <a:solidFill>
                <a:schemeClr val="tx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E22037-B258-2C42-7D61-709048992C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5791" y="4617720"/>
            <a:ext cx="6470693" cy="1005840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sz="1600"/>
              <a:t>Questions and comments welcome</a:t>
            </a:r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28A9C89-B313-458F-9C85-515930A51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72429" y="4526280"/>
            <a:ext cx="6309360" cy="0"/>
          </a:xfrm>
          <a:prstGeom prst="line">
            <a:avLst/>
          </a:prstGeom>
          <a:ln w="19050">
            <a:solidFill>
              <a:schemeClr val="accent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!!footer rectangle">
            <a:extLst>
              <a:ext uri="{FF2B5EF4-FFF2-40B4-BE49-F238E27FC236}">
                <a16:creationId xmlns:a16="http://schemas.microsoft.com/office/drawing/2014/main" id="{C390A367-0330-4E03-9D5F-40308A7975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26262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F1314C34-F582-4EEF-86CE-F88761E524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0E34DE7-06DB-1967-2237-15FE2ED2E82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000"/>
          <a:stretch>
            <a:fillRect/>
          </a:stretch>
        </p:blipFill>
        <p:spPr>
          <a:xfrm>
            <a:off x="-1" y="10"/>
            <a:ext cx="12191999" cy="685799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7319A1DD-F557-4EC6-8A8C-F7617B4CD6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2148840"/>
            <a:ext cx="7537704" cy="3611880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01F868-4C26-5ADB-30DD-B2BA73009C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5791" y="2331720"/>
            <a:ext cx="6470692" cy="2103120"/>
          </a:xfrm>
        </p:spPr>
        <p:txBody>
          <a:bodyPr wrap="square" anchor="b">
            <a:normAutofit/>
          </a:bodyPr>
          <a:lstStyle/>
          <a:p>
            <a:r>
              <a:rPr sz="4400"/>
              <a:t>Appendix</a:t>
            </a:r>
            <a:endParaRPr lang="en-US" sz="5400">
              <a:solidFill>
                <a:schemeClr val="tx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E22037-B258-2C42-7D61-709048992C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5791" y="4617720"/>
            <a:ext cx="6470693" cy="1005840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sz="1600"/>
              <a:t>Backup slides</a:t>
            </a:r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28A9C89-B313-458F-9C85-515930A51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72429" y="4526280"/>
            <a:ext cx="6309360" cy="0"/>
          </a:xfrm>
          <a:prstGeom prst="line">
            <a:avLst/>
          </a:prstGeom>
          <a:ln w="19050">
            <a:solidFill>
              <a:schemeClr val="accent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!!footer rectangle">
            <a:extLst>
              <a:ext uri="{FF2B5EF4-FFF2-40B4-BE49-F238E27FC236}">
                <a16:creationId xmlns:a16="http://schemas.microsoft.com/office/drawing/2014/main" id="{C390A367-0330-4E03-9D5F-40308A7975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26262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Why is AI washing special in IPOs?</a:t>
            </a:r>
          </a:p>
        </p:txBody>
      </p:sp>
      <p:sp>
        <p:nvSpPr>
          <p:cNvPr id="3" name="text17"/>
          <p:cNvSpPr txBox="1"/>
          <p:nvPr/>
        </p:nvSpPr>
        <p:spPr>
          <a:xfrm>
            <a:off x="1097280" y="2103120"/>
            <a:ext cx="10058400" cy="4160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28600" indent="-228600">
              <a:spcBef>
                <a:spcPts val="800"/>
              </a:spcBef>
              <a:buClr>
                <a:srgbClr val="2683C6"/>
              </a:buClr>
              <a:buFont typeface="Arial"/>
              <a:buChar char="▪"/>
            </a:pPr>
            <a:r>
              <a:rPr sz="2000" b="1">
                <a:solidFill>
                  <a:srgbClr val="2683C6"/>
                </a:solidFill>
              </a:rPr>
              <a:t>Why AI capability is difficult to value at issuance</a:t>
            </a:r>
          </a:p>
          <a:p>
            <a:pPr marL="640080" indent="-205740">
              <a:spcBef>
                <a:spcPts val="200"/>
              </a:spcBef>
              <a:buClr>
                <a:srgbClr val="2683C6"/>
              </a:buClr>
              <a:buFont typeface="Arial"/>
              <a:buChar char="–"/>
            </a:pPr>
            <a:r>
              <a:rPr sz="1800" b="0">
                <a:solidFill>
                  <a:srgbClr val="404040"/>
                </a:solidFill>
              </a:rPr>
              <a:t>Algorithms, proprietary data, and specialized talent are difficult to observe.</a:t>
            </a:r>
          </a:p>
          <a:p>
            <a:pPr marL="640080" indent="-205740">
              <a:spcBef>
                <a:spcPts val="200"/>
              </a:spcBef>
              <a:buClr>
                <a:srgbClr val="2683C6"/>
              </a:buClr>
              <a:buFont typeface="Arial"/>
              <a:buChar char="–"/>
            </a:pPr>
            <a:r>
              <a:rPr sz="1800" b="0">
                <a:solidFill>
                  <a:srgbClr val="404040"/>
                </a:solidFill>
              </a:rPr>
              <a:t>AI investment can support growth and product innovation.</a:t>
            </a:r>
          </a:p>
          <a:p>
            <a:pPr marL="640080" indent="-205740">
              <a:spcBef>
                <a:spcPts val="200"/>
              </a:spcBef>
              <a:buClr>
                <a:srgbClr val="2683C6"/>
              </a:buClr>
              <a:buFont typeface="Arial"/>
              <a:buChar char="–"/>
            </a:pPr>
            <a:r>
              <a:rPr sz="1800" b="0">
                <a:solidFill>
                  <a:srgbClr val="404040"/>
                </a:solidFill>
              </a:rPr>
              <a:t>IPO research has limited granular evidence on pre-IPO technological inputs.</a:t>
            </a:r>
          </a:p>
          <a:p>
            <a:pPr marL="228600" indent="-228600">
              <a:spcBef>
                <a:spcPts val="800"/>
              </a:spcBef>
              <a:buClr>
                <a:srgbClr val="2683C6"/>
              </a:buClr>
              <a:buFont typeface="Arial"/>
              <a:buChar char="▪"/>
            </a:pPr>
            <a:r>
              <a:rPr sz="2000" b="1">
                <a:solidFill>
                  <a:srgbClr val="2683C6"/>
                </a:solidFill>
              </a:rPr>
              <a:t>Why disclosures may diverge from observable investment</a:t>
            </a:r>
          </a:p>
          <a:p>
            <a:pPr marL="640080" indent="-205740">
              <a:spcBef>
                <a:spcPts val="200"/>
              </a:spcBef>
              <a:buClr>
                <a:srgbClr val="2683C6"/>
              </a:buClr>
              <a:buFont typeface="Arial"/>
              <a:buChar char="–"/>
            </a:pPr>
            <a:r>
              <a:rPr sz="1800" b="0">
                <a:solidFill>
                  <a:srgbClr val="404040"/>
                </a:solidFill>
              </a:rPr>
              <a:t>Limited public histories make AI claims difficult to verify at issuance.</a:t>
            </a:r>
          </a:p>
          <a:p>
            <a:pPr marL="640080" indent="-205740">
              <a:spcBef>
                <a:spcPts val="200"/>
              </a:spcBef>
              <a:buClr>
                <a:srgbClr val="2683C6"/>
              </a:buClr>
              <a:buFont typeface="Arial"/>
              <a:buChar char="–"/>
            </a:pPr>
            <a:r>
              <a:rPr sz="1800" b="0">
                <a:solidFill>
                  <a:srgbClr val="404040"/>
                </a:solidFill>
              </a:rPr>
              <a:t>Capable firms may also limit disclosure to protect proprietary information.</a:t>
            </a:r>
          </a:p>
        </p:txBody>
      </p:sp>
      <p:sp>
        <p:nvSpPr>
          <p:cNvPr id="4" name="footer text"/>
          <p:cNvSpPr txBox="1"/>
          <p:nvPr/>
        </p:nvSpPr>
        <p:spPr>
          <a:xfrm>
            <a:off x="1097280" y="6446520"/>
            <a:ext cx="8686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FFFFFF"/>
                </a:solidFill>
              </a:rPr>
              <a:t>When AI-Washing Meets Initial Public Offerings  |  2026 FMA Annual Meeting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10698480" y="64465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</a:rPr>
              <a:t>A1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Anecdotal evidence: Presto Voice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2BB69807-4121-3166-5F1F-C019BF3B3D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3785" y="4506405"/>
            <a:ext cx="4302022" cy="1728958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6926C04-E28E-3600-1F79-486E006D417B}"/>
              </a:ext>
            </a:extLst>
          </p:cNvPr>
          <p:cNvSpPr>
            <a:spLocks noGrp="1"/>
          </p:cNvSpPr>
          <p:nvPr/>
        </p:nvSpPr>
        <p:spPr>
          <a:xfrm>
            <a:off x="2022539" y="2103120"/>
            <a:ext cx="7737278" cy="4063328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dirty="0"/>
              <a:t>Presto listed in September 2022 and promoted AI-powered restaurant technology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dirty="0"/>
              <a:t>	</a:t>
            </a:r>
            <a:endParaRPr 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32B1B1E-E72C-DCDD-DFCD-19C003812D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6437" y="4483936"/>
            <a:ext cx="2880636" cy="1779703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83151567-4B27-81D9-0EE7-585611536EF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4447" y="2616111"/>
            <a:ext cx="2118784" cy="1618917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B312FDEF-098E-8DC6-82DE-214CF7CEC47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408"/>
          <a:stretch>
            <a:fillRect/>
          </a:stretch>
        </p:blipFill>
        <p:spPr>
          <a:xfrm>
            <a:off x="4792698" y="2511873"/>
            <a:ext cx="4967119" cy="1721353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B114B9C2-1B74-9F27-933D-FB1CF1BC48FC}"/>
              </a:ext>
            </a:extLst>
          </p:cNvPr>
          <p:cNvSpPr txBox="1"/>
          <p:nvPr/>
        </p:nvSpPr>
        <p:spPr>
          <a:xfrm>
            <a:off x="2022539" y="4200249"/>
            <a:ext cx="8207881" cy="31080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</a:lstStyle>
          <a:p>
            <a:r>
              <a:rPr lang="en-US" altLang="zh-CN" sz="1500" dirty="0"/>
              <a:t>Its stock price peaked in </a:t>
            </a:r>
            <a:r>
              <a:rPr lang="en-US" altLang="zh-CN" sz="1500" b="1" dirty="0"/>
              <a:t>mid-2023</a:t>
            </a:r>
            <a:r>
              <a:rPr lang="en-US" altLang="zh-CN" sz="1500" dirty="0"/>
              <a:t>, then steadily declined and remained near zero</a:t>
            </a:r>
          </a:p>
        </p:txBody>
      </p:sp>
      <p:sp>
        <p:nvSpPr>
          <p:cNvPr id="17" name="footer text"/>
          <p:cNvSpPr txBox="1"/>
          <p:nvPr/>
        </p:nvSpPr>
        <p:spPr>
          <a:xfrm>
            <a:off x="1097280" y="6446520"/>
            <a:ext cx="8686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FFFFFF"/>
                </a:solidFill>
              </a:rPr>
              <a:t>When AI-Washing Meets Initial Public Offerings  |  2026 FMA Annual Meeting</a:t>
            </a:r>
          </a:p>
        </p:txBody>
      </p:sp>
      <p:sp>
        <p:nvSpPr>
          <p:cNvPr id="18" name="slide number"/>
          <p:cNvSpPr txBox="1"/>
          <p:nvPr/>
        </p:nvSpPr>
        <p:spPr>
          <a:xfrm>
            <a:off x="10698480" y="64465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</a:rPr>
              <a:t>A2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Contributions</a:t>
            </a:r>
          </a:p>
        </p:txBody>
      </p:sp>
      <p:sp>
        <p:nvSpPr>
          <p:cNvPr id="3" name="text19"/>
          <p:cNvSpPr txBox="1"/>
          <p:nvPr/>
        </p:nvSpPr>
        <p:spPr>
          <a:xfrm>
            <a:off x="1097280" y="2103120"/>
            <a:ext cx="10058400" cy="4160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28600" indent="-228600">
              <a:spcBef>
                <a:spcPts val="800"/>
              </a:spcBef>
              <a:buClr>
                <a:srgbClr val="2683C6"/>
              </a:buClr>
              <a:buFont typeface="Arial"/>
              <a:buChar char="▪"/>
            </a:pPr>
            <a:r>
              <a:rPr sz="2000" b="0">
                <a:solidFill>
                  <a:srgbClr val="404040"/>
                </a:solidFill>
              </a:rPr>
              <a:t>We propose one of the first systematic frameworks to identify </a:t>
            </a:r>
            <a:r>
              <a:rPr sz="2000" b="1">
                <a:solidFill>
                  <a:srgbClr val="2683C6"/>
                </a:solidFill>
              </a:rPr>
              <a:t>AI-washing</a:t>
            </a:r>
            <a:r>
              <a:rPr sz="2000" b="0">
                <a:solidFill>
                  <a:srgbClr val="404040"/>
                </a:solidFill>
              </a:rPr>
              <a:t> in the IPO process</a:t>
            </a:r>
          </a:p>
          <a:p>
            <a:pPr marL="640080" indent="-205740">
              <a:spcBef>
                <a:spcPts val="200"/>
              </a:spcBef>
              <a:buClr>
                <a:srgbClr val="2683C6"/>
              </a:buClr>
              <a:buFont typeface="Arial"/>
              <a:buChar char="–"/>
            </a:pPr>
            <a:r>
              <a:rPr sz="1800" b="0">
                <a:solidFill>
                  <a:srgbClr val="404040"/>
                </a:solidFill>
              </a:rPr>
              <a:t>ESG washing (Duchin et al., 2024 JF; Baker et al., 2024 JAR)</a:t>
            </a:r>
          </a:p>
          <a:p>
            <a:pPr marL="228600" indent="-228600">
              <a:spcBef>
                <a:spcPts val="800"/>
              </a:spcBef>
              <a:buClr>
                <a:srgbClr val="2683C6"/>
              </a:buClr>
              <a:buFont typeface="Arial"/>
              <a:buChar char="▪"/>
            </a:pPr>
            <a:r>
              <a:rPr sz="2000" b="0">
                <a:solidFill>
                  <a:srgbClr val="404040"/>
                </a:solidFill>
              </a:rPr>
              <a:t>We extend traditional signaling theory by showing that </a:t>
            </a:r>
            <a:r>
              <a:rPr sz="2000" b="1">
                <a:solidFill>
                  <a:srgbClr val="2683C6"/>
                </a:solidFill>
              </a:rPr>
              <a:t>AI labels are not reliable signals</a:t>
            </a:r>
            <a:r>
              <a:rPr sz="2000" b="0">
                <a:solidFill>
                  <a:srgbClr val="404040"/>
                </a:solidFill>
              </a:rPr>
              <a:t> of firm quality or growth potential</a:t>
            </a:r>
          </a:p>
          <a:p>
            <a:pPr marL="640080" indent="-205740">
              <a:spcBef>
                <a:spcPts val="200"/>
              </a:spcBef>
              <a:buClr>
                <a:srgbClr val="2683C6"/>
              </a:buClr>
              <a:buFont typeface="Arial"/>
              <a:buChar char="–"/>
            </a:pPr>
            <a:r>
              <a:rPr sz="1800" b="0">
                <a:solidFill>
                  <a:srgbClr val="404040"/>
                </a:solidFill>
              </a:rPr>
              <a:t>Real AI investment is associated with high value growth (Babina et al., 2024 JFE)</a:t>
            </a:r>
          </a:p>
          <a:p>
            <a:pPr marL="640080" indent="-205740">
              <a:spcBef>
                <a:spcPts val="200"/>
              </a:spcBef>
              <a:buClr>
                <a:srgbClr val="2683C6"/>
              </a:buClr>
              <a:buFont typeface="Arial"/>
              <a:buChar char="–"/>
            </a:pPr>
            <a:r>
              <a:rPr sz="1800" b="0">
                <a:solidFill>
                  <a:srgbClr val="404040"/>
                </a:solidFill>
              </a:rPr>
              <a:t>AI-related narratives can be temporarily priced as signals (Beatty and Ritter, 1986 JFE; Rock, 1986 JFE; Ritter, 1991 JF)</a:t>
            </a:r>
          </a:p>
          <a:p>
            <a:pPr marL="228600" indent="-228600">
              <a:spcBef>
                <a:spcPts val="800"/>
              </a:spcBef>
              <a:buClr>
                <a:srgbClr val="2683C6"/>
              </a:buClr>
              <a:buFont typeface="Arial"/>
              <a:buChar char="▪"/>
            </a:pPr>
            <a:r>
              <a:rPr sz="2000" b="0">
                <a:solidFill>
                  <a:srgbClr val="404040"/>
                </a:solidFill>
              </a:rPr>
              <a:t>We provide evidence supporting the need for </a:t>
            </a:r>
            <a:r>
              <a:rPr sz="2000" b="1">
                <a:solidFill>
                  <a:srgbClr val="2683C6"/>
                </a:solidFill>
              </a:rPr>
              <a:t>ex-ante regulation</a:t>
            </a:r>
            <a:r>
              <a:rPr sz="2000" b="0">
                <a:solidFill>
                  <a:srgbClr val="404040"/>
                </a:solidFill>
              </a:rPr>
              <a:t> of AI-related claims during IPOs</a:t>
            </a:r>
          </a:p>
          <a:p>
            <a:pPr marL="640080" indent="-205740">
              <a:spcBef>
                <a:spcPts val="200"/>
              </a:spcBef>
              <a:buClr>
                <a:srgbClr val="2683C6"/>
              </a:buClr>
              <a:buFont typeface="Arial"/>
              <a:buChar char="–"/>
            </a:pPr>
            <a:r>
              <a:rPr sz="1800" b="0">
                <a:solidFill>
                  <a:srgbClr val="404040"/>
                </a:solidFill>
              </a:rPr>
              <a:t>Disclosure litigation risk and legal exposure in IPO prospectuses (Lowry and Shu, 2002 JFE; Hanley and Hoberg, 2012 JFE)</a:t>
            </a:r>
          </a:p>
        </p:txBody>
      </p:sp>
      <p:sp>
        <p:nvSpPr>
          <p:cNvPr id="4" name="footer text"/>
          <p:cNvSpPr txBox="1"/>
          <p:nvPr/>
        </p:nvSpPr>
        <p:spPr>
          <a:xfrm>
            <a:off x="1097280" y="6446520"/>
            <a:ext cx="8686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FFFFFF"/>
                </a:solidFill>
              </a:rPr>
              <a:t>When AI-Washing Meets Initial Public Offerings  |  2026 FMA Annual Meeting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10698480" y="64465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</a:rPr>
              <a:t>A3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AI talk: AI keyword-based algorithm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582EA247-3D05-59BC-1743-A4BD264D0C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4540319"/>
              </p:ext>
            </p:extLst>
          </p:nvPr>
        </p:nvGraphicFramePr>
        <p:xfrm>
          <a:off x="1836918" y="2357763"/>
          <a:ext cx="8579124" cy="3905876"/>
        </p:xfrm>
        <a:graphic>
          <a:graphicData uri="http://schemas.openxmlformats.org/drawingml/2006/table">
            <a:tbl>
              <a:tblPr>
                <a:tableStyleId>{793D81CF-94F2-401A-BA57-92F5A7B2D0C5}</a:tableStyleId>
              </a:tblPr>
              <a:tblGrid>
                <a:gridCol w="1968012">
                  <a:extLst>
                    <a:ext uri="{9D8B030D-6E8A-4147-A177-3AD203B41FA5}">
                      <a16:colId xmlns:a16="http://schemas.microsoft.com/office/drawing/2014/main" val="2258257093"/>
                    </a:ext>
                  </a:extLst>
                </a:gridCol>
                <a:gridCol w="2203704">
                  <a:extLst>
                    <a:ext uri="{9D8B030D-6E8A-4147-A177-3AD203B41FA5}">
                      <a16:colId xmlns:a16="http://schemas.microsoft.com/office/drawing/2014/main" val="2743082512"/>
                    </a:ext>
                  </a:extLst>
                </a:gridCol>
                <a:gridCol w="2203704">
                  <a:extLst>
                    <a:ext uri="{9D8B030D-6E8A-4147-A177-3AD203B41FA5}">
                      <a16:colId xmlns:a16="http://schemas.microsoft.com/office/drawing/2014/main" val="935848764"/>
                    </a:ext>
                  </a:extLst>
                </a:gridCol>
                <a:gridCol w="2203704">
                  <a:extLst>
                    <a:ext uri="{9D8B030D-6E8A-4147-A177-3AD203B41FA5}">
                      <a16:colId xmlns:a16="http://schemas.microsoft.com/office/drawing/2014/main" val="1044708896"/>
                    </a:ext>
                  </a:extLst>
                </a:gridCol>
              </a:tblGrid>
              <a:tr h="179323">
                <a:tc>
                  <a:txBody>
                    <a:bodyPr/>
                    <a:lstStyle/>
                    <a:p>
                      <a:pPr algn="l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dirty="0">
                          <a:solidFill>
                            <a:schemeClr val="tx1"/>
                          </a:solidFill>
                          <a:effectLst/>
                        </a:rPr>
                        <a:t>KEYWORD</a:t>
                      </a:r>
                      <a:endParaRPr lang="en-US" sz="1300" b="0" i="0" u="none" strike="noStrike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22860" marR="22860" marT="4572" marB="4572" anchor="ctr">
                    <a:lnL w="12700" cmpd="sng"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KEYWORD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KEYWORD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300" b="0" i="0" u="none" strike="noStrike" dirty="0">
                          <a:solidFill>
                            <a:schemeClr val="tx1"/>
                          </a:solidFill>
                          <a:effectLst/>
                          <a:ea typeface="+mn-ea"/>
                        </a:rPr>
                        <a:t>KEYWORD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53935942"/>
                  </a:ext>
                </a:extLst>
              </a:tr>
              <a:tr h="179323">
                <a:tc>
                  <a:txBody>
                    <a:bodyPr/>
                    <a:lstStyle/>
                    <a:p>
                      <a:pPr algn="l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3d imaging</a:t>
                      </a:r>
                    </a:p>
                  </a:txBody>
                  <a:tcPr marL="22860" marR="22860" marT="4572" marB="4572" anchor="ctr">
                    <a:lnL w="12700" cmpd="sng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computer vision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machine learning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search algorithm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88026455"/>
                  </a:ext>
                </a:extLst>
              </a:tr>
              <a:tr h="192747">
                <a:tc>
                  <a:txBody>
                    <a:bodyPr/>
                    <a:lstStyle/>
                    <a:p>
                      <a:pPr algn="l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acoustic model</a:t>
                      </a:r>
                    </a:p>
                  </a:txBody>
                  <a:tcPr marL="22860" marR="22860" marT="4572" marB="4572" anchor="ctr">
                    <a:lnL w="12700" cmpd="sng"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data fusion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maximum likelihood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semantics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70389467"/>
                  </a:ext>
                </a:extLst>
              </a:tr>
              <a:tr h="179323">
                <a:tc>
                  <a:txBody>
                    <a:bodyPr/>
                    <a:lstStyle/>
                    <a:p>
                      <a:pPr algn="l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active learning</a:t>
                      </a:r>
                    </a:p>
                  </a:txBody>
                  <a:tcPr marL="22860" marR="22860" marT="4572" marB="4572"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deep learning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model selection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semi-supervised learning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59823712"/>
                  </a:ext>
                </a:extLst>
              </a:tr>
              <a:tr h="179323">
                <a:tc>
                  <a:txBody>
                    <a:bodyPr/>
                    <a:lstStyle/>
                    <a:p>
                      <a:pPr algn="l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ai strategy</a:t>
                      </a:r>
                    </a:p>
                  </a:txBody>
                  <a:tcPr marL="22860" marR="22860" marT="4572" marB="4572"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dimensionality reduction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motion capture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sensor network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71107628"/>
                  </a:ext>
                </a:extLst>
              </a:tr>
              <a:tr h="179323">
                <a:tc>
                  <a:txBody>
                    <a:bodyPr/>
                    <a:lstStyle/>
                    <a:p>
                      <a:pPr algn="l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ai training</a:t>
                      </a:r>
                    </a:p>
                  </a:txBody>
                  <a:tcPr marL="22860" marR="22860" marT="4572" marB="4572"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facial recognition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natural language processing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sentiment analysis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70478580"/>
                  </a:ext>
                </a:extLst>
              </a:tr>
              <a:tr h="179323">
                <a:tc>
                  <a:txBody>
                    <a:bodyPr/>
                    <a:lstStyle/>
                    <a:p>
                      <a:pPr algn="l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aiops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2860" marR="22860" marT="4572" marB="4572"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feature selection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network analysis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signal processing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30101687"/>
                  </a:ext>
                </a:extLst>
              </a:tr>
              <a:tr h="179323">
                <a:tc>
                  <a:txBody>
                    <a:bodyPr/>
                    <a:lstStyle/>
                    <a:p>
                      <a:pPr algn="l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artificial intelligence</a:t>
                      </a:r>
                    </a:p>
                  </a:txBody>
                  <a:tcPr marL="22860" marR="22860" marT="4572" marB="4572"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gen ai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neural network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supervised learning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40699903"/>
                  </a:ext>
                </a:extLst>
              </a:tr>
              <a:tr h="317752">
                <a:tc>
                  <a:txBody>
                    <a:bodyPr/>
                    <a:lstStyle/>
                    <a:p>
                      <a:pPr algn="l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augmented reality</a:t>
                      </a:r>
                    </a:p>
                  </a:txBody>
                  <a:tcPr marL="22860" marR="22860" marT="4572" marB="4572"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generative artificial intelligence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object oriented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support vector machine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17568055"/>
                  </a:ext>
                </a:extLst>
              </a:tr>
              <a:tr h="179323">
                <a:tc>
                  <a:txBody>
                    <a:bodyPr/>
                    <a:lstStyle/>
                    <a:p>
                      <a:pPr algn="l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automatic speech recognition </a:t>
                      </a:r>
                    </a:p>
                  </a:txBody>
                  <a:tcPr marL="22860" marR="22860" marT="4572" marB="4572"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gesture recognition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object recognition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tensor flow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46804172"/>
                  </a:ext>
                </a:extLst>
              </a:tr>
              <a:tr h="179323">
                <a:tc>
                  <a:txBody>
                    <a:bodyPr/>
                    <a:lstStyle/>
                    <a:p>
                      <a:pPr algn="l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autonomous system</a:t>
                      </a:r>
                    </a:p>
                  </a:txBody>
                  <a:tcPr marL="22860" marR="22860" marT="4572" marB="4572"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h2o.ai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optimal search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tokenization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72272897"/>
                  </a:ext>
                </a:extLst>
              </a:tr>
              <a:tr h="179323">
                <a:tc>
                  <a:txBody>
                    <a:bodyPr/>
                    <a:lstStyle/>
                    <a:p>
                      <a:pPr algn="l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azure ml</a:t>
                      </a:r>
                    </a:p>
                  </a:txBody>
                  <a:tcPr marL="22860" marR="22860" marT="4572" marB="4572"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hierarchical clustering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pattern recognition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torch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78071672"/>
                  </a:ext>
                </a:extLst>
              </a:tr>
              <a:tr h="179323">
                <a:tc>
                  <a:txBody>
                    <a:bodyPr/>
                    <a:lstStyle/>
                    <a:p>
                      <a:pPr algn="l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bayesian</a:t>
                      </a: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optimization</a:t>
                      </a:r>
                    </a:p>
                  </a:txBody>
                  <a:tcPr marL="22860" marR="22860" marT="4572" marB="4572"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image matching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300" b="0" i="0" u="none" strike="noStrike" dirty="0">
                          <a:solidFill>
                            <a:srgbClr val="000000"/>
                          </a:solidFill>
                          <a:effectLst/>
                          <a:ea typeface="+mn-ea"/>
                        </a:rPr>
                        <a:t>predictive analytics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virtual agent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15048555"/>
                  </a:ext>
                </a:extLst>
              </a:tr>
              <a:tr h="179323">
                <a:tc>
                  <a:txBody>
                    <a:bodyPr/>
                    <a:lstStyle/>
                    <a:p>
                      <a:pPr algn="l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classification algorithm</a:t>
                      </a:r>
                    </a:p>
                  </a:txBody>
                  <a:tcPr marL="22860" marR="22860" marT="4572" marB="4572"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300" b="0" i="0" u="none" strike="noStrike" dirty="0">
                          <a:solidFill>
                            <a:srgbClr val="000000"/>
                          </a:solidFill>
                          <a:effectLst/>
                          <a:ea typeface="+mn-ea"/>
                        </a:rPr>
                        <a:t>image recognition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random forest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42782524"/>
                  </a:ext>
                </a:extLst>
              </a:tr>
              <a:tr h="179323">
                <a:tc>
                  <a:txBody>
                    <a:bodyPr/>
                    <a:lstStyle/>
                    <a:p>
                      <a:pPr algn="l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300" b="0" i="0" u="none" strike="noStrike" dirty="0">
                          <a:solidFill>
                            <a:srgbClr val="000000"/>
                          </a:solidFill>
                          <a:effectLst/>
                          <a:ea typeface="+mn-ea"/>
                        </a:rPr>
                        <a:t>cluster analysis</a:t>
                      </a:r>
                    </a:p>
                  </a:txBody>
                  <a:tcPr marL="22860" marR="22860" marT="4572" marB="4572"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intelligent agent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recommender system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89628911"/>
                  </a:ext>
                </a:extLst>
              </a:tr>
              <a:tr h="179323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lang="en-US" altLang="zh-CN" sz="1300" b="0" i="0" u="none" strike="noStrike" dirty="0">
                          <a:solidFill>
                            <a:srgbClr val="000000"/>
                          </a:solidFill>
                          <a:effectLst/>
                          <a:ea typeface="+mn-ea"/>
                        </a:rPr>
                        <a:t>collaborative system</a:t>
                      </a:r>
                    </a:p>
                  </a:txBody>
                  <a:tcPr marL="22860" marR="22860" marT="4572" marB="4572"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language model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regression model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30552290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165EB794-22C6-EF1A-9ABE-C7081D307320}"/>
              </a:ext>
            </a:extLst>
          </p:cNvPr>
          <p:cNvSpPr txBox="1"/>
          <p:nvPr/>
        </p:nvSpPr>
        <p:spPr>
          <a:xfrm>
            <a:off x="2116340" y="2103120"/>
            <a:ext cx="8020279" cy="283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1450" dirty="0"/>
              <a:t>Our dictionary contains 97 AI-related terms, 57 of which appear in S-1 filings.</a:t>
            </a:r>
          </a:p>
        </p:txBody>
      </p:sp>
      <p:sp>
        <p:nvSpPr>
          <p:cNvPr id="6" name="footer text"/>
          <p:cNvSpPr txBox="1"/>
          <p:nvPr/>
        </p:nvSpPr>
        <p:spPr>
          <a:xfrm>
            <a:off x="1097280" y="6446520"/>
            <a:ext cx="8686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FFFFFF"/>
                </a:solidFill>
              </a:rPr>
              <a:t>When AI-Washing Meets Initial Public Offerings  |  2026 FMA Annual Meeting</a:t>
            </a:r>
          </a:p>
        </p:txBody>
      </p:sp>
      <p:sp>
        <p:nvSpPr>
          <p:cNvPr id="7" name="slide number"/>
          <p:cNvSpPr txBox="1"/>
          <p:nvPr/>
        </p:nvSpPr>
        <p:spPr>
          <a:xfrm>
            <a:off x="10698480" y="64465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</a:rPr>
              <a:t>A4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AI talk: Top 20 most frequent AI keywords</a:t>
            </a:r>
          </a:p>
        </p:txBody>
      </p:sp>
      <p:graphicFrame>
        <p:nvGraphicFramePr>
          <p:cNvPr id="6" name="图表 5">
            <a:extLst>
              <a:ext uri="{FF2B5EF4-FFF2-40B4-BE49-F238E27FC236}">
                <a16:creationId xmlns:a16="http://schemas.microsoft.com/office/drawing/2014/main" id="{3993FF6E-6FBC-7768-6530-930B52B0710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84241689"/>
              </p:ext>
            </p:extLst>
          </p:nvPr>
        </p:nvGraphicFramePr>
        <p:xfrm>
          <a:off x="2017323" y="2103120"/>
          <a:ext cx="8218312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footer text"/>
          <p:cNvSpPr txBox="1"/>
          <p:nvPr/>
        </p:nvSpPr>
        <p:spPr>
          <a:xfrm>
            <a:off x="1097280" y="6446520"/>
            <a:ext cx="8686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FFFFFF"/>
                </a:solidFill>
              </a:rPr>
              <a:t>When AI-Washing Meets Initial Public Offerings  |  2026 FMA Annual Meeting</a:t>
            </a:r>
          </a:p>
        </p:txBody>
      </p:sp>
      <p:sp>
        <p:nvSpPr>
          <p:cNvPr id="8" name="slide number"/>
          <p:cNvSpPr txBox="1"/>
          <p:nvPr/>
        </p:nvSpPr>
        <p:spPr>
          <a:xfrm>
            <a:off x="10698480" y="64465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</a:rPr>
              <a:t>A5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AI walk 1: AI human capital</a:t>
            </a:r>
          </a:p>
        </p:txBody>
      </p:sp>
      <p:sp>
        <p:nvSpPr>
          <p:cNvPr id="3" name="text22"/>
          <p:cNvSpPr txBox="1"/>
          <p:nvPr/>
        </p:nvSpPr>
        <p:spPr>
          <a:xfrm>
            <a:off x="1097280" y="2103120"/>
            <a:ext cx="10058400" cy="4160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28600" indent="-228600">
              <a:spcBef>
                <a:spcPts val="800"/>
              </a:spcBef>
              <a:buClr>
                <a:srgbClr val="2683C6"/>
              </a:buClr>
              <a:buFont typeface="Arial"/>
              <a:buChar char="▪"/>
            </a:pPr>
            <a:r>
              <a:rPr sz="2000" b="0">
                <a:solidFill>
                  <a:srgbClr val="404040"/>
                </a:solidFill>
              </a:rPr>
              <a:t>Use employment histories from Revelio Labs’ LinkedIn data</a:t>
            </a:r>
          </a:p>
          <a:p>
            <a:pPr marL="228600" indent="-228600">
              <a:spcBef>
                <a:spcPts val="800"/>
              </a:spcBef>
              <a:buClr>
                <a:srgbClr val="2683C6"/>
              </a:buClr>
              <a:buFont typeface="Arial"/>
              <a:buChar char="▪"/>
            </a:pPr>
            <a:r>
              <a:rPr sz="2000" b="0">
                <a:solidFill>
                  <a:srgbClr val="404040"/>
                </a:solidFill>
              </a:rPr>
              <a:t>Count employees who remain at the firm on the IPO listing date</a:t>
            </a:r>
          </a:p>
          <a:p>
            <a:pPr marL="228600" indent="-228600">
              <a:spcBef>
                <a:spcPts val="800"/>
              </a:spcBef>
              <a:buClr>
                <a:srgbClr val="2683C6"/>
              </a:buClr>
              <a:buFont typeface="Arial"/>
              <a:buChar char="▪"/>
            </a:pPr>
            <a:r>
              <a:rPr sz="2000" b="0">
                <a:solidFill>
                  <a:srgbClr val="404040"/>
                </a:solidFill>
              </a:rPr>
              <a:t>Exclude interns who have not been formally hired</a:t>
            </a:r>
          </a:p>
          <a:p>
            <a:pPr marL="228600" indent="-228600">
              <a:spcBef>
                <a:spcPts val="800"/>
              </a:spcBef>
              <a:buClr>
                <a:srgbClr val="2683C6"/>
              </a:buClr>
              <a:buFont typeface="Arial"/>
              <a:buChar char="▪"/>
            </a:pPr>
            <a:r>
              <a:rPr sz="2000" b="0">
                <a:solidFill>
                  <a:srgbClr val="404040"/>
                </a:solidFill>
              </a:rPr>
              <a:t>Identify AI skills using the taxonomy in Babina et al. (2024, JFE)</a:t>
            </a:r>
          </a:p>
          <a:p>
            <a:pPr marL="228600" indent="-228600">
              <a:spcBef>
                <a:spcPts val="800"/>
              </a:spcBef>
              <a:buClr>
                <a:srgbClr val="2683C6"/>
              </a:buClr>
              <a:buFont typeface="Arial"/>
              <a:buChar char="▪"/>
            </a:pPr>
            <a:r>
              <a:rPr sz="2000" b="0">
                <a:solidFill>
                  <a:srgbClr val="404040"/>
                </a:solidFill>
              </a:rPr>
              <a:t>Reduce noise in self-reported profiles by requiring:</a:t>
            </a:r>
          </a:p>
          <a:p>
            <a:pPr marL="228600" indent="-228600">
              <a:spcBef>
                <a:spcPts val="800"/>
              </a:spcBef>
              <a:buClr>
                <a:srgbClr val="2683C6"/>
              </a:buClr>
              <a:buFont typeface="Arial"/>
              <a:buChar char="▪"/>
            </a:pPr>
            <a:r>
              <a:rPr sz="2000" b="0">
                <a:solidFill>
                  <a:srgbClr val="404040"/>
                </a:solidFill>
              </a:rPr>
              <a:t>At least one STEM degree</a:t>
            </a:r>
          </a:p>
          <a:p>
            <a:pPr marL="228600" indent="-228600">
              <a:spcBef>
                <a:spcPts val="800"/>
              </a:spcBef>
              <a:buClr>
                <a:srgbClr val="2683C6"/>
              </a:buClr>
              <a:buFont typeface="Arial"/>
              <a:buChar char="▪"/>
            </a:pPr>
            <a:r>
              <a:rPr sz="2000" b="0">
                <a:solidFill>
                  <a:srgbClr val="404040"/>
                </a:solidFill>
              </a:rPr>
              <a:t>A minimum share of AI-related skills among all reported skills</a:t>
            </a:r>
          </a:p>
        </p:txBody>
      </p:sp>
      <p:sp>
        <p:nvSpPr>
          <p:cNvPr id="4" name="footer text"/>
          <p:cNvSpPr txBox="1"/>
          <p:nvPr/>
        </p:nvSpPr>
        <p:spPr>
          <a:xfrm>
            <a:off x="1097280" y="6446520"/>
            <a:ext cx="8686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FFFFFF"/>
                </a:solidFill>
              </a:rPr>
              <a:t>When AI-Washing Meets Initial Public Offerings  |  2026 FMA Annual Meeting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10698480" y="64465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</a:rPr>
              <a:t>A6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AI walk 2: AI patents</a:t>
            </a:r>
          </a:p>
        </p:txBody>
      </p:sp>
      <p:sp>
        <p:nvSpPr>
          <p:cNvPr id="3" name="text23"/>
          <p:cNvSpPr txBox="1"/>
          <p:nvPr/>
        </p:nvSpPr>
        <p:spPr>
          <a:xfrm>
            <a:off x="1097280" y="2103120"/>
            <a:ext cx="10058400" cy="4160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28600" indent="-228600">
              <a:spcBef>
                <a:spcPts val="800"/>
              </a:spcBef>
              <a:buClr>
                <a:srgbClr val="2683C6"/>
              </a:buClr>
              <a:buFont typeface="Arial"/>
              <a:buChar char="▪"/>
            </a:pPr>
            <a:r>
              <a:rPr sz="2000" b="0">
                <a:solidFill>
                  <a:srgbClr val="404040"/>
                </a:solidFill>
              </a:rPr>
              <a:t>Use the USPTO Artificial Intelligence Patent Dataset, which applies algorithms to identify AI patents</a:t>
            </a:r>
          </a:p>
          <a:p>
            <a:pPr marL="640080" indent="-205740">
              <a:spcBef>
                <a:spcPts val="200"/>
              </a:spcBef>
              <a:buClr>
                <a:srgbClr val="2683C6"/>
              </a:buClr>
              <a:buFont typeface="Arial"/>
              <a:buChar char="–"/>
            </a:pPr>
            <a:r>
              <a:rPr sz="1800" b="0">
                <a:solidFill>
                  <a:srgbClr val="404040"/>
                </a:solidFill>
              </a:rPr>
              <a:t>Define a patent as AI-related if its score exceeds the threshold of 0.93</a:t>
            </a:r>
          </a:p>
          <a:p>
            <a:pPr marL="228600" indent="-228600">
              <a:spcBef>
                <a:spcPts val="800"/>
              </a:spcBef>
              <a:buClr>
                <a:srgbClr val="2683C6"/>
              </a:buClr>
              <a:buFont typeface="Arial"/>
              <a:buChar char="▪"/>
            </a:pPr>
            <a:r>
              <a:rPr sz="2000" b="0">
                <a:solidFill>
                  <a:srgbClr val="404040"/>
                </a:solidFill>
              </a:rPr>
              <a:t>Match patents to listing firms using both match-keys from Kogan et al. (2017 QJE) and fuzzy-name matching to cover both granted and pre-granted filings</a:t>
            </a:r>
          </a:p>
          <a:p>
            <a:pPr marL="228600" indent="-228600">
              <a:spcBef>
                <a:spcPts val="800"/>
              </a:spcBef>
              <a:buClr>
                <a:srgbClr val="2683C6"/>
              </a:buClr>
              <a:buFont typeface="Arial"/>
              <a:buChar char="▪"/>
            </a:pPr>
            <a:r>
              <a:rPr sz="2000" b="0">
                <a:solidFill>
                  <a:srgbClr val="404040"/>
                </a:solidFill>
              </a:rPr>
              <a:t>Use the filing date (instead of the granted date) to determine innovation timing (Luong et al., 2017 JFQA)</a:t>
            </a:r>
          </a:p>
          <a:p>
            <a:pPr marL="228600" indent="-228600">
              <a:spcBef>
                <a:spcPts val="800"/>
              </a:spcBef>
              <a:buClr>
                <a:srgbClr val="2683C6"/>
              </a:buClr>
              <a:buFont typeface="Arial"/>
              <a:buChar char="▪"/>
            </a:pPr>
            <a:r>
              <a:rPr sz="2000" b="0">
                <a:solidFill>
                  <a:srgbClr val="404040"/>
                </a:solidFill>
              </a:rPr>
              <a:t>Count AI patent filings within the three-year window prior to the listing date</a:t>
            </a:r>
          </a:p>
        </p:txBody>
      </p:sp>
      <p:sp>
        <p:nvSpPr>
          <p:cNvPr id="4" name="footer text"/>
          <p:cNvSpPr txBox="1"/>
          <p:nvPr/>
        </p:nvSpPr>
        <p:spPr>
          <a:xfrm>
            <a:off x="1097280" y="6446520"/>
            <a:ext cx="8686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FFFFFF"/>
                </a:solidFill>
              </a:rPr>
              <a:t>When AI-Washing Meets Initial Public Offerings  |  2026 FMA Annual Meeting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10698480" y="64465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</a:rPr>
              <a:t>A7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Our measures</a:t>
            </a:r>
          </a:p>
        </p:txBody>
      </p:sp>
      <p:sp>
        <p:nvSpPr>
          <p:cNvPr id="3" name="text24"/>
          <p:cNvSpPr txBox="1"/>
          <p:nvPr/>
        </p:nvSpPr>
        <p:spPr>
          <a:xfrm>
            <a:off x="1097280" y="2103120"/>
            <a:ext cx="10058400" cy="4160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28600" indent="-228600">
              <a:spcBef>
                <a:spcPts val="800"/>
              </a:spcBef>
              <a:buClr>
                <a:srgbClr val="2683C6"/>
              </a:buClr>
              <a:buFont typeface="Arial"/>
              <a:buChar char="▪"/>
            </a:pPr>
            <a:r>
              <a:rPr sz="2000" b="0">
                <a:solidFill>
                  <a:srgbClr val="404040"/>
                </a:solidFill>
              </a:rPr>
              <a:t>AI talk: AI keyword mentions in S-1 registration statements</a:t>
            </a:r>
          </a:p>
          <a:p>
            <a:pPr marL="228600" indent="-228600">
              <a:spcBef>
                <a:spcPts val="800"/>
              </a:spcBef>
              <a:buClr>
                <a:srgbClr val="2683C6"/>
              </a:buClr>
              <a:buFont typeface="Arial"/>
              <a:buChar char="▪"/>
            </a:pPr>
            <a:r>
              <a:rPr sz="2000" b="0">
                <a:solidFill>
                  <a:srgbClr val="404040"/>
                </a:solidFill>
              </a:rPr>
              <a:t>AI walk: AI employees at listing and AI patent filings in the prior three years</a:t>
            </a:r>
          </a:p>
          <a:p>
            <a:pPr marL="228600" indent="-228600">
              <a:spcBef>
                <a:spcPts val="800"/>
              </a:spcBef>
              <a:buClr>
                <a:srgbClr val="2683C6"/>
              </a:buClr>
              <a:buFont typeface="Arial"/>
              <a:buChar char="▪"/>
            </a:pPr>
            <a:r>
              <a:rPr sz="2000" b="0">
                <a:solidFill>
                  <a:srgbClr val="404040"/>
                </a:solidFill>
              </a:rPr>
              <a:t>An AI-washing IPO meets all three conditions:</a:t>
            </a:r>
          </a:p>
          <a:p>
            <a:pPr marL="640080" indent="-205740">
              <a:spcBef>
                <a:spcPts val="200"/>
              </a:spcBef>
              <a:buClr>
                <a:srgbClr val="2683C6"/>
              </a:buClr>
              <a:buFont typeface="Arial"/>
              <a:buChar char="–"/>
            </a:pPr>
            <a:r>
              <a:rPr sz="1800" b="0">
                <a:solidFill>
                  <a:srgbClr val="404040"/>
                </a:solidFill>
              </a:rPr>
              <a:t>AI talk exceeds its FF12 industry’s historical 95th percentile (2007 to t − 1)</a:t>
            </a:r>
          </a:p>
          <a:p>
            <a:pPr marL="640080" indent="-205740">
              <a:spcBef>
                <a:spcPts val="200"/>
              </a:spcBef>
              <a:buClr>
                <a:srgbClr val="2683C6"/>
              </a:buClr>
              <a:buFont typeface="Arial"/>
              <a:buChar char="–"/>
            </a:pPr>
            <a:r>
              <a:rPr sz="1800" b="0">
                <a:solidFill>
                  <a:srgbClr val="404040"/>
                </a:solidFill>
              </a:rPr>
              <a:t>No observable AI employees at listing</a:t>
            </a:r>
          </a:p>
          <a:p>
            <a:pPr marL="640080" indent="-205740">
              <a:spcBef>
                <a:spcPts val="200"/>
              </a:spcBef>
              <a:buClr>
                <a:srgbClr val="2683C6"/>
              </a:buClr>
              <a:buFont typeface="Arial"/>
              <a:buChar char="–"/>
            </a:pPr>
            <a:r>
              <a:rPr sz="1800" b="0">
                <a:solidFill>
                  <a:srgbClr val="404040"/>
                </a:solidFill>
              </a:rPr>
              <a:t>No AI patent filings in the three years through listing</a:t>
            </a:r>
          </a:p>
          <a:p>
            <a:pPr marL="228600" indent="-228600">
              <a:spcBef>
                <a:spcPts val="800"/>
              </a:spcBef>
              <a:buClr>
                <a:srgbClr val="2683C6"/>
              </a:buClr>
              <a:buFont typeface="Arial"/>
              <a:buChar char="▪"/>
            </a:pPr>
            <a:r>
              <a:rPr sz="2000" b="0">
                <a:solidFill>
                  <a:srgbClr val="404040"/>
                </a:solidFill>
              </a:rPr>
              <a:t>An AI-investment IPO has at least one AI employee or AI patent filing</a:t>
            </a:r>
          </a:p>
          <a:p>
            <a:pPr marL="228600" indent="-228600">
              <a:spcBef>
                <a:spcPts val="800"/>
              </a:spcBef>
              <a:buClr>
                <a:srgbClr val="2683C6"/>
              </a:buClr>
              <a:buFont typeface="Arial"/>
              <a:buChar char="▪"/>
            </a:pPr>
            <a:r>
              <a:rPr sz="2000" b="0">
                <a:solidFill>
                  <a:srgbClr val="404040"/>
                </a:solidFill>
              </a:rPr>
              <a:t>Remaining issuers are non-AI IPOs</a:t>
            </a:r>
          </a:p>
        </p:txBody>
      </p:sp>
      <p:sp>
        <p:nvSpPr>
          <p:cNvPr id="4" name="footer text"/>
          <p:cNvSpPr txBox="1"/>
          <p:nvPr/>
        </p:nvSpPr>
        <p:spPr>
          <a:xfrm>
            <a:off x="1097280" y="6446520"/>
            <a:ext cx="8686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FFFFFF"/>
                </a:solidFill>
              </a:rPr>
              <a:t>When AI-Washing Meets Initial Public Offerings  |  2026 FMA Annual Meeting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10698480" y="64465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</a:rPr>
              <a:t>A8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Industry distribution of AI IPOs</a:t>
            </a:r>
          </a:p>
        </p:txBody>
      </p:sp>
      <p:graphicFrame>
        <p:nvGraphicFramePr>
          <p:cNvPr id="7" name="图表 6">
            <a:extLst>
              <a:ext uri="{FF2B5EF4-FFF2-40B4-BE49-F238E27FC236}">
                <a16:creationId xmlns:a16="http://schemas.microsoft.com/office/drawing/2014/main" id="{EDE68A84-F86D-060C-8353-6178DB73673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54253775"/>
              </p:ext>
            </p:extLst>
          </p:nvPr>
        </p:nvGraphicFramePr>
        <p:xfrm>
          <a:off x="1938587" y="2103120"/>
          <a:ext cx="8375785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footer text"/>
          <p:cNvSpPr txBox="1"/>
          <p:nvPr/>
        </p:nvSpPr>
        <p:spPr>
          <a:xfrm>
            <a:off x="1097280" y="6446520"/>
            <a:ext cx="8686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FFFFFF"/>
                </a:solidFill>
              </a:rPr>
              <a:t>When AI-Washing Meets Initial Public Offerings  |  2026 FMA Annual Meeting</a:t>
            </a:r>
          </a:p>
        </p:txBody>
      </p:sp>
      <p:sp>
        <p:nvSpPr>
          <p:cNvPr id="9" name="slide number"/>
          <p:cNvSpPr txBox="1"/>
          <p:nvPr/>
        </p:nvSpPr>
        <p:spPr>
          <a:xfrm>
            <a:off x="10698480" y="64465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</a:rPr>
              <a:t>A9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Summary statistics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83D9DE18-7EE7-83FF-7ACA-D5A2CEDC08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2103753"/>
              </p:ext>
            </p:extLst>
          </p:nvPr>
        </p:nvGraphicFramePr>
        <p:xfrm>
          <a:off x="1102823" y="4155642"/>
          <a:ext cx="10047313" cy="1723114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1636385">
                  <a:extLst>
                    <a:ext uri="{9D8B030D-6E8A-4147-A177-3AD203B41FA5}">
                      <a16:colId xmlns:a16="http://schemas.microsoft.com/office/drawing/2014/main" val="1677599102"/>
                    </a:ext>
                  </a:extLst>
                </a:gridCol>
                <a:gridCol w="1051366">
                  <a:extLst>
                    <a:ext uri="{9D8B030D-6E8A-4147-A177-3AD203B41FA5}">
                      <a16:colId xmlns:a16="http://schemas.microsoft.com/office/drawing/2014/main" val="1607459720"/>
                    </a:ext>
                  </a:extLst>
                </a:gridCol>
                <a:gridCol w="1051366">
                  <a:extLst>
                    <a:ext uri="{9D8B030D-6E8A-4147-A177-3AD203B41FA5}">
                      <a16:colId xmlns:a16="http://schemas.microsoft.com/office/drawing/2014/main" val="1252382290"/>
                    </a:ext>
                  </a:extLst>
                </a:gridCol>
                <a:gridCol w="1051366">
                  <a:extLst>
                    <a:ext uri="{9D8B030D-6E8A-4147-A177-3AD203B41FA5}">
                      <a16:colId xmlns:a16="http://schemas.microsoft.com/office/drawing/2014/main" val="2161486503"/>
                    </a:ext>
                  </a:extLst>
                </a:gridCol>
                <a:gridCol w="1051366">
                  <a:extLst>
                    <a:ext uri="{9D8B030D-6E8A-4147-A177-3AD203B41FA5}">
                      <a16:colId xmlns:a16="http://schemas.microsoft.com/office/drawing/2014/main" val="927235405"/>
                    </a:ext>
                  </a:extLst>
                </a:gridCol>
                <a:gridCol w="1051366">
                  <a:extLst>
                    <a:ext uri="{9D8B030D-6E8A-4147-A177-3AD203B41FA5}">
                      <a16:colId xmlns:a16="http://schemas.microsoft.com/office/drawing/2014/main" val="2078668549"/>
                    </a:ext>
                  </a:extLst>
                </a:gridCol>
                <a:gridCol w="1051366">
                  <a:extLst>
                    <a:ext uri="{9D8B030D-6E8A-4147-A177-3AD203B41FA5}">
                      <a16:colId xmlns:a16="http://schemas.microsoft.com/office/drawing/2014/main" val="1572354508"/>
                    </a:ext>
                  </a:extLst>
                </a:gridCol>
                <a:gridCol w="1051366">
                  <a:extLst>
                    <a:ext uri="{9D8B030D-6E8A-4147-A177-3AD203B41FA5}">
                      <a16:colId xmlns:a16="http://schemas.microsoft.com/office/drawing/2014/main" val="1519491381"/>
                    </a:ext>
                  </a:extLst>
                </a:gridCol>
                <a:gridCol w="1051366">
                  <a:extLst>
                    <a:ext uri="{9D8B030D-6E8A-4147-A177-3AD203B41FA5}">
                      <a16:colId xmlns:a16="http://schemas.microsoft.com/office/drawing/2014/main" val="3104164352"/>
                    </a:ext>
                  </a:extLst>
                </a:gridCol>
              </a:tblGrid>
              <a:tr h="225965">
                <a:tc gridSpan="9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50" b="1" kern="100" dirty="0">
                          <a:solidFill>
                            <a:schemeClr val="tx1"/>
                          </a:solidFill>
                          <a:effectLst/>
                          <a:cs typeface="+mn-cs"/>
                        </a:rPr>
                        <a:t>Panel A2. Summary Statistics for AI-related Characteristics</a:t>
                      </a:r>
                      <a:endParaRPr lang="zh-CN" altLang="en-US" sz="1500" b="1" kern="100" dirty="0">
                        <a:solidFill>
                          <a:schemeClr val="tx1"/>
                        </a:solidFill>
                        <a:effectLst/>
                        <a:cs typeface="+mn-cs"/>
                      </a:endParaRPr>
                    </a:p>
                  </a:txBody>
                  <a:tcPr marL="22860" marR="22860" marT="4572" marB="457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1150" kern="100" dirty="0">
                        <a:solidFill>
                          <a:schemeClr val="tx1"/>
                        </a:solidFill>
                        <a:effectLst/>
                        <a:cs typeface="+mn-cs"/>
                      </a:endParaRPr>
                    </a:p>
                  </a:txBody>
                  <a:tcPr marL="22860" marR="22860" marT="4572" marB="457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1150" kern="100" dirty="0">
                        <a:solidFill>
                          <a:schemeClr val="tx1"/>
                        </a:solidFill>
                        <a:effectLst/>
                        <a:cs typeface="+mn-cs"/>
                      </a:endParaRPr>
                    </a:p>
                  </a:txBody>
                  <a:tcPr marL="22860" marR="22860" marT="4572" marB="457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zh-CN" sz="1150" kern="100" dirty="0">
                        <a:solidFill>
                          <a:schemeClr val="tx1"/>
                        </a:solidFill>
                        <a:effectLst/>
                        <a:cs typeface="+mn-cs"/>
                      </a:endParaRPr>
                    </a:p>
                  </a:txBody>
                  <a:tcPr marL="22860" marR="22860" marT="4572" marB="457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1150" kern="100" dirty="0">
                        <a:solidFill>
                          <a:schemeClr val="tx1"/>
                        </a:solidFill>
                        <a:effectLst/>
                        <a:cs typeface="+mn-cs"/>
                      </a:endParaRPr>
                    </a:p>
                  </a:txBody>
                  <a:tcPr marL="22860" marR="22860" marT="4572" marB="457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1150" kern="100" dirty="0">
                        <a:solidFill>
                          <a:schemeClr val="tx1"/>
                        </a:solidFill>
                        <a:effectLst/>
                        <a:cs typeface="+mn-cs"/>
                      </a:endParaRPr>
                    </a:p>
                  </a:txBody>
                  <a:tcPr marL="22860" marR="22860" marT="4572" marB="457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1150" kern="100" dirty="0">
                        <a:solidFill>
                          <a:schemeClr val="tx1"/>
                        </a:solidFill>
                        <a:effectLst/>
                        <a:cs typeface="+mn-cs"/>
                      </a:endParaRPr>
                    </a:p>
                  </a:txBody>
                  <a:tcPr marL="22860" marR="22860" marT="4572" marB="457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1150" kern="100" dirty="0">
                        <a:solidFill>
                          <a:schemeClr val="tx1"/>
                        </a:solidFill>
                        <a:effectLst/>
                        <a:cs typeface="+mn-cs"/>
                      </a:endParaRPr>
                    </a:p>
                  </a:txBody>
                  <a:tcPr marL="22860" marR="22860" marT="4572" marB="457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1150" kern="100" dirty="0">
                        <a:solidFill>
                          <a:schemeClr val="tx1"/>
                        </a:solidFill>
                        <a:effectLst/>
                        <a:cs typeface="+mn-cs"/>
                      </a:endParaRPr>
                    </a:p>
                  </a:txBody>
                  <a:tcPr marL="22860" marR="22860" marT="4572" marB="457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10858479"/>
                  </a:ext>
                </a:extLst>
              </a:tr>
              <a:tr h="22596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50" kern="100" dirty="0">
                          <a:solidFill>
                            <a:schemeClr val="tx1"/>
                          </a:solidFill>
                          <a:effectLst/>
                          <a:cs typeface="+mn-cs"/>
                        </a:rPr>
                        <a:t>  </a:t>
                      </a:r>
                      <a:endParaRPr lang="zh-CN" altLang="en-US" sz="1500" kern="100" dirty="0">
                        <a:solidFill>
                          <a:schemeClr val="tx1"/>
                        </a:solidFill>
                        <a:effectLst/>
                        <a:cs typeface="+mn-cs"/>
                      </a:endParaRPr>
                    </a:p>
                  </a:txBody>
                  <a:tcPr marL="22860" marR="22860" marT="4572" marB="457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50" kern="100" dirty="0">
                          <a:solidFill>
                            <a:schemeClr val="tx1"/>
                          </a:solidFill>
                          <a:effectLst/>
                          <a:cs typeface="+mn-cs"/>
                        </a:rPr>
                        <a:t>N</a:t>
                      </a:r>
                      <a:endParaRPr lang="zh-CN" altLang="en-US" sz="1500" kern="100" dirty="0">
                        <a:solidFill>
                          <a:schemeClr val="tx1"/>
                        </a:solidFill>
                        <a:effectLst/>
                        <a:cs typeface="+mn-cs"/>
                      </a:endParaRPr>
                    </a:p>
                  </a:txBody>
                  <a:tcPr marL="22860" marR="22860" marT="4572" marB="457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50" kern="100" dirty="0">
                          <a:solidFill>
                            <a:schemeClr val="tx1"/>
                          </a:solidFill>
                          <a:effectLst/>
                          <a:cs typeface="+mn-cs"/>
                        </a:rPr>
                        <a:t>Mean</a:t>
                      </a:r>
                      <a:endParaRPr lang="zh-CN" altLang="en-US" sz="1500" kern="100" dirty="0">
                        <a:solidFill>
                          <a:schemeClr val="tx1"/>
                        </a:solidFill>
                        <a:effectLst/>
                        <a:cs typeface="+mn-cs"/>
                      </a:endParaRPr>
                    </a:p>
                  </a:txBody>
                  <a:tcPr marL="22860" marR="22860" marT="4572" marB="457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550" kern="100" dirty="0">
                          <a:solidFill>
                            <a:schemeClr val="tx1"/>
                          </a:solidFill>
                          <a:effectLst/>
                          <a:cs typeface="+mn-cs"/>
                        </a:rPr>
                        <a:t>STD</a:t>
                      </a:r>
                      <a:endParaRPr lang="zh-CN" altLang="zh-CN" sz="1500" kern="100" dirty="0">
                        <a:solidFill>
                          <a:schemeClr val="tx1"/>
                        </a:solidFill>
                        <a:effectLst/>
                        <a:cs typeface="+mn-cs"/>
                      </a:endParaRPr>
                    </a:p>
                  </a:txBody>
                  <a:tcPr marL="22860" marR="22860" marT="4572" marB="457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50" kern="100" dirty="0">
                          <a:solidFill>
                            <a:schemeClr val="tx1"/>
                          </a:solidFill>
                          <a:effectLst/>
                          <a:cs typeface="+mn-cs"/>
                        </a:rPr>
                        <a:t>10%</a:t>
                      </a:r>
                      <a:endParaRPr lang="zh-CN" altLang="en-US" sz="1500" kern="100" dirty="0">
                        <a:solidFill>
                          <a:schemeClr val="tx1"/>
                        </a:solidFill>
                        <a:effectLst/>
                        <a:cs typeface="+mn-cs"/>
                      </a:endParaRPr>
                    </a:p>
                  </a:txBody>
                  <a:tcPr marL="22860" marR="22860" marT="4572" marB="457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50" kern="100" dirty="0">
                          <a:solidFill>
                            <a:schemeClr val="tx1"/>
                          </a:solidFill>
                          <a:effectLst/>
                          <a:cs typeface="+mn-cs"/>
                        </a:rPr>
                        <a:t>25%</a:t>
                      </a:r>
                      <a:endParaRPr lang="zh-CN" altLang="en-US" sz="1500" kern="100" dirty="0">
                        <a:solidFill>
                          <a:schemeClr val="tx1"/>
                        </a:solidFill>
                        <a:effectLst/>
                        <a:cs typeface="+mn-cs"/>
                      </a:endParaRPr>
                    </a:p>
                  </a:txBody>
                  <a:tcPr marL="22860" marR="22860" marT="4572" marB="457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50" kern="100" dirty="0">
                          <a:solidFill>
                            <a:schemeClr val="tx1"/>
                          </a:solidFill>
                          <a:effectLst/>
                          <a:cs typeface="+mn-cs"/>
                        </a:rPr>
                        <a:t>Median</a:t>
                      </a:r>
                      <a:endParaRPr lang="zh-CN" altLang="en-US" sz="1500" kern="100" dirty="0">
                        <a:solidFill>
                          <a:schemeClr val="tx1"/>
                        </a:solidFill>
                        <a:effectLst/>
                        <a:cs typeface="+mn-cs"/>
                      </a:endParaRPr>
                    </a:p>
                  </a:txBody>
                  <a:tcPr marL="22860" marR="22860" marT="4572" marB="457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50" kern="100" dirty="0">
                          <a:solidFill>
                            <a:schemeClr val="tx1"/>
                          </a:solidFill>
                          <a:effectLst/>
                          <a:cs typeface="+mn-cs"/>
                        </a:rPr>
                        <a:t>75%</a:t>
                      </a:r>
                      <a:endParaRPr lang="zh-CN" altLang="en-US" sz="1500" kern="100" dirty="0">
                        <a:solidFill>
                          <a:schemeClr val="tx1"/>
                        </a:solidFill>
                        <a:effectLst/>
                        <a:cs typeface="+mn-cs"/>
                      </a:endParaRPr>
                    </a:p>
                  </a:txBody>
                  <a:tcPr marL="22860" marR="22860" marT="4572" marB="457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50" kern="100" dirty="0">
                          <a:solidFill>
                            <a:schemeClr val="tx1"/>
                          </a:solidFill>
                          <a:effectLst/>
                          <a:cs typeface="+mn-cs"/>
                        </a:rPr>
                        <a:t>90%</a:t>
                      </a:r>
                      <a:endParaRPr lang="zh-CN" altLang="en-US" sz="1500" kern="100" dirty="0">
                        <a:solidFill>
                          <a:schemeClr val="tx1"/>
                        </a:solidFill>
                        <a:effectLst/>
                        <a:cs typeface="+mn-cs"/>
                      </a:endParaRPr>
                    </a:p>
                  </a:txBody>
                  <a:tcPr marL="22860" marR="22860" marT="4572" marB="457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45525641"/>
                  </a:ext>
                </a:extLst>
              </a:tr>
              <a:tr h="22596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50" i="1" kern="100" dirty="0">
                          <a:solidFill>
                            <a:schemeClr val="tx1"/>
                          </a:solidFill>
                          <a:effectLst/>
                          <a:cs typeface="+mn-cs"/>
                        </a:rPr>
                        <a:t>AIWashing</a:t>
                      </a:r>
                      <a:endParaRPr lang="zh-CN" altLang="en-US" sz="1500" i="1" kern="100" dirty="0">
                        <a:solidFill>
                          <a:schemeClr val="tx1"/>
                        </a:solidFill>
                        <a:effectLst/>
                        <a:cs typeface="+mn-cs"/>
                      </a:endParaRPr>
                    </a:p>
                  </a:txBody>
                  <a:tcPr marL="22860" marR="22860" marT="4572" marB="457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550" kern="100" dirty="0">
                          <a:solidFill>
                            <a:schemeClr val="tx1"/>
                          </a:solidFill>
                          <a:effectLst/>
                          <a:cs typeface="+mn-cs"/>
                        </a:rPr>
                        <a:t>1,671</a:t>
                      </a:r>
                    </a:p>
                  </a:txBody>
                  <a:tcPr marL="22860" marR="22860" marT="4572" marB="457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550" kern="100" dirty="0">
                          <a:solidFill>
                            <a:schemeClr val="tx1"/>
                          </a:solidFill>
                          <a:effectLst/>
                          <a:cs typeface="+mn-cs"/>
                        </a:rPr>
                        <a:t>0.064</a:t>
                      </a:r>
                    </a:p>
                  </a:txBody>
                  <a:tcPr marL="22860" marR="22860" marT="4572" marB="457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550" kern="100" dirty="0">
                          <a:solidFill>
                            <a:schemeClr val="tx1"/>
                          </a:solidFill>
                          <a:effectLst/>
                          <a:cs typeface="+mn-cs"/>
                        </a:rPr>
                        <a:t>0.245</a:t>
                      </a:r>
                    </a:p>
                  </a:txBody>
                  <a:tcPr marL="22860" marR="22860" marT="4572" marB="457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550" kern="100" dirty="0">
                          <a:solidFill>
                            <a:schemeClr val="tx1"/>
                          </a:solidFill>
                          <a:effectLst/>
                          <a:cs typeface="+mn-cs"/>
                        </a:rPr>
                        <a:t>0.000</a:t>
                      </a:r>
                    </a:p>
                  </a:txBody>
                  <a:tcPr marL="22860" marR="22860" marT="4572" marB="457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550" kern="100" dirty="0">
                          <a:solidFill>
                            <a:schemeClr val="tx1"/>
                          </a:solidFill>
                          <a:effectLst/>
                          <a:cs typeface="+mn-cs"/>
                        </a:rPr>
                        <a:t>0.000</a:t>
                      </a:r>
                    </a:p>
                  </a:txBody>
                  <a:tcPr marL="22860" marR="22860" marT="4572" marB="457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550" kern="100" dirty="0">
                          <a:solidFill>
                            <a:schemeClr val="tx1"/>
                          </a:solidFill>
                          <a:effectLst/>
                          <a:cs typeface="+mn-cs"/>
                        </a:rPr>
                        <a:t>0.000</a:t>
                      </a:r>
                    </a:p>
                  </a:txBody>
                  <a:tcPr marL="22860" marR="22860" marT="4572" marB="457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550" kern="100" dirty="0">
                          <a:solidFill>
                            <a:schemeClr val="tx1"/>
                          </a:solidFill>
                          <a:effectLst/>
                          <a:cs typeface="+mn-cs"/>
                        </a:rPr>
                        <a:t>0.000</a:t>
                      </a:r>
                    </a:p>
                  </a:txBody>
                  <a:tcPr marL="22860" marR="22860" marT="4572" marB="457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550" kern="100" dirty="0">
                          <a:solidFill>
                            <a:schemeClr val="tx1"/>
                          </a:solidFill>
                          <a:effectLst/>
                          <a:cs typeface="+mn-cs"/>
                        </a:rPr>
                        <a:t>0.000</a:t>
                      </a:r>
                    </a:p>
                  </a:txBody>
                  <a:tcPr marL="22860" marR="22860" marT="4572" marB="457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21169254"/>
                  </a:ext>
                </a:extLst>
              </a:tr>
              <a:tr h="22596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50" i="1" kern="100" dirty="0">
                          <a:solidFill>
                            <a:schemeClr val="tx1"/>
                          </a:solidFill>
                          <a:effectLst/>
                          <a:cs typeface="+mn-cs"/>
                        </a:rPr>
                        <a:t>AIInvestment</a:t>
                      </a:r>
                      <a:endParaRPr lang="zh-CN" altLang="en-US" sz="1500" i="1" kern="100" dirty="0">
                        <a:solidFill>
                          <a:schemeClr val="tx1"/>
                        </a:solidFill>
                        <a:effectLst/>
                        <a:cs typeface="+mn-cs"/>
                      </a:endParaRPr>
                    </a:p>
                  </a:txBody>
                  <a:tcPr marL="22860" marR="22860" marT="4572" marB="457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550" kern="100" dirty="0">
                          <a:solidFill>
                            <a:schemeClr val="tx1"/>
                          </a:solidFill>
                          <a:effectLst/>
                          <a:cs typeface="+mn-cs"/>
                        </a:rPr>
                        <a:t>1,671</a:t>
                      </a:r>
                    </a:p>
                  </a:txBody>
                  <a:tcPr marL="22860" marR="22860" marT="4572" marB="457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550" kern="100" dirty="0">
                          <a:solidFill>
                            <a:schemeClr val="tx1"/>
                          </a:solidFill>
                          <a:effectLst/>
                          <a:cs typeface="+mn-cs"/>
                        </a:rPr>
                        <a:t>0.235</a:t>
                      </a:r>
                    </a:p>
                  </a:txBody>
                  <a:tcPr marL="22860" marR="22860" marT="4572" marB="457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550" kern="100" dirty="0">
                          <a:solidFill>
                            <a:schemeClr val="tx1"/>
                          </a:solidFill>
                          <a:effectLst/>
                          <a:cs typeface="+mn-cs"/>
                        </a:rPr>
                        <a:t>0.424</a:t>
                      </a:r>
                    </a:p>
                  </a:txBody>
                  <a:tcPr marL="22860" marR="22860" marT="4572" marB="457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550" kern="100" dirty="0">
                          <a:solidFill>
                            <a:schemeClr val="tx1"/>
                          </a:solidFill>
                          <a:effectLst/>
                          <a:cs typeface="+mn-cs"/>
                        </a:rPr>
                        <a:t>0.000</a:t>
                      </a:r>
                    </a:p>
                  </a:txBody>
                  <a:tcPr marL="22860" marR="22860" marT="4572" marB="457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550" kern="100" dirty="0">
                          <a:solidFill>
                            <a:schemeClr val="tx1"/>
                          </a:solidFill>
                          <a:effectLst/>
                          <a:cs typeface="+mn-cs"/>
                        </a:rPr>
                        <a:t>0.000</a:t>
                      </a:r>
                    </a:p>
                  </a:txBody>
                  <a:tcPr marL="22860" marR="22860" marT="4572" marB="457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550" kern="100" dirty="0">
                          <a:solidFill>
                            <a:schemeClr val="tx1"/>
                          </a:solidFill>
                          <a:effectLst/>
                          <a:cs typeface="+mn-cs"/>
                        </a:rPr>
                        <a:t>0.000</a:t>
                      </a:r>
                    </a:p>
                  </a:txBody>
                  <a:tcPr marL="22860" marR="22860" marT="4572" marB="457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550" kern="100" dirty="0">
                          <a:solidFill>
                            <a:schemeClr val="tx1"/>
                          </a:solidFill>
                          <a:effectLst/>
                          <a:cs typeface="+mn-cs"/>
                        </a:rPr>
                        <a:t>0.000</a:t>
                      </a:r>
                    </a:p>
                  </a:txBody>
                  <a:tcPr marL="22860" marR="22860" marT="4572" marB="457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550" kern="100" dirty="0">
                          <a:solidFill>
                            <a:schemeClr val="tx1"/>
                          </a:solidFill>
                          <a:effectLst/>
                          <a:cs typeface="+mn-cs"/>
                        </a:rPr>
                        <a:t>1.000</a:t>
                      </a:r>
                    </a:p>
                  </a:txBody>
                  <a:tcPr marL="22860" marR="22860" marT="4572" marB="457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16188182"/>
                  </a:ext>
                </a:extLst>
              </a:tr>
              <a:tr h="22596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50" i="1" kern="100" dirty="0">
                          <a:solidFill>
                            <a:schemeClr val="tx1"/>
                          </a:solidFill>
                          <a:effectLst/>
                          <a:cs typeface="+mn-cs"/>
                        </a:rPr>
                        <a:t>AIWord</a:t>
                      </a:r>
                      <a:endParaRPr lang="zh-CN" altLang="en-US" sz="1500" i="1" kern="100" dirty="0">
                        <a:solidFill>
                          <a:schemeClr val="tx1"/>
                        </a:solidFill>
                        <a:effectLst/>
                        <a:cs typeface="+mn-cs"/>
                      </a:endParaRPr>
                    </a:p>
                  </a:txBody>
                  <a:tcPr marL="22860" marR="22860" marT="4572" marB="457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550" kern="100" dirty="0">
                          <a:solidFill>
                            <a:schemeClr val="tx1"/>
                          </a:solidFill>
                          <a:effectLst/>
                          <a:cs typeface="+mn-cs"/>
                        </a:rPr>
                        <a:t>1,671</a:t>
                      </a:r>
                    </a:p>
                  </a:txBody>
                  <a:tcPr marL="22860" marR="22860" marT="4572" marB="457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50" kern="100" dirty="0">
                          <a:solidFill>
                            <a:schemeClr val="tx1"/>
                          </a:solidFill>
                          <a:effectLst/>
                          <a:cs typeface="+mn-cs"/>
                        </a:rPr>
                        <a:t>2.841</a:t>
                      </a:r>
                      <a:endParaRPr lang="zh-CN" altLang="en-US" sz="1500" kern="100" dirty="0">
                        <a:solidFill>
                          <a:schemeClr val="tx1"/>
                        </a:solidFill>
                        <a:effectLst/>
                        <a:cs typeface="+mn-cs"/>
                      </a:endParaRPr>
                    </a:p>
                  </a:txBody>
                  <a:tcPr marL="22860" marR="22860" marT="4572" marB="457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50" kern="100" dirty="0">
                          <a:solidFill>
                            <a:schemeClr val="tx1"/>
                          </a:solidFill>
                          <a:effectLst/>
                          <a:cs typeface="+mn-cs"/>
                        </a:rPr>
                        <a:t>8.603</a:t>
                      </a:r>
                      <a:endParaRPr lang="zh-CN" altLang="en-US" sz="1500" kern="100" dirty="0">
                        <a:solidFill>
                          <a:schemeClr val="tx1"/>
                        </a:solidFill>
                        <a:effectLst/>
                        <a:cs typeface="+mn-cs"/>
                      </a:endParaRPr>
                    </a:p>
                  </a:txBody>
                  <a:tcPr marL="22860" marR="22860" marT="4572" marB="457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50" kern="100" dirty="0">
                          <a:solidFill>
                            <a:schemeClr val="tx1"/>
                          </a:solidFill>
                          <a:effectLst/>
                          <a:cs typeface="+mn-cs"/>
                        </a:rPr>
                        <a:t>0.000</a:t>
                      </a:r>
                      <a:endParaRPr lang="zh-CN" altLang="en-US" sz="1500" kern="100" dirty="0">
                        <a:solidFill>
                          <a:schemeClr val="tx1"/>
                        </a:solidFill>
                        <a:effectLst/>
                        <a:cs typeface="+mn-cs"/>
                      </a:endParaRPr>
                    </a:p>
                  </a:txBody>
                  <a:tcPr marL="22860" marR="22860" marT="4572" marB="457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50" kern="100" dirty="0">
                          <a:solidFill>
                            <a:schemeClr val="tx1"/>
                          </a:solidFill>
                          <a:effectLst/>
                          <a:cs typeface="+mn-cs"/>
                        </a:rPr>
                        <a:t>0.000</a:t>
                      </a:r>
                      <a:endParaRPr lang="zh-CN" altLang="en-US" sz="1500" kern="100" dirty="0">
                        <a:solidFill>
                          <a:schemeClr val="tx1"/>
                        </a:solidFill>
                        <a:effectLst/>
                        <a:cs typeface="+mn-cs"/>
                      </a:endParaRPr>
                    </a:p>
                  </a:txBody>
                  <a:tcPr marL="22860" marR="22860" marT="4572" marB="457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50" kern="100" dirty="0">
                          <a:solidFill>
                            <a:schemeClr val="tx1"/>
                          </a:solidFill>
                          <a:effectLst/>
                          <a:cs typeface="+mn-cs"/>
                        </a:rPr>
                        <a:t>0.000</a:t>
                      </a:r>
                      <a:endParaRPr lang="zh-CN" altLang="en-US" sz="1500" kern="100" dirty="0">
                        <a:solidFill>
                          <a:schemeClr val="tx1"/>
                        </a:solidFill>
                        <a:effectLst/>
                        <a:cs typeface="+mn-cs"/>
                      </a:endParaRPr>
                    </a:p>
                  </a:txBody>
                  <a:tcPr marL="22860" marR="22860" marT="4572" marB="457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50" kern="100" dirty="0">
                          <a:solidFill>
                            <a:schemeClr val="tx1"/>
                          </a:solidFill>
                          <a:effectLst/>
                          <a:cs typeface="+mn-cs"/>
                        </a:rPr>
                        <a:t>1.000</a:t>
                      </a:r>
                      <a:endParaRPr lang="zh-CN" altLang="en-US" sz="1500" kern="100" dirty="0">
                        <a:solidFill>
                          <a:schemeClr val="tx1"/>
                        </a:solidFill>
                        <a:effectLst/>
                        <a:cs typeface="+mn-cs"/>
                      </a:endParaRPr>
                    </a:p>
                  </a:txBody>
                  <a:tcPr marL="22860" marR="22860" marT="4572" marB="457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50" kern="100" dirty="0">
                          <a:solidFill>
                            <a:schemeClr val="tx1"/>
                          </a:solidFill>
                          <a:effectLst/>
                          <a:cs typeface="+mn-cs"/>
                        </a:rPr>
                        <a:t>8.000</a:t>
                      </a:r>
                      <a:endParaRPr lang="zh-CN" altLang="en-US" sz="1500" kern="100" dirty="0">
                        <a:solidFill>
                          <a:schemeClr val="tx1"/>
                        </a:solidFill>
                        <a:effectLst/>
                        <a:cs typeface="+mn-cs"/>
                      </a:endParaRPr>
                    </a:p>
                  </a:txBody>
                  <a:tcPr marL="22860" marR="22860" marT="4572" marB="457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81326396"/>
                  </a:ext>
                </a:extLst>
              </a:tr>
              <a:tr h="22596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50" i="1" kern="100" dirty="0">
                          <a:solidFill>
                            <a:schemeClr val="tx1"/>
                          </a:solidFill>
                          <a:effectLst/>
                          <a:cs typeface="+mn-cs"/>
                        </a:rPr>
                        <a:t>AIPatent</a:t>
                      </a:r>
                      <a:endParaRPr lang="zh-CN" altLang="en-US" sz="1500" i="1" kern="100" dirty="0">
                        <a:solidFill>
                          <a:schemeClr val="tx1"/>
                        </a:solidFill>
                        <a:effectLst/>
                        <a:cs typeface="+mn-cs"/>
                      </a:endParaRPr>
                    </a:p>
                  </a:txBody>
                  <a:tcPr marL="22860" marR="22860" marT="4572" marB="457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550" kern="100" dirty="0">
                          <a:solidFill>
                            <a:schemeClr val="tx1"/>
                          </a:solidFill>
                          <a:effectLst/>
                          <a:cs typeface="+mn-cs"/>
                        </a:rPr>
                        <a:t>1,671</a:t>
                      </a:r>
                    </a:p>
                  </a:txBody>
                  <a:tcPr marL="22860" marR="22860" marT="4572" marB="457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550" kern="100">
                          <a:solidFill>
                            <a:schemeClr val="tx1"/>
                          </a:solidFill>
                          <a:effectLst/>
                          <a:cs typeface="+mn-cs"/>
                        </a:rPr>
                        <a:t>1.530</a:t>
                      </a:r>
                    </a:p>
                  </a:txBody>
                  <a:tcPr marL="22860" marR="22860" marT="4572" marB="457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550" kern="100" dirty="0">
                          <a:solidFill>
                            <a:schemeClr val="tx1"/>
                          </a:solidFill>
                          <a:effectLst/>
                          <a:cs typeface="+mn-cs"/>
                        </a:rPr>
                        <a:t>6.050</a:t>
                      </a:r>
                    </a:p>
                  </a:txBody>
                  <a:tcPr marL="22860" marR="22860" marT="4572" marB="457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550" kern="100" dirty="0">
                          <a:solidFill>
                            <a:schemeClr val="tx1"/>
                          </a:solidFill>
                          <a:effectLst/>
                          <a:cs typeface="+mn-cs"/>
                        </a:rPr>
                        <a:t>0.000</a:t>
                      </a:r>
                    </a:p>
                  </a:txBody>
                  <a:tcPr marL="22860" marR="22860" marT="4572" marB="457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550" kern="100" dirty="0">
                          <a:solidFill>
                            <a:schemeClr val="tx1"/>
                          </a:solidFill>
                          <a:effectLst/>
                          <a:cs typeface="+mn-cs"/>
                        </a:rPr>
                        <a:t>0.000</a:t>
                      </a:r>
                    </a:p>
                  </a:txBody>
                  <a:tcPr marL="22860" marR="22860" marT="4572" marB="457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550" kern="100" dirty="0">
                          <a:solidFill>
                            <a:schemeClr val="tx1"/>
                          </a:solidFill>
                          <a:effectLst/>
                          <a:cs typeface="+mn-cs"/>
                        </a:rPr>
                        <a:t>0.000</a:t>
                      </a:r>
                    </a:p>
                  </a:txBody>
                  <a:tcPr marL="22860" marR="22860" marT="4572" marB="457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550" kern="100" dirty="0">
                          <a:solidFill>
                            <a:schemeClr val="tx1"/>
                          </a:solidFill>
                          <a:effectLst/>
                          <a:cs typeface="+mn-cs"/>
                        </a:rPr>
                        <a:t>0.000</a:t>
                      </a:r>
                    </a:p>
                  </a:txBody>
                  <a:tcPr marL="22860" marR="22860" marT="4572" marB="457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550" kern="100" dirty="0">
                          <a:solidFill>
                            <a:schemeClr val="tx1"/>
                          </a:solidFill>
                          <a:effectLst/>
                          <a:cs typeface="+mn-cs"/>
                        </a:rPr>
                        <a:t>3.000</a:t>
                      </a:r>
                    </a:p>
                  </a:txBody>
                  <a:tcPr marL="22860" marR="22860" marT="4572" marB="457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16195701"/>
                  </a:ext>
                </a:extLst>
              </a:tr>
              <a:tr h="22596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50" i="1" kern="100" dirty="0">
                          <a:solidFill>
                            <a:schemeClr val="tx1"/>
                          </a:solidFill>
                          <a:effectLst/>
                          <a:cs typeface="+mn-cs"/>
                        </a:rPr>
                        <a:t>AIEmployee</a:t>
                      </a:r>
                      <a:endParaRPr lang="zh-CN" altLang="en-US" sz="1500" i="1" kern="100" dirty="0">
                        <a:solidFill>
                          <a:schemeClr val="tx1"/>
                        </a:solidFill>
                        <a:effectLst/>
                        <a:cs typeface="+mn-cs"/>
                      </a:endParaRPr>
                    </a:p>
                  </a:txBody>
                  <a:tcPr marL="22860" marR="22860" marT="4572" marB="457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550" kern="100" dirty="0">
                          <a:solidFill>
                            <a:schemeClr val="tx1"/>
                          </a:solidFill>
                          <a:effectLst/>
                          <a:cs typeface="+mn-cs"/>
                        </a:rPr>
                        <a:t>1,671</a:t>
                      </a:r>
                    </a:p>
                  </a:txBody>
                  <a:tcPr marL="22860" marR="22860" marT="4572" marB="457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550" kern="100" dirty="0">
                          <a:solidFill>
                            <a:schemeClr val="tx1"/>
                          </a:solidFill>
                          <a:effectLst/>
                          <a:cs typeface="+mn-cs"/>
                        </a:rPr>
                        <a:t>0.500</a:t>
                      </a:r>
                    </a:p>
                  </a:txBody>
                  <a:tcPr marL="22860" marR="22860" marT="4572" marB="457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550" kern="100" dirty="0">
                          <a:solidFill>
                            <a:schemeClr val="tx1"/>
                          </a:solidFill>
                          <a:effectLst/>
                          <a:cs typeface="+mn-cs"/>
                        </a:rPr>
                        <a:t>2.280</a:t>
                      </a:r>
                    </a:p>
                  </a:txBody>
                  <a:tcPr marL="22860" marR="22860" marT="4572" marB="457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550" kern="100" dirty="0">
                          <a:solidFill>
                            <a:schemeClr val="tx1"/>
                          </a:solidFill>
                          <a:effectLst/>
                          <a:cs typeface="+mn-cs"/>
                        </a:rPr>
                        <a:t>0.000</a:t>
                      </a:r>
                    </a:p>
                  </a:txBody>
                  <a:tcPr marL="22860" marR="22860" marT="4572" marB="457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550" kern="100" dirty="0">
                          <a:solidFill>
                            <a:schemeClr val="tx1"/>
                          </a:solidFill>
                          <a:effectLst/>
                          <a:cs typeface="+mn-cs"/>
                        </a:rPr>
                        <a:t>0.000</a:t>
                      </a:r>
                    </a:p>
                  </a:txBody>
                  <a:tcPr marL="22860" marR="22860" marT="4572" marB="457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550" kern="100" dirty="0">
                          <a:solidFill>
                            <a:schemeClr val="tx1"/>
                          </a:solidFill>
                          <a:effectLst/>
                          <a:cs typeface="+mn-cs"/>
                        </a:rPr>
                        <a:t>0.000</a:t>
                      </a:r>
                    </a:p>
                  </a:txBody>
                  <a:tcPr marL="22860" marR="22860" marT="4572" marB="457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550" kern="100" dirty="0">
                          <a:solidFill>
                            <a:schemeClr val="tx1"/>
                          </a:solidFill>
                          <a:effectLst/>
                          <a:cs typeface="+mn-cs"/>
                        </a:rPr>
                        <a:t>0.000</a:t>
                      </a:r>
                    </a:p>
                  </a:txBody>
                  <a:tcPr marL="22860" marR="22860" marT="4572" marB="457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550" kern="100" dirty="0">
                          <a:solidFill>
                            <a:schemeClr val="tx1"/>
                          </a:solidFill>
                          <a:effectLst/>
                          <a:cs typeface="+mn-cs"/>
                        </a:rPr>
                        <a:t>1.000</a:t>
                      </a:r>
                    </a:p>
                  </a:txBody>
                  <a:tcPr marL="22860" marR="22860" marT="4572" marB="457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99157455"/>
                  </a:ext>
                </a:extLst>
              </a:tr>
            </a:tbl>
          </a:graphicData>
        </a:graphic>
      </p:graphicFrame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2F1C6D0D-4B67-DC31-983D-ADDF31AC60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3054513"/>
              </p:ext>
            </p:extLst>
          </p:nvPr>
        </p:nvGraphicFramePr>
        <p:xfrm>
          <a:off x="1102822" y="2103120"/>
          <a:ext cx="10047316" cy="1723114"/>
        </p:xfrm>
        <a:graphic>
          <a:graphicData uri="http://schemas.openxmlformats.org/drawingml/2006/table">
            <a:tbl>
              <a:tblPr firstRow="1" firstCol="1" bandRow="1"/>
              <a:tblGrid>
                <a:gridCol w="1605500">
                  <a:extLst>
                    <a:ext uri="{9D8B030D-6E8A-4147-A177-3AD203B41FA5}">
                      <a16:colId xmlns:a16="http://schemas.microsoft.com/office/drawing/2014/main" val="2101075575"/>
                    </a:ext>
                  </a:extLst>
                </a:gridCol>
                <a:gridCol w="1055227">
                  <a:extLst>
                    <a:ext uri="{9D8B030D-6E8A-4147-A177-3AD203B41FA5}">
                      <a16:colId xmlns:a16="http://schemas.microsoft.com/office/drawing/2014/main" val="602754720"/>
                    </a:ext>
                  </a:extLst>
                </a:gridCol>
                <a:gridCol w="1055227">
                  <a:extLst>
                    <a:ext uri="{9D8B030D-6E8A-4147-A177-3AD203B41FA5}">
                      <a16:colId xmlns:a16="http://schemas.microsoft.com/office/drawing/2014/main" val="1223928559"/>
                    </a:ext>
                  </a:extLst>
                </a:gridCol>
                <a:gridCol w="1055227">
                  <a:extLst>
                    <a:ext uri="{9D8B030D-6E8A-4147-A177-3AD203B41FA5}">
                      <a16:colId xmlns:a16="http://schemas.microsoft.com/office/drawing/2014/main" val="3186642407"/>
                    </a:ext>
                  </a:extLst>
                </a:gridCol>
                <a:gridCol w="1055227">
                  <a:extLst>
                    <a:ext uri="{9D8B030D-6E8A-4147-A177-3AD203B41FA5}">
                      <a16:colId xmlns:a16="http://schemas.microsoft.com/office/drawing/2014/main" val="2007088373"/>
                    </a:ext>
                  </a:extLst>
                </a:gridCol>
                <a:gridCol w="1055227">
                  <a:extLst>
                    <a:ext uri="{9D8B030D-6E8A-4147-A177-3AD203B41FA5}">
                      <a16:colId xmlns:a16="http://schemas.microsoft.com/office/drawing/2014/main" val="1977459696"/>
                    </a:ext>
                  </a:extLst>
                </a:gridCol>
                <a:gridCol w="1055227">
                  <a:extLst>
                    <a:ext uri="{9D8B030D-6E8A-4147-A177-3AD203B41FA5}">
                      <a16:colId xmlns:a16="http://schemas.microsoft.com/office/drawing/2014/main" val="1483423740"/>
                    </a:ext>
                  </a:extLst>
                </a:gridCol>
                <a:gridCol w="1055227">
                  <a:extLst>
                    <a:ext uri="{9D8B030D-6E8A-4147-A177-3AD203B41FA5}">
                      <a16:colId xmlns:a16="http://schemas.microsoft.com/office/drawing/2014/main" val="1280734321"/>
                    </a:ext>
                  </a:extLst>
                </a:gridCol>
                <a:gridCol w="1055227">
                  <a:extLst>
                    <a:ext uri="{9D8B030D-6E8A-4147-A177-3AD203B41FA5}">
                      <a16:colId xmlns:a16="http://schemas.microsoft.com/office/drawing/2014/main" val="1329527802"/>
                    </a:ext>
                  </a:extLst>
                </a:gridCol>
              </a:tblGrid>
              <a:tr h="233052">
                <a:tc gridSpan="9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50" b="1" kern="100" dirty="0">
                          <a:effectLst/>
                        </a:rPr>
                        <a:t>Panel A1. Summary Statistics for First Day and Buy-and-hold Returns</a:t>
                      </a:r>
                      <a:endParaRPr lang="zh-CN" sz="1500" b="1" kern="100" dirty="0">
                        <a:effectLst/>
                      </a:endParaRPr>
                    </a:p>
                  </a:txBody>
                  <a:tcPr marL="22860" marR="22860" marT="4572" marB="457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sz="1150" kern="100" dirty="0">
                        <a:effectLst/>
                      </a:endParaRPr>
                    </a:p>
                  </a:txBody>
                  <a:tcPr marL="22860" marR="22860" marT="4572" marB="457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sz="1150" kern="100" dirty="0">
                        <a:effectLst/>
                      </a:endParaRPr>
                    </a:p>
                  </a:txBody>
                  <a:tcPr marL="22860" marR="22860" marT="4572" marB="457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sz="1150" kern="100" dirty="0">
                        <a:effectLst/>
                      </a:endParaRPr>
                    </a:p>
                  </a:txBody>
                  <a:tcPr marL="22860" marR="22860" marT="4572" marB="457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sz="1150" kern="100" dirty="0">
                        <a:effectLst/>
                      </a:endParaRPr>
                    </a:p>
                  </a:txBody>
                  <a:tcPr marL="22860" marR="22860" marT="4572" marB="457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sz="1150" kern="100" dirty="0">
                        <a:effectLst/>
                      </a:endParaRPr>
                    </a:p>
                  </a:txBody>
                  <a:tcPr marL="22860" marR="22860" marT="4572" marB="457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sz="1150" kern="100" dirty="0">
                        <a:effectLst/>
                      </a:endParaRPr>
                    </a:p>
                  </a:txBody>
                  <a:tcPr marL="22860" marR="22860" marT="4572" marB="457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sz="1150" kern="100" dirty="0">
                        <a:effectLst/>
                      </a:endParaRPr>
                    </a:p>
                  </a:txBody>
                  <a:tcPr marL="22860" marR="22860" marT="4572" marB="457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sz="1150" kern="100" dirty="0">
                        <a:effectLst/>
                      </a:endParaRPr>
                    </a:p>
                  </a:txBody>
                  <a:tcPr marL="22860" marR="22860" marT="4572" marB="457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7211873"/>
                  </a:ext>
                </a:extLst>
              </a:tr>
              <a:tr h="23305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sz="1500" kern="100" dirty="0">
                        <a:effectLst/>
                      </a:endParaRPr>
                    </a:p>
                  </a:txBody>
                  <a:tcPr marL="22860" marR="22860" marT="4572" marB="457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50" kern="100" dirty="0">
                          <a:solidFill>
                            <a:srgbClr val="000000"/>
                          </a:solidFill>
                          <a:effectLst/>
                        </a:rPr>
                        <a:t>N</a:t>
                      </a:r>
                      <a:endParaRPr lang="zh-CN" sz="1500" kern="100" dirty="0">
                        <a:effectLst/>
                      </a:endParaRPr>
                    </a:p>
                  </a:txBody>
                  <a:tcPr marL="22860" marR="22860" marT="4572" marB="457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50" kern="100" dirty="0">
                          <a:solidFill>
                            <a:srgbClr val="000000"/>
                          </a:solidFill>
                          <a:effectLst/>
                        </a:rPr>
                        <a:t>Mean</a:t>
                      </a:r>
                      <a:endParaRPr lang="zh-CN" sz="1500" kern="100" dirty="0">
                        <a:effectLst/>
                      </a:endParaRPr>
                    </a:p>
                  </a:txBody>
                  <a:tcPr marL="22860" marR="22860" marT="4572" marB="457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550" kern="100" dirty="0">
                          <a:solidFill>
                            <a:schemeClr val="tx1"/>
                          </a:solidFill>
                          <a:effectLst/>
                          <a:cs typeface="+mn-cs"/>
                        </a:rPr>
                        <a:t>STD</a:t>
                      </a:r>
                      <a:endParaRPr lang="zh-CN" altLang="zh-CN" sz="1500" kern="100" dirty="0">
                        <a:solidFill>
                          <a:schemeClr val="tx1"/>
                        </a:solidFill>
                        <a:effectLst/>
                        <a:cs typeface="+mn-cs"/>
                      </a:endParaRPr>
                    </a:p>
                  </a:txBody>
                  <a:tcPr marL="22860" marR="22860" marT="4572" marB="457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50" kern="100" dirty="0">
                          <a:solidFill>
                            <a:srgbClr val="000000"/>
                          </a:solidFill>
                          <a:effectLst/>
                        </a:rPr>
                        <a:t>10%</a:t>
                      </a:r>
                      <a:endParaRPr lang="zh-CN" sz="1500" kern="100" dirty="0">
                        <a:effectLst/>
                      </a:endParaRPr>
                    </a:p>
                  </a:txBody>
                  <a:tcPr marL="22860" marR="22860" marT="4572" marB="457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50" kern="100" dirty="0">
                          <a:solidFill>
                            <a:srgbClr val="000000"/>
                          </a:solidFill>
                          <a:effectLst/>
                        </a:rPr>
                        <a:t>25%</a:t>
                      </a:r>
                      <a:endParaRPr lang="zh-CN" sz="1500" kern="100" dirty="0">
                        <a:effectLst/>
                      </a:endParaRPr>
                    </a:p>
                  </a:txBody>
                  <a:tcPr marL="22860" marR="22860" marT="4572" marB="457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50" kern="100" dirty="0">
                          <a:solidFill>
                            <a:srgbClr val="000000"/>
                          </a:solidFill>
                          <a:effectLst/>
                        </a:rPr>
                        <a:t>Median</a:t>
                      </a:r>
                      <a:endParaRPr lang="zh-CN" sz="1500" kern="100" dirty="0">
                        <a:effectLst/>
                      </a:endParaRPr>
                    </a:p>
                  </a:txBody>
                  <a:tcPr marL="22860" marR="22860" marT="4572" marB="457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50" kern="100" dirty="0">
                          <a:solidFill>
                            <a:srgbClr val="000000"/>
                          </a:solidFill>
                          <a:effectLst/>
                        </a:rPr>
                        <a:t>75%</a:t>
                      </a:r>
                      <a:endParaRPr lang="zh-CN" sz="1500" kern="100" dirty="0">
                        <a:effectLst/>
                      </a:endParaRPr>
                    </a:p>
                  </a:txBody>
                  <a:tcPr marL="22860" marR="22860" marT="4572" marB="457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50" kern="100" dirty="0">
                          <a:solidFill>
                            <a:srgbClr val="000000"/>
                          </a:solidFill>
                          <a:effectLst/>
                        </a:rPr>
                        <a:t>90%</a:t>
                      </a:r>
                      <a:endParaRPr lang="zh-CN" sz="1500" kern="100" dirty="0">
                        <a:effectLst/>
                      </a:endParaRPr>
                    </a:p>
                  </a:txBody>
                  <a:tcPr marL="22860" marR="22860" marT="4572" marB="457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0229676"/>
                  </a:ext>
                </a:extLst>
              </a:tr>
              <a:tr h="225010">
                <a:tc>
                  <a:txBody>
                    <a:bodyPr/>
                    <a:lstStyle/>
                    <a:p>
                      <a:pPr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50" i="1" kern="100" dirty="0">
                          <a:solidFill>
                            <a:srgbClr val="000000"/>
                          </a:solidFill>
                          <a:effectLst/>
                        </a:rPr>
                        <a:t>BHAR[0,1yr]</a:t>
                      </a:r>
                      <a:endParaRPr lang="zh-CN" sz="1500" kern="100" dirty="0">
                        <a:effectLst/>
                      </a:endParaRPr>
                    </a:p>
                  </a:txBody>
                  <a:tcPr marL="22860" marR="22860" marT="4572" marB="457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50" kern="100" dirty="0">
                          <a:solidFill>
                            <a:srgbClr val="000000"/>
                          </a:solidFill>
                          <a:effectLst/>
                        </a:rPr>
                        <a:t>1,600</a:t>
                      </a:r>
                      <a:endParaRPr lang="zh-CN" sz="1500" kern="100" dirty="0">
                        <a:effectLst/>
                      </a:endParaRPr>
                    </a:p>
                  </a:txBody>
                  <a:tcPr marL="22860" marR="22860" marT="4572" marB="457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50" kern="100" dirty="0">
                          <a:solidFill>
                            <a:srgbClr val="000000"/>
                          </a:solidFill>
                          <a:effectLst/>
                        </a:rPr>
                        <a:t>-0.110</a:t>
                      </a:r>
                      <a:endParaRPr lang="zh-CN" sz="1500" kern="100" dirty="0">
                        <a:effectLst/>
                      </a:endParaRPr>
                    </a:p>
                  </a:txBody>
                  <a:tcPr marL="22860" marR="22860" marT="4572" marB="457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50" kern="100" dirty="0">
                          <a:solidFill>
                            <a:srgbClr val="000000"/>
                          </a:solidFill>
                          <a:effectLst/>
                        </a:rPr>
                        <a:t>0.658</a:t>
                      </a:r>
                      <a:endParaRPr lang="zh-CN" sz="1500" kern="100" dirty="0">
                        <a:effectLst/>
                      </a:endParaRPr>
                    </a:p>
                  </a:txBody>
                  <a:tcPr marL="22860" marR="22860" marT="4572" marB="457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50" kern="100" dirty="0">
                          <a:solidFill>
                            <a:srgbClr val="000000"/>
                          </a:solidFill>
                          <a:effectLst/>
                        </a:rPr>
                        <a:t>-0.803</a:t>
                      </a:r>
                      <a:endParaRPr lang="zh-CN" sz="1500" kern="100" dirty="0">
                        <a:effectLst/>
                      </a:endParaRPr>
                    </a:p>
                  </a:txBody>
                  <a:tcPr marL="22860" marR="22860" marT="4572" marB="457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50" kern="100" dirty="0">
                          <a:solidFill>
                            <a:srgbClr val="000000"/>
                          </a:solidFill>
                          <a:effectLst/>
                        </a:rPr>
                        <a:t>-0.545</a:t>
                      </a:r>
                      <a:endParaRPr lang="zh-CN" sz="1500" kern="100" dirty="0">
                        <a:effectLst/>
                      </a:endParaRPr>
                    </a:p>
                  </a:txBody>
                  <a:tcPr marL="22860" marR="22860" marT="4572" marB="457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50" kern="100" dirty="0">
                          <a:solidFill>
                            <a:srgbClr val="000000"/>
                          </a:solidFill>
                          <a:effectLst/>
                        </a:rPr>
                        <a:t>-0.196</a:t>
                      </a:r>
                      <a:endParaRPr lang="zh-CN" sz="1500" kern="100" dirty="0">
                        <a:effectLst/>
                      </a:endParaRPr>
                    </a:p>
                  </a:txBody>
                  <a:tcPr marL="22860" marR="22860" marT="4572" marB="457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50" kern="100" dirty="0">
                          <a:solidFill>
                            <a:srgbClr val="000000"/>
                          </a:solidFill>
                          <a:effectLst/>
                        </a:rPr>
                        <a:t>0.194</a:t>
                      </a:r>
                      <a:endParaRPr lang="zh-CN" sz="1500" kern="100" dirty="0">
                        <a:effectLst/>
                      </a:endParaRPr>
                    </a:p>
                  </a:txBody>
                  <a:tcPr marL="22860" marR="22860" marT="4572" marB="457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50" kern="100">
                          <a:solidFill>
                            <a:srgbClr val="000000"/>
                          </a:solidFill>
                          <a:effectLst/>
                        </a:rPr>
                        <a:t>0.677</a:t>
                      </a:r>
                      <a:endParaRPr lang="zh-CN" sz="1500" kern="100">
                        <a:effectLst/>
                      </a:endParaRPr>
                    </a:p>
                  </a:txBody>
                  <a:tcPr marL="22860" marR="22860" marT="4572" marB="457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535398"/>
                  </a:ext>
                </a:extLst>
              </a:tr>
              <a:tr h="225010">
                <a:tc>
                  <a:txBody>
                    <a:bodyPr/>
                    <a:lstStyle/>
                    <a:p>
                      <a:pPr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50" i="1" kern="100" dirty="0">
                          <a:solidFill>
                            <a:srgbClr val="000000"/>
                          </a:solidFill>
                          <a:effectLst/>
                        </a:rPr>
                        <a:t>BHAR[1,2yr]</a:t>
                      </a:r>
                      <a:endParaRPr lang="zh-CN" sz="1500" kern="100" dirty="0">
                        <a:effectLst/>
                      </a:endParaRPr>
                    </a:p>
                  </a:txBody>
                  <a:tcPr marL="22860" marR="22860" marT="4572" marB="457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50" kern="100" dirty="0">
                          <a:solidFill>
                            <a:srgbClr val="000000"/>
                          </a:solidFill>
                          <a:effectLst/>
                        </a:rPr>
                        <a:t>1,491</a:t>
                      </a:r>
                      <a:endParaRPr lang="zh-CN" sz="1500" kern="100" dirty="0">
                        <a:effectLst/>
                      </a:endParaRPr>
                    </a:p>
                  </a:txBody>
                  <a:tcPr marL="22860" marR="22860" marT="4572" marB="457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50" kern="100">
                          <a:solidFill>
                            <a:srgbClr val="000000"/>
                          </a:solidFill>
                          <a:effectLst/>
                        </a:rPr>
                        <a:t>-0.094</a:t>
                      </a:r>
                      <a:endParaRPr lang="zh-CN" sz="1500" kern="100">
                        <a:effectLst/>
                      </a:endParaRPr>
                    </a:p>
                  </a:txBody>
                  <a:tcPr marL="22860" marR="22860" marT="4572" marB="457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50" kern="100">
                          <a:solidFill>
                            <a:srgbClr val="000000"/>
                          </a:solidFill>
                          <a:effectLst/>
                        </a:rPr>
                        <a:t>0.626</a:t>
                      </a:r>
                      <a:endParaRPr lang="zh-CN" sz="1500" kern="100">
                        <a:effectLst/>
                      </a:endParaRPr>
                    </a:p>
                  </a:txBody>
                  <a:tcPr marL="22860" marR="22860" marT="4572" marB="457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50" kern="100" dirty="0">
                          <a:solidFill>
                            <a:srgbClr val="000000"/>
                          </a:solidFill>
                          <a:effectLst/>
                        </a:rPr>
                        <a:t>-0.768</a:t>
                      </a:r>
                      <a:endParaRPr lang="zh-CN" sz="1500" kern="100" dirty="0">
                        <a:effectLst/>
                      </a:endParaRPr>
                    </a:p>
                  </a:txBody>
                  <a:tcPr marL="22860" marR="22860" marT="4572" marB="457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50" kern="100" dirty="0">
                          <a:solidFill>
                            <a:srgbClr val="000000"/>
                          </a:solidFill>
                          <a:effectLst/>
                        </a:rPr>
                        <a:t>-0.489</a:t>
                      </a:r>
                      <a:endParaRPr lang="zh-CN" sz="1500" kern="100" dirty="0">
                        <a:effectLst/>
                      </a:endParaRPr>
                    </a:p>
                  </a:txBody>
                  <a:tcPr marL="22860" marR="22860" marT="4572" marB="457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50" kern="100" dirty="0">
                          <a:solidFill>
                            <a:srgbClr val="000000"/>
                          </a:solidFill>
                          <a:effectLst/>
                        </a:rPr>
                        <a:t>-0.179</a:t>
                      </a:r>
                      <a:endParaRPr lang="zh-CN" sz="1500" kern="100" dirty="0">
                        <a:effectLst/>
                      </a:endParaRPr>
                    </a:p>
                  </a:txBody>
                  <a:tcPr marL="22860" marR="22860" marT="4572" marB="457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50" kern="100" dirty="0">
                          <a:solidFill>
                            <a:srgbClr val="000000"/>
                          </a:solidFill>
                          <a:effectLst/>
                        </a:rPr>
                        <a:t>0.170</a:t>
                      </a:r>
                      <a:endParaRPr lang="zh-CN" sz="1500" kern="100" dirty="0">
                        <a:effectLst/>
                      </a:endParaRPr>
                    </a:p>
                  </a:txBody>
                  <a:tcPr marL="22860" marR="22860" marT="4572" marB="457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50" kern="100" dirty="0">
                          <a:solidFill>
                            <a:srgbClr val="000000"/>
                          </a:solidFill>
                          <a:effectLst/>
                        </a:rPr>
                        <a:t>0.562</a:t>
                      </a:r>
                      <a:endParaRPr lang="zh-CN" sz="1500" kern="100" dirty="0">
                        <a:effectLst/>
                      </a:endParaRPr>
                    </a:p>
                  </a:txBody>
                  <a:tcPr marL="22860" marR="22860" marT="4572" marB="457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5336184"/>
                  </a:ext>
                </a:extLst>
              </a:tr>
              <a:tr h="225010">
                <a:tc>
                  <a:txBody>
                    <a:bodyPr/>
                    <a:lstStyle/>
                    <a:p>
                      <a:pPr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50" i="1" kern="100" dirty="0">
                          <a:solidFill>
                            <a:srgbClr val="000000"/>
                          </a:solidFill>
                          <a:effectLst/>
                        </a:rPr>
                        <a:t>BHAR[0,2yr]</a:t>
                      </a:r>
                      <a:endParaRPr lang="zh-CN" sz="1500" kern="100" dirty="0">
                        <a:effectLst/>
                      </a:endParaRPr>
                    </a:p>
                  </a:txBody>
                  <a:tcPr marL="22860" marR="22860" marT="4572" marB="457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50" kern="100">
                          <a:solidFill>
                            <a:srgbClr val="000000"/>
                          </a:solidFill>
                          <a:effectLst/>
                        </a:rPr>
                        <a:t>1,556</a:t>
                      </a:r>
                      <a:endParaRPr lang="zh-CN" sz="1500" kern="100">
                        <a:effectLst/>
                      </a:endParaRPr>
                    </a:p>
                  </a:txBody>
                  <a:tcPr marL="22860" marR="22860" marT="4572" marB="457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50" kern="100">
                          <a:solidFill>
                            <a:srgbClr val="000000"/>
                          </a:solidFill>
                          <a:effectLst/>
                        </a:rPr>
                        <a:t>-0.137</a:t>
                      </a:r>
                      <a:endParaRPr lang="zh-CN" sz="1500" kern="100">
                        <a:effectLst/>
                      </a:endParaRPr>
                    </a:p>
                  </a:txBody>
                  <a:tcPr marL="22860" marR="22860" marT="4572" marB="457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50" kern="100">
                          <a:solidFill>
                            <a:srgbClr val="000000"/>
                          </a:solidFill>
                          <a:effectLst/>
                        </a:rPr>
                        <a:t>1.005</a:t>
                      </a:r>
                      <a:endParaRPr lang="zh-CN" sz="1500" kern="100">
                        <a:effectLst/>
                      </a:endParaRPr>
                    </a:p>
                  </a:txBody>
                  <a:tcPr marL="22860" marR="22860" marT="4572" marB="457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50" kern="100">
                          <a:solidFill>
                            <a:srgbClr val="000000"/>
                          </a:solidFill>
                          <a:effectLst/>
                        </a:rPr>
                        <a:t>-1.058</a:t>
                      </a:r>
                      <a:endParaRPr lang="zh-CN" sz="1500" kern="100">
                        <a:effectLst/>
                      </a:endParaRPr>
                    </a:p>
                  </a:txBody>
                  <a:tcPr marL="22860" marR="22860" marT="4572" marB="457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50" kern="100">
                          <a:solidFill>
                            <a:srgbClr val="000000"/>
                          </a:solidFill>
                          <a:effectLst/>
                        </a:rPr>
                        <a:t>-0.754</a:t>
                      </a:r>
                      <a:endParaRPr lang="zh-CN" sz="1500" kern="100">
                        <a:effectLst/>
                      </a:endParaRPr>
                    </a:p>
                  </a:txBody>
                  <a:tcPr marL="22860" marR="22860" marT="4572" marB="457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50" kern="100" dirty="0">
                          <a:solidFill>
                            <a:srgbClr val="000000"/>
                          </a:solidFill>
                          <a:effectLst/>
                        </a:rPr>
                        <a:t>-0.351</a:t>
                      </a:r>
                      <a:endParaRPr lang="zh-CN" sz="1500" kern="100" dirty="0">
                        <a:effectLst/>
                      </a:endParaRPr>
                    </a:p>
                  </a:txBody>
                  <a:tcPr marL="22860" marR="22860" marT="4572" marB="457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50" kern="100" dirty="0">
                          <a:solidFill>
                            <a:srgbClr val="000000"/>
                          </a:solidFill>
                          <a:effectLst/>
                        </a:rPr>
                        <a:t>0.225</a:t>
                      </a:r>
                      <a:endParaRPr lang="zh-CN" sz="1500" kern="100" dirty="0">
                        <a:effectLst/>
                      </a:endParaRPr>
                    </a:p>
                  </a:txBody>
                  <a:tcPr marL="22860" marR="22860" marT="4572" marB="457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50" kern="100" dirty="0">
                          <a:solidFill>
                            <a:srgbClr val="000000"/>
                          </a:solidFill>
                          <a:effectLst/>
                        </a:rPr>
                        <a:t>0.948</a:t>
                      </a:r>
                      <a:endParaRPr lang="zh-CN" sz="1500" kern="100" dirty="0">
                        <a:effectLst/>
                      </a:endParaRPr>
                    </a:p>
                  </a:txBody>
                  <a:tcPr marL="22860" marR="22860" marT="4572" marB="457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026674"/>
                  </a:ext>
                </a:extLst>
              </a:tr>
              <a:tr h="225010">
                <a:tc>
                  <a:txBody>
                    <a:bodyPr/>
                    <a:lstStyle/>
                    <a:p>
                      <a:pPr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50" i="1" kern="100" dirty="0">
                          <a:solidFill>
                            <a:srgbClr val="000000"/>
                          </a:solidFill>
                          <a:effectLst/>
                        </a:rPr>
                        <a:t>BHAR[0,3yr]</a:t>
                      </a:r>
                      <a:endParaRPr lang="zh-CN" sz="1500" kern="100" dirty="0">
                        <a:effectLst/>
                      </a:endParaRPr>
                    </a:p>
                  </a:txBody>
                  <a:tcPr marL="22860" marR="22860" marT="4572" marB="457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50" kern="100">
                          <a:solidFill>
                            <a:srgbClr val="000000"/>
                          </a:solidFill>
                          <a:effectLst/>
                        </a:rPr>
                        <a:t>1,515</a:t>
                      </a:r>
                      <a:endParaRPr lang="zh-CN" sz="1500" kern="100">
                        <a:effectLst/>
                      </a:endParaRPr>
                    </a:p>
                  </a:txBody>
                  <a:tcPr marL="22860" marR="22860" marT="4572" marB="457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50" kern="100" dirty="0">
                          <a:solidFill>
                            <a:srgbClr val="000000"/>
                          </a:solidFill>
                          <a:effectLst/>
                        </a:rPr>
                        <a:t>-0.172</a:t>
                      </a:r>
                      <a:endParaRPr lang="zh-CN" sz="1500" kern="100" dirty="0">
                        <a:effectLst/>
                      </a:endParaRPr>
                    </a:p>
                  </a:txBody>
                  <a:tcPr marL="22860" marR="22860" marT="4572" marB="457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50" kern="100">
                          <a:solidFill>
                            <a:srgbClr val="000000"/>
                          </a:solidFill>
                          <a:effectLst/>
                        </a:rPr>
                        <a:t>1.297</a:t>
                      </a:r>
                      <a:endParaRPr lang="zh-CN" sz="1500" kern="100">
                        <a:effectLst/>
                      </a:endParaRPr>
                    </a:p>
                  </a:txBody>
                  <a:tcPr marL="22860" marR="22860" marT="4572" marB="457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50" kern="100">
                          <a:solidFill>
                            <a:srgbClr val="000000"/>
                          </a:solidFill>
                          <a:effectLst/>
                        </a:rPr>
                        <a:t>-1.278</a:t>
                      </a:r>
                      <a:endParaRPr lang="zh-CN" sz="1500" kern="100">
                        <a:effectLst/>
                      </a:endParaRPr>
                    </a:p>
                  </a:txBody>
                  <a:tcPr marL="22860" marR="22860" marT="4572" marB="457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50" kern="100">
                          <a:solidFill>
                            <a:srgbClr val="000000"/>
                          </a:solidFill>
                          <a:effectLst/>
                        </a:rPr>
                        <a:t>-0.946</a:t>
                      </a:r>
                      <a:endParaRPr lang="zh-CN" sz="1500" kern="100">
                        <a:effectLst/>
                      </a:endParaRPr>
                    </a:p>
                  </a:txBody>
                  <a:tcPr marL="22860" marR="22860" marT="4572" marB="457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50" kern="100" dirty="0">
                          <a:solidFill>
                            <a:srgbClr val="000000"/>
                          </a:solidFill>
                          <a:effectLst/>
                        </a:rPr>
                        <a:t>-0.490</a:t>
                      </a:r>
                      <a:endParaRPr lang="zh-CN" sz="1500" kern="100" dirty="0">
                        <a:effectLst/>
                      </a:endParaRPr>
                    </a:p>
                  </a:txBody>
                  <a:tcPr marL="22860" marR="22860" marT="4572" marB="457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50" kern="100" dirty="0">
                          <a:solidFill>
                            <a:srgbClr val="000000"/>
                          </a:solidFill>
                          <a:effectLst/>
                        </a:rPr>
                        <a:t>0.235</a:t>
                      </a:r>
                      <a:endParaRPr lang="zh-CN" sz="1500" kern="100" dirty="0">
                        <a:effectLst/>
                      </a:endParaRPr>
                    </a:p>
                  </a:txBody>
                  <a:tcPr marL="22860" marR="22860" marT="4572" marB="457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50" kern="100" dirty="0">
                          <a:solidFill>
                            <a:srgbClr val="000000"/>
                          </a:solidFill>
                          <a:effectLst/>
                        </a:rPr>
                        <a:t>1.255</a:t>
                      </a:r>
                      <a:endParaRPr lang="zh-CN" sz="1500" kern="100" dirty="0">
                        <a:effectLst/>
                      </a:endParaRPr>
                    </a:p>
                  </a:txBody>
                  <a:tcPr marL="22860" marR="22860" marT="4572" marB="457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5506737"/>
                  </a:ext>
                </a:extLst>
              </a:tr>
              <a:tr h="225010">
                <a:tc>
                  <a:txBody>
                    <a:bodyPr/>
                    <a:lstStyle/>
                    <a:p>
                      <a:pPr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50" i="1" kern="100" dirty="0" err="1">
                          <a:solidFill>
                            <a:srgbClr val="000000"/>
                          </a:solidFill>
                          <a:effectLst/>
                        </a:rPr>
                        <a:t>InitialReturn</a:t>
                      </a:r>
                      <a:endParaRPr lang="zh-CN" sz="1500" kern="100" dirty="0">
                        <a:effectLst/>
                      </a:endParaRPr>
                    </a:p>
                  </a:txBody>
                  <a:tcPr marL="22860" marR="22860" marT="4572" marB="457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50" kern="100" dirty="0">
                          <a:solidFill>
                            <a:srgbClr val="000000"/>
                          </a:solidFill>
                          <a:effectLst/>
                        </a:rPr>
                        <a:t>1,671</a:t>
                      </a:r>
                      <a:endParaRPr lang="zh-CN" sz="1500" kern="100" dirty="0">
                        <a:effectLst/>
                      </a:endParaRPr>
                    </a:p>
                  </a:txBody>
                  <a:tcPr marL="22860" marR="22860" marT="4572" marB="457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50" kern="100" dirty="0">
                          <a:solidFill>
                            <a:srgbClr val="000000"/>
                          </a:solidFill>
                          <a:effectLst/>
                        </a:rPr>
                        <a:t>0.197</a:t>
                      </a:r>
                      <a:endParaRPr lang="zh-CN" sz="1500" kern="100" dirty="0">
                        <a:effectLst/>
                      </a:endParaRPr>
                    </a:p>
                  </a:txBody>
                  <a:tcPr marL="22860" marR="22860" marT="4572" marB="457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50" kern="100" dirty="0">
                          <a:solidFill>
                            <a:srgbClr val="000000"/>
                          </a:solidFill>
                          <a:effectLst/>
                        </a:rPr>
                        <a:t>0.327</a:t>
                      </a:r>
                      <a:endParaRPr lang="zh-CN" sz="1500" kern="100" dirty="0">
                        <a:effectLst/>
                      </a:endParaRPr>
                    </a:p>
                  </a:txBody>
                  <a:tcPr marL="22860" marR="22860" marT="4572" marB="457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50" kern="100" dirty="0">
                          <a:solidFill>
                            <a:srgbClr val="000000"/>
                          </a:solidFill>
                          <a:effectLst/>
                        </a:rPr>
                        <a:t>-0.083</a:t>
                      </a:r>
                      <a:endParaRPr lang="zh-CN" sz="1500" kern="100" dirty="0">
                        <a:effectLst/>
                      </a:endParaRPr>
                    </a:p>
                  </a:txBody>
                  <a:tcPr marL="22860" marR="22860" marT="4572" marB="457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50" kern="100" dirty="0">
                          <a:solidFill>
                            <a:srgbClr val="000000"/>
                          </a:solidFill>
                          <a:effectLst/>
                        </a:rPr>
                        <a:t>0.000</a:t>
                      </a:r>
                      <a:endParaRPr lang="zh-CN" sz="1500" kern="100" dirty="0">
                        <a:effectLst/>
                      </a:endParaRPr>
                    </a:p>
                  </a:txBody>
                  <a:tcPr marL="22860" marR="22860" marT="4572" marB="457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50" kern="100" dirty="0">
                          <a:solidFill>
                            <a:srgbClr val="000000"/>
                          </a:solidFill>
                          <a:effectLst/>
                        </a:rPr>
                        <a:t>0.109</a:t>
                      </a:r>
                      <a:endParaRPr lang="zh-CN" sz="1500" kern="100" dirty="0">
                        <a:effectLst/>
                      </a:endParaRPr>
                    </a:p>
                  </a:txBody>
                  <a:tcPr marL="22860" marR="22860" marT="4572" marB="457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50" kern="100" dirty="0">
                          <a:solidFill>
                            <a:srgbClr val="000000"/>
                          </a:solidFill>
                          <a:effectLst/>
                        </a:rPr>
                        <a:t>0.308</a:t>
                      </a:r>
                      <a:endParaRPr lang="zh-CN" sz="1500" kern="100" dirty="0">
                        <a:effectLst/>
                      </a:endParaRPr>
                    </a:p>
                  </a:txBody>
                  <a:tcPr marL="22860" marR="22860" marT="4572" marB="457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50" kern="100" dirty="0">
                          <a:solidFill>
                            <a:srgbClr val="000000"/>
                          </a:solidFill>
                          <a:effectLst/>
                        </a:rPr>
                        <a:t>0.603</a:t>
                      </a:r>
                      <a:endParaRPr lang="zh-CN" sz="1500" kern="100" dirty="0">
                        <a:effectLst/>
                      </a:endParaRPr>
                    </a:p>
                  </a:txBody>
                  <a:tcPr marL="22860" marR="22860" marT="4572" marB="457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8963801"/>
                  </a:ext>
                </a:extLst>
              </a:tr>
            </a:tbl>
          </a:graphicData>
        </a:graphic>
      </p:graphicFrame>
      <p:sp>
        <p:nvSpPr>
          <p:cNvPr id="9" name="footer text"/>
          <p:cNvSpPr txBox="1"/>
          <p:nvPr/>
        </p:nvSpPr>
        <p:spPr>
          <a:xfrm>
            <a:off x="1097280" y="6446520"/>
            <a:ext cx="8686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FFFFFF"/>
                </a:solidFill>
              </a:rPr>
              <a:t>When AI-Washing Meets Initial Public Offerings  |  2026 FMA Annual Meeting</a:t>
            </a:r>
          </a:p>
        </p:txBody>
      </p:sp>
      <p:sp>
        <p:nvSpPr>
          <p:cNvPr id="10" name="slide number"/>
          <p:cNvSpPr txBox="1"/>
          <p:nvPr/>
        </p:nvSpPr>
        <p:spPr>
          <a:xfrm>
            <a:off x="10698480" y="64465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</a:rPr>
              <a:t>A10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Summary statistics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AC600F28-5C6D-D58D-CC68-A24AA46209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0178602"/>
              </p:ext>
            </p:extLst>
          </p:nvPr>
        </p:nvGraphicFramePr>
        <p:xfrm>
          <a:off x="1217863" y="2103120"/>
          <a:ext cx="9817233" cy="4160520"/>
        </p:xfrm>
        <a:graphic>
          <a:graphicData uri="http://schemas.openxmlformats.org/drawingml/2006/table">
            <a:tbl>
              <a:tblPr firstRow="1" firstCol="1" bandRow="1"/>
              <a:tblGrid>
                <a:gridCol w="1902089">
                  <a:extLst>
                    <a:ext uri="{9D8B030D-6E8A-4147-A177-3AD203B41FA5}">
                      <a16:colId xmlns:a16="http://schemas.microsoft.com/office/drawing/2014/main" val="1255930111"/>
                    </a:ext>
                  </a:extLst>
                </a:gridCol>
                <a:gridCol w="989393">
                  <a:extLst>
                    <a:ext uri="{9D8B030D-6E8A-4147-A177-3AD203B41FA5}">
                      <a16:colId xmlns:a16="http://schemas.microsoft.com/office/drawing/2014/main" val="4260669319"/>
                    </a:ext>
                  </a:extLst>
                </a:gridCol>
                <a:gridCol w="989393">
                  <a:extLst>
                    <a:ext uri="{9D8B030D-6E8A-4147-A177-3AD203B41FA5}">
                      <a16:colId xmlns:a16="http://schemas.microsoft.com/office/drawing/2014/main" val="2703805371"/>
                    </a:ext>
                  </a:extLst>
                </a:gridCol>
                <a:gridCol w="989393">
                  <a:extLst>
                    <a:ext uri="{9D8B030D-6E8A-4147-A177-3AD203B41FA5}">
                      <a16:colId xmlns:a16="http://schemas.microsoft.com/office/drawing/2014/main" val="2129824622"/>
                    </a:ext>
                  </a:extLst>
                </a:gridCol>
                <a:gridCol w="989393">
                  <a:extLst>
                    <a:ext uri="{9D8B030D-6E8A-4147-A177-3AD203B41FA5}">
                      <a16:colId xmlns:a16="http://schemas.microsoft.com/office/drawing/2014/main" val="1183705957"/>
                    </a:ext>
                  </a:extLst>
                </a:gridCol>
                <a:gridCol w="989393">
                  <a:extLst>
                    <a:ext uri="{9D8B030D-6E8A-4147-A177-3AD203B41FA5}">
                      <a16:colId xmlns:a16="http://schemas.microsoft.com/office/drawing/2014/main" val="4247817230"/>
                    </a:ext>
                  </a:extLst>
                </a:gridCol>
                <a:gridCol w="989393">
                  <a:extLst>
                    <a:ext uri="{9D8B030D-6E8A-4147-A177-3AD203B41FA5}">
                      <a16:colId xmlns:a16="http://schemas.microsoft.com/office/drawing/2014/main" val="3574193923"/>
                    </a:ext>
                  </a:extLst>
                </a:gridCol>
                <a:gridCol w="989393">
                  <a:extLst>
                    <a:ext uri="{9D8B030D-6E8A-4147-A177-3AD203B41FA5}">
                      <a16:colId xmlns:a16="http://schemas.microsoft.com/office/drawing/2014/main" val="3504523600"/>
                    </a:ext>
                  </a:extLst>
                </a:gridCol>
                <a:gridCol w="989393">
                  <a:extLst>
                    <a:ext uri="{9D8B030D-6E8A-4147-A177-3AD203B41FA5}">
                      <a16:colId xmlns:a16="http://schemas.microsoft.com/office/drawing/2014/main" val="576881473"/>
                    </a:ext>
                  </a:extLst>
                </a:gridCol>
              </a:tblGrid>
              <a:tr h="216227">
                <a:tc gridSpan="9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b="1" kern="100" dirty="0">
                          <a:solidFill>
                            <a:srgbClr val="000000"/>
                          </a:solidFill>
                          <a:effectLst/>
                        </a:rPr>
                        <a:t>Panel A3. Summary Statistics for Other Firm-level Characteristics</a:t>
                      </a:r>
                      <a:endParaRPr lang="zh-CN" sz="1450" kern="100" dirty="0">
                        <a:effectLst/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altLang="en-US"/>
                    </a:p>
                  </a:txBody>
                  <a:tcPr marL="22860" marR="22860" marT="4572" marB="4572"/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altLang="en-US"/>
                    </a:p>
                  </a:txBody>
                  <a:tcPr marL="22860" marR="22860" marT="4572" marB="4572"/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altLang="en-US"/>
                    </a:p>
                  </a:txBody>
                  <a:tcPr marL="22860" marR="22860" marT="4572" marB="4572"/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altLang="en-US"/>
                    </a:p>
                  </a:txBody>
                  <a:tcPr marL="22860" marR="22860" marT="4572" marB="4572"/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altLang="en-US"/>
                    </a:p>
                  </a:txBody>
                  <a:tcPr marL="22860" marR="22860" marT="4572" marB="4572"/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altLang="en-US"/>
                    </a:p>
                  </a:txBody>
                  <a:tcPr marL="22860" marR="22860" marT="4572" marB="4572"/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altLang="en-US"/>
                    </a:p>
                  </a:txBody>
                  <a:tcPr marL="22860" marR="22860" marT="4572" marB="4572"/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altLang="en-US"/>
                    </a:p>
                  </a:txBody>
                  <a:tcPr marL="22860" marR="22860" marT="4572" marB="4572"/>
                </a:tc>
                <a:extLst>
                  <a:ext uri="{0D108BD9-81ED-4DB2-BD59-A6C34878D82A}">
                    <a16:rowId xmlns:a16="http://schemas.microsoft.com/office/drawing/2014/main" val="1997619583"/>
                  </a:ext>
                </a:extLst>
              </a:tr>
              <a:tr h="21622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kern="100" dirty="0">
                          <a:solidFill>
                            <a:srgbClr val="000000"/>
                          </a:solidFill>
                          <a:effectLst/>
                        </a:rPr>
                        <a:t>  </a:t>
                      </a:r>
                      <a:endParaRPr lang="zh-CN" sz="1450" kern="100" dirty="0">
                        <a:effectLst/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kern="100" dirty="0">
                          <a:solidFill>
                            <a:srgbClr val="000000"/>
                          </a:solidFill>
                          <a:effectLst/>
                        </a:rPr>
                        <a:t>N</a:t>
                      </a:r>
                      <a:endParaRPr lang="zh-CN" sz="1450" kern="100" dirty="0">
                        <a:effectLst/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kern="100" dirty="0">
                          <a:solidFill>
                            <a:srgbClr val="000000"/>
                          </a:solidFill>
                          <a:effectLst/>
                        </a:rPr>
                        <a:t>Mean</a:t>
                      </a:r>
                      <a:endParaRPr lang="zh-CN" sz="1450" kern="100" dirty="0">
                        <a:effectLst/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450" kern="100" dirty="0">
                          <a:solidFill>
                            <a:schemeClr val="tx1"/>
                          </a:solidFill>
                          <a:effectLst/>
                          <a:cs typeface="+mn-cs"/>
                        </a:rPr>
                        <a:t>STD</a:t>
                      </a:r>
                      <a:endParaRPr lang="zh-CN" altLang="zh-CN" sz="1450" kern="100" dirty="0">
                        <a:solidFill>
                          <a:schemeClr val="tx1"/>
                        </a:solidFill>
                        <a:effectLst/>
                        <a:cs typeface="+mn-cs"/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kern="100">
                          <a:solidFill>
                            <a:srgbClr val="000000"/>
                          </a:solidFill>
                          <a:effectLst/>
                        </a:rPr>
                        <a:t>10%</a:t>
                      </a:r>
                      <a:endParaRPr lang="zh-CN" sz="1450" kern="100">
                        <a:effectLst/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kern="100">
                          <a:solidFill>
                            <a:srgbClr val="000000"/>
                          </a:solidFill>
                          <a:effectLst/>
                        </a:rPr>
                        <a:t>25%</a:t>
                      </a:r>
                      <a:endParaRPr lang="zh-CN" sz="1450" kern="100">
                        <a:effectLst/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kern="100">
                          <a:solidFill>
                            <a:srgbClr val="000000"/>
                          </a:solidFill>
                          <a:effectLst/>
                        </a:rPr>
                        <a:t>Median</a:t>
                      </a:r>
                      <a:endParaRPr lang="zh-CN" sz="1450" kern="100">
                        <a:effectLst/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kern="100">
                          <a:solidFill>
                            <a:srgbClr val="000000"/>
                          </a:solidFill>
                          <a:effectLst/>
                        </a:rPr>
                        <a:t>75%</a:t>
                      </a:r>
                      <a:endParaRPr lang="zh-CN" sz="1450" kern="100">
                        <a:effectLst/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kern="100">
                          <a:solidFill>
                            <a:srgbClr val="000000"/>
                          </a:solidFill>
                          <a:effectLst/>
                        </a:rPr>
                        <a:t>90%</a:t>
                      </a:r>
                      <a:endParaRPr lang="zh-CN" sz="1450" kern="100">
                        <a:effectLst/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8029158"/>
                  </a:ext>
                </a:extLst>
              </a:tr>
              <a:tr h="21622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i="1" kern="100">
                          <a:solidFill>
                            <a:srgbClr val="000000"/>
                          </a:solidFill>
                          <a:effectLst/>
                        </a:rPr>
                        <a:t>HighUW</a:t>
                      </a:r>
                      <a:endParaRPr lang="zh-CN" sz="1450" kern="100">
                        <a:effectLst/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kern="100" dirty="0">
                          <a:solidFill>
                            <a:srgbClr val="000000"/>
                          </a:solidFill>
                          <a:effectLst/>
                        </a:rPr>
                        <a:t>1,670</a:t>
                      </a:r>
                      <a:endParaRPr lang="zh-CN" sz="1450" kern="100" dirty="0">
                        <a:effectLst/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kern="1200" dirty="0">
                          <a:solidFill>
                            <a:srgbClr val="000000"/>
                          </a:solidFill>
                          <a:effectLst/>
                        </a:rPr>
                        <a:t>0.513</a:t>
                      </a:r>
                      <a:endParaRPr lang="zh-CN" sz="1450" kern="100" dirty="0">
                        <a:effectLst/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kern="1200" dirty="0">
                          <a:solidFill>
                            <a:srgbClr val="000000"/>
                          </a:solidFill>
                          <a:effectLst/>
                        </a:rPr>
                        <a:t>0.500</a:t>
                      </a:r>
                      <a:endParaRPr lang="zh-CN" sz="1450" kern="100" dirty="0">
                        <a:effectLst/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kern="1200" dirty="0">
                          <a:solidFill>
                            <a:srgbClr val="000000"/>
                          </a:solidFill>
                          <a:effectLst/>
                        </a:rPr>
                        <a:t>0.000</a:t>
                      </a:r>
                      <a:endParaRPr lang="zh-CN" sz="1450" kern="100" dirty="0">
                        <a:effectLst/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kern="1200" dirty="0">
                          <a:solidFill>
                            <a:srgbClr val="000000"/>
                          </a:solidFill>
                          <a:effectLst/>
                        </a:rPr>
                        <a:t>0.000</a:t>
                      </a:r>
                      <a:endParaRPr lang="zh-CN" sz="1450" kern="100" dirty="0">
                        <a:effectLst/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kern="1200" dirty="0">
                          <a:solidFill>
                            <a:srgbClr val="000000"/>
                          </a:solidFill>
                          <a:effectLst/>
                        </a:rPr>
                        <a:t>1.000</a:t>
                      </a:r>
                      <a:endParaRPr lang="zh-CN" sz="1450" kern="100" dirty="0">
                        <a:effectLst/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kern="1200" dirty="0">
                          <a:solidFill>
                            <a:srgbClr val="000000"/>
                          </a:solidFill>
                          <a:effectLst/>
                        </a:rPr>
                        <a:t>1.000</a:t>
                      </a:r>
                      <a:endParaRPr lang="zh-CN" sz="1450" kern="100" dirty="0">
                        <a:effectLst/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kern="1200" dirty="0">
                          <a:solidFill>
                            <a:srgbClr val="000000"/>
                          </a:solidFill>
                          <a:effectLst/>
                        </a:rPr>
                        <a:t>1.000</a:t>
                      </a:r>
                      <a:endParaRPr lang="zh-CN" sz="1450" kern="100" dirty="0">
                        <a:effectLst/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0983003"/>
                  </a:ext>
                </a:extLst>
              </a:tr>
              <a:tr h="21622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i="1" kern="100">
                          <a:solidFill>
                            <a:srgbClr val="000000"/>
                          </a:solidFill>
                          <a:effectLst/>
                        </a:rPr>
                        <a:t>VC</a:t>
                      </a:r>
                      <a:endParaRPr lang="zh-CN" sz="1450" kern="100">
                        <a:effectLst/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kern="100">
                          <a:solidFill>
                            <a:srgbClr val="000000"/>
                          </a:solidFill>
                          <a:effectLst/>
                        </a:rPr>
                        <a:t>1,671</a:t>
                      </a:r>
                      <a:endParaRPr lang="zh-CN" sz="1450" kern="100">
                        <a:effectLst/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kern="1200" dirty="0">
                          <a:solidFill>
                            <a:srgbClr val="000000"/>
                          </a:solidFill>
                          <a:effectLst/>
                        </a:rPr>
                        <a:t>0.591</a:t>
                      </a:r>
                      <a:endParaRPr lang="zh-CN" altLang="en-US" sz="1450" kern="12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2860" marR="22860" marT="4572" marB="457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kern="1200" dirty="0">
                          <a:solidFill>
                            <a:srgbClr val="000000"/>
                          </a:solidFill>
                          <a:effectLst/>
                        </a:rPr>
                        <a:t>0.492</a:t>
                      </a:r>
                      <a:endParaRPr lang="zh-CN" altLang="en-US" sz="1450" kern="12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2860" marR="22860" marT="4572" marB="457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kern="1200">
                          <a:solidFill>
                            <a:srgbClr val="000000"/>
                          </a:solidFill>
                          <a:effectLst/>
                        </a:rPr>
                        <a:t>0.000</a:t>
                      </a:r>
                      <a:endParaRPr lang="zh-CN" altLang="en-US" sz="1450" kern="12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2860" marR="22860" marT="4572" marB="457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kern="1200">
                          <a:solidFill>
                            <a:srgbClr val="000000"/>
                          </a:solidFill>
                          <a:effectLst/>
                        </a:rPr>
                        <a:t>0.000</a:t>
                      </a:r>
                      <a:endParaRPr lang="zh-CN" altLang="en-US" sz="1450" kern="12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2860" marR="22860" marT="4572" marB="457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kern="1200">
                          <a:solidFill>
                            <a:srgbClr val="000000"/>
                          </a:solidFill>
                          <a:effectLst/>
                        </a:rPr>
                        <a:t>1.000</a:t>
                      </a:r>
                      <a:endParaRPr lang="zh-CN" altLang="en-US" sz="1450" kern="12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2860" marR="22860" marT="4572" marB="457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kern="1200">
                          <a:solidFill>
                            <a:srgbClr val="000000"/>
                          </a:solidFill>
                          <a:effectLst/>
                        </a:rPr>
                        <a:t>1.000</a:t>
                      </a:r>
                      <a:endParaRPr lang="zh-CN" altLang="en-US" sz="1450" kern="12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2860" marR="22860" marT="4572" marB="457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kern="1200" dirty="0">
                          <a:solidFill>
                            <a:srgbClr val="000000"/>
                          </a:solidFill>
                          <a:effectLst/>
                        </a:rPr>
                        <a:t>1.000</a:t>
                      </a:r>
                      <a:endParaRPr lang="zh-CN" altLang="en-US" sz="1450" kern="12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2860" marR="22860" marT="4572" marB="457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2981112"/>
                  </a:ext>
                </a:extLst>
              </a:tr>
              <a:tr h="21622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i="1" kern="100">
                          <a:solidFill>
                            <a:srgbClr val="000000"/>
                          </a:solidFill>
                          <a:effectLst/>
                        </a:rPr>
                        <a:t>Big4</a:t>
                      </a:r>
                      <a:endParaRPr lang="zh-CN" sz="1450" kern="100">
                        <a:effectLst/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kern="100">
                          <a:solidFill>
                            <a:srgbClr val="000000"/>
                          </a:solidFill>
                          <a:effectLst/>
                        </a:rPr>
                        <a:t>1,671</a:t>
                      </a:r>
                      <a:endParaRPr lang="zh-CN" sz="1450" kern="100">
                        <a:effectLst/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kern="1200">
                          <a:solidFill>
                            <a:srgbClr val="000000"/>
                          </a:solidFill>
                          <a:effectLst/>
                        </a:rPr>
                        <a:t>0.393</a:t>
                      </a:r>
                      <a:endParaRPr lang="zh-CN" sz="1450" kern="100">
                        <a:effectLst/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kern="1200">
                          <a:solidFill>
                            <a:srgbClr val="000000"/>
                          </a:solidFill>
                          <a:effectLst/>
                        </a:rPr>
                        <a:t>0.489</a:t>
                      </a:r>
                      <a:endParaRPr lang="zh-CN" sz="1450" kern="100">
                        <a:effectLst/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kern="1200" dirty="0">
                          <a:solidFill>
                            <a:srgbClr val="000000"/>
                          </a:solidFill>
                          <a:effectLst/>
                        </a:rPr>
                        <a:t>0.000</a:t>
                      </a:r>
                      <a:endParaRPr lang="zh-CN" sz="1450" kern="100" dirty="0">
                        <a:effectLst/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kern="1200" dirty="0">
                          <a:solidFill>
                            <a:srgbClr val="000000"/>
                          </a:solidFill>
                          <a:effectLst/>
                        </a:rPr>
                        <a:t>0.000</a:t>
                      </a:r>
                      <a:endParaRPr lang="zh-CN" sz="1450" kern="100" dirty="0">
                        <a:effectLst/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kern="1200" dirty="0">
                          <a:solidFill>
                            <a:srgbClr val="000000"/>
                          </a:solidFill>
                          <a:effectLst/>
                        </a:rPr>
                        <a:t>0.000</a:t>
                      </a:r>
                      <a:endParaRPr lang="zh-CN" sz="1450" kern="100" dirty="0">
                        <a:effectLst/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kern="1200" dirty="0">
                          <a:solidFill>
                            <a:srgbClr val="000000"/>
                          </a:solidFill>
                          <a:effectLst/>
                        </a:rPr>
                        <a:t>1.000</a:t>
                      </a:r>
                      <a:endParaRPr lang="zh-CN" sz="1450" kern="100" dirty="0">
                        <a:effectLst/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kern="1200" dirty="0">
                          <a:solidFill>
                            <a:srgbClr val="000000"/>
                          </a:solidFill>
                          <a:effectLst/>
                        </a:rPr>
                        <a:t>1.000</a:t>
                      </a:r>
                      <a:endParaRPr lang="zh-CN" sz="1450" kern="100" dirty="0">
                        <a:effectLst/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4713629"/>
                  </a:ext>
                </a:extLst>
              </a:tr>
              <a:tr h="21622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i="1" kern="100">
                          <a:solidFill>
                            <a:srgbClr val="000000"/>
                          </a:solidFill>
                          <a:effectLst/>
                        </a:rPr>
                        <a:t>Proceeds (in millions)</a:t>
                      </a:r>
                      <a:endParaRPr lang="zh-CN" sz="1450" kern="100">
                        <a:effectLst/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kern="100">
                          <a:solidFill>
                            <a:srgbClr val="000000"/>
                          </a:solidFill>
                          <a:effectLst/>
                        </a:rPr>
                        <a:t>1,671</a:t>
                      </a:r>
                      <a:endParaRPr lang="zh-CN" sz="1450" kern="100">
                        <a:effectLst/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kern="1200" dirty="0">
                          <a:solidFill>
                            <a:srgbClr val="000000"/>
                          </a:solidFill>
                          <a:effectLst/>
                        </a:rPr>
                        <a:t>248.756</a:t>
                      </a:r>
                      <a:endParaRPr lang="zh-CN" sz="1450" kern="100" dirty="0">
                        <a:effectLst/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kern="1200">
                          <a:solidFill>
                            <a:srgbClr val="000000"/>
                          </a:solidFill>
                          <a:effectLst/>
                        </a:rPr>
                        <a:t>383.826</a:t>
                      </a:r>
                      <a:endParaRPr lang="zh-CN" sz="1450" kern="100">
                        <a:effectLst/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kern="1200" dirty="0">
                          <a:solidFill>
                            <a:srgbClr val="000000"/>
                          </a:solidFill>
                          <a:effectLst/>
                        </a:rPr>
                        <a:t>30.000</a:t>
                      </a:r>
                      <a:endParaRPr lang="zh-CN" sz="1450" kern="100" dirty="0">
                        <a:effectLst/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kern="1200" dirty="0">
                          <a:solidFill>
                            <a:srgbClr val="000000"/>
                          </a:solidFill>
                          <a:effectLst/>
                        </a:rPr>
                        <a:t>67.200</a:t>
                      </a:r>
                      <a:endParaRPr lang="zh-CN" sz="1450" kern="100" dirty="0">
                        <a:effectLst/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kern="1200" dirty="0">
                          <a:solidFill>
                            <a:srgbClr val="000000"/>
                          </a:solidFill>
                          <a:effectLst/>
                        </a:rPr>
                        <a:t>120.000</a:t>
                      </a:r>
                      <a:endParaRPr lang="zh-CN" sz="1450" kern="100" dirty="0">
                        <a:effectLst/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kern="1200" dirty="0">
                          <a:solidFill>
                            <a:srgbClr val="000000"/>
                          </a:solidFill>
                          <a:effectLst/>
                        </a:rPr>
                        <a:t>250.000</a:t>
                      </a:r>
                      <a:endParaRPr lang="zh-CN" sz="1450" kern="100" dirty="0">
                        <a:effectLst/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kern="1200" dirty="0">
                          <a:solidFill>
                            <a:srgbClr val="000000"/>
                          </a:solidFill>
                          <a:effectLst/>
                        </a:rPr>
                        <a:t>576.000</a:t>
                      </a:r>
                      <a:endParaRPr lang="zh-CN" sz="1450" kern="100" dirty="0">
                        <a:effectLst/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8289924"/>
                  </a:ext>
                </a:extLst>
              </a:tr>
              <a:tr h="21622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i="1" kern="100">
                          <a:solidFill>
                            <a:srgbClr val="000000"/>
                          </a:solidFill>
                          <a:effectLst/>
                        </a:rPr>
                        <a:t>Age</a:t>
                      </a:r>
                      <a:endParaRPr lang="zh-CN" sz="1450" kern="100">
                        <a:effectLst/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kern="100" dirty="0">
                          <a:solidFill>
                            <a:srgbClr val="000000"/>
                          </a:solidFill>
                          <a:effectLst/>
                        </a:rPr>
                        <a:t>1,665</a:t>
                      </a:r>
                      <a:endParaRPr lang="zh-CN" sz="1450" kern="100" dirty="0">
                        <a:effectLst/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kern="1200">
                          <a:solidFill>
                            <a:srgbClr val="000000"/>
                          </a:solidFill>
                          <a:effectLst/>
                        </a:rPr>
                        <a:t>17.920</a:t>
                      </a:r>
                      <a:endParaRPr lang="zh-CN" sz="1450" kern="100">
                        <a:effectLst/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kern="1200">
                          <a:solidFill>
                            <a:srgbClr val="000000"/>
                          </a:solidFill>
                          <a:effectLst/>
                        </a:rPr>
                        <a:t>22.697</a:t>
                      </a:r>
                      <a:endParaRPr lang="zh-CN" sz="1450" kern="100">
                        <a:effectLst/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kern="1200" dirty="0">
                          <a:solidFill>
                            <a:srgbClr val="000000"/>
                          </a:solidFill>
                          <a:effectLst/>
                        </a:rPr>
                        <a:t>3.000</a:t>
                      </a:r>
                      <a:endParaRPr lang="zh-CN" sz="1450" kern="100" dirty="0">
                        <a:effectLst/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kern="1200" dirty="0">
                          <a:solidFill>
                            <a:srgbClr val="000000"/>
                          </a:solidFill>
                          <a:effectLst/>
                        </a:rPr>
                        <a:t>6.000</a:t>
                      </a:r>
                      <a:endParaRPr lang="zh-CN" sz="1450" kern="100" dirty="0">
                        <a:effectLst/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kern="1200" dirty="0">
                          <a:solidFill>
                            <a:srgbClr val="000000"/>
                          </a:solidFill>
                          <a:effectLst/>
                        </a:rPr>
                        <a:t>10.000</a:t>
                      </a:r>
                      <a:endParaRPr lang="zh-CN" sz="1450" kern="100" dirty="0">
                        <a:effectLst/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kern="1200">
                          <a:solidFill>
                            <a:srgbClr val="000000"/>
                          </a:solidFill>
                          <a:effectLst/>
                        </a:rPr>
                        <a:t>19.000</a:t>
                      </a:r>
                      <a:endParaRPr lang="zh-CN" sz="1450" kern="100">
                        <a:effectLst/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kern="1200" dirty="0">
                          <a:solidFill>
                            <a:srgbClr val="000000"/>
                          </a:solidFill>
                          <a:effectLst/>
                        </a:rPr>
                        <a:t>40.000</a:t>
                      </a:r>
                      <a:endParaRPr lang="zh-CN" sz="1450" kern="100" dirty="0">
                        <a:effectLst/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8197934"/>
                  </a:ext>
                </a:extLst>
              </a:tr>
              <a:tr h="21622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i="1" kern="100" dirty="0">
                          <a:solidFill>
                            <a:srgbClr val="000000"/>
                          </a:solidFill>
                          <a:effectLst/>
                        </a:rPr>
                        <a:t>Assets (in millions)</a:t>
                      </a:r>
                      <a:endParaRPr lang="zh-CN" sz="1450" kern="100" dirty="0">
                        <a:effectLst/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kern="100">
                          <a:solidFill>
                            <a:srgbClr val="000000"/>
                          </a:solidFill>
                          <a:effectLst/>
                        </a:rPr>
                        <a:t>1,669</a:t>
                      </a:r>
                      <a:endParaRPr lang="zh-CN" sz="1450" kern="100">
                        <a:effectLst/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kern="1200">
                          <a:solidFill>
                            <a:srgbClr val="000000"/>
                          </a:solidFill>
                          <a:effectLst/>
                        </a:rPr>
                        <a:t>1414.601</a:t>
                      </a:r>
                      <a:endParaRPr lang="zh-CN" sz="1450" kern="100">
                        <a:effectLst/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kern="1200">
                          <a:solidFill>
                            <a:srgbClr val="000000"/>
                          </a:solidFill>
                          <a:effectLst/>
                        </a:rPr>
                        <a:t>4109.190</a:t>
                      </a:r>
                      <a:endParaRPr lang="zh-CN" sz="1450" kern="100">
                        <a:effectLst/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kern="1200">
                          <a:solidFill>
                            <a:srgbClr val="000000"/>
                          </a:solidFill>
                          <a:effectLst/>
                        </a:rPr>
                        <a:t>16.701</a:t>
                      </a:r>
                      <a:endParaRPr lang="zh-CN" sz="1450" kern="100">
                        <a:effectLst/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kern="1200" dirty="0">
                          <a:solidFill>
                            <a:srgbClr val="000000"/>
                          </a:solidFill>
                          <a:effectLst/>
                        </a:rPr>
                        <a:t>63.757</a:t>
                      </a:r>
                      <a:endParaRPr lang="zh-CN" sz="1450" kern="100" dirty="0">
                        <a:effectLst/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kern="1200" dirty="0">
                          <a:solidFill>
                            <a:srgbClr val="000000"/>
                          </a:solidFill>
                          <a:effectLst/>
                        </a:rPr>
                        <a:t>173.568</a:t>
                      </a:r>
                      <a:endParaRPr lang="zh-CN" sz="1450" kern="100" dirty="0">
                        <a:effectLst/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kern="1200">
                          <a:solidFill>
                            <a:srgbClr val="000000"/>
                          </a:solidFill>
                          <a:effectLst/>
                        </a:rPr>
                        <a:t>876.255</a:t>
                      </a:r>
                      <a:endParaRPr lang="zh-CN" sz="1450" kern="100">
                        <a:effectLst/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kern="1200" dirty="0">
                          <a:solidFill>
                            <a:srgbClr val="000000"/>
                          </a:solidFill>
                          <a:effectLst/>
                        </a:rPr>
                        <a:t>3414.723</a:t>
                      </a:r>
                      <a:endParaRPr lang="zh-CN" sz="1450" kern="100" dirty="0">
                        <a:effectLst/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9942798"/>
                  </a:ext>
                </a:extLst>
              </a:tr>
              <a:tr h="21622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i="1" kern="100">
                          <a:solidFill>
                            <a:srgbClr val="000000"/>
                          </a:solidFill>
                          <a:effectLst/>
                        </a:rPr>
                        <a:t>Sales (in millions)</a:t>
                      </a:r>
                      <a:endParaRPr lang="zh-CN" sz="1450" kern="100">
                        <a:effectLst/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kern="100">
                          <a:solidFill>
                            <a:srgbClr val="000000"/>
                          </a:solidFill>
                          <a:effectLst/>
                        </a:rPr>
                        <a:t>1,668</a:t>
                      </a:r>
                      <a:endParaRPr lang="zh-CN" sz="1450" kern="100">
                        <a:effectLst/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kern="1200">
                          <a:solidFill>
                            <a:srgbClr val="000000"/>
                          </a:solidFill>
                          <a:effectLst/>
                        </a:rPr>
                        <a:t>652.544</a:t>
                      </a:r>
                      <a:endParaRPr lang="zh-CN" sz="1450" kern="100">
                        <a:effectLst/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kern="1200">
                          <a:solidFill>
                            <a:srgbClr val="000000"/>
                          </a:solidFill>
                          <a:effectLst/>
                        </a:rPr>
                        <a:t>1764.007</a:t>
                      </a:r>
                      <a:endParaRPr lang="zh-CN" sz="1450" kern="100">
                        <a:effectLst/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kern="1200" dirty="0">
                          <a:solidFill>
                            <a:srgbClr val="000000"/>
                          </a:solidFill>
                          <a:effectLst/>
                        </a:rPr>
                        <a:t>0.000</a:t>
                      </a:r>
                      <a:endParaRPr lang="zh-CN" sz="1450" kern="100" dirty="0">
                        <a:effectLst/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kern="1200" dirty="0">
                          <a:solidFill>
                            <a:srgbClr val="000000"/>
                          </a:solidFill>
                          <a:effectLst/>
                        </a:rPr>
                        <a:t>0.000</a:t>
                      </a:r>
                      <a:endParaRPr lang="zh-CN" sz="1450" kern="100" dirty="0">
                        <a:effectLst/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kern="1200" dirty="0">
                          <a:solidFill>
                            <a:srgbClr val="000000"/>
                          </a:solidFill>
                          <a:effectLst/>
                        </a:rPr>
                        <a:t>85.929</a:t>
                      </a:r>
                      <a:endParaRPr lang="zh-CN" sz="1450" kern="100" dirty="0">
                        <a:effectLst/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kern="1200">
                          <a:solidFill>
                            <a:srgbClr val="000000"/>
                          </a:solidFill>
                          <a:effectLst/>
                        </a:rPr>
                        <a:t>395.431</a:t>
                      </a:r>
                      <a:endParaRPr lang="zh-CN" sz="1450" kern="100">
                        <a:effectLst/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kern="1200" dirty="0">
                          <a:solidFill>
                            <a:srgbClr val="000000"/>
                          </a:solidFill>
                          <a:effectLst/>
                        </a:rPr>
                        <a:t>1596.681</a:t>
                      </a:r>
                      <a:endParaRPr lang="zh-CN" sz="1450" kern="100" dirty="0">
                        <a:effectLst/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0261202"/>
                  </a:ext>
                </a:extLst>
              </a:tr>
              <a:tr h="21622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i="1" kern="100">
                          <a:solidFill>
                            <a:srgbClr val="000000"/>
                          </a:solidFill>
                          <a:effectLst/>
                        </a:rPr>
                        <a:t>Carve</a:t>
                      </a:r>
                      <a:endParaRPr lang="zh-CN" sz="1450" kern="100">
                        <a:effectLst/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kern="100">
                          <a:solidFill>
                            <a:srgbClr val="000000"/>
                          </a:solidFill>
                          <a:effectLst/>
                        </a:rPr>
                        <a:t>1,671</a:t>
                      </a:r>
                      <a:endParaRPr lang="zh-CN" sz="1450" kern="100">
                        <a:effectLst/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kern="1200">
                          <a:solidFill>
                            <a:srgbClr val="000000"/>
                          </a:solidFill>
                          <a:effectLst/>
                        </a:rPr>
                        <a:t>0.178</a:t>
                      </a:r>
                      <a:endParaRPr lang="zh-CN" sz="1450" kern="100">
                        <a:effectLst/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kern="1200">
                          <a:solidFill>
                            <a:srgbClr val="000000"/>
                          </a:solidFill>
                          <a:effectLst/>
                        </a:rPr>
                        <a:t>0.382</a:t>
                      </a:r>
                      <a:endParaRPr lang="zh-CN" sz="1450" kern="100">
                        <a:effectLst/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kern="1200">
                          <a:solidFill>
                            <a:srgbClr val="000000"/>
                          </a:solidFill>
                          <a:effectLst/>
                        </a:rPr>
                        <a:t>0.000</a:t>
                      </a:r>
                      <a:endParaRPr lang="zh-CN" sz="1450" kern="100">
                        <a:effectLst/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kern="1200" dirty="0">
                          <a:solidFill>
                            <a:srgbClr val="000000"/>
                          </a:solidFill>
                          <a:effectLst/>
                        </a:rPr>
                        <a:t>0.000</a:t>
                      </a:r>
                      <a:endParaRPr lang="zh-CN" sz="1450" kern="100" dirty="0">
                        <a:effectLst/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kern="1200" dirty="0">
                          <a:solidFill>
                            <a:srgbClr val="000000"/>
                          </a:solidFill>
                          <a:effectLst/>
                        </a:rPr>
                        <a:t>0.000</a:t>
                      </a:r>
                      <a:endParaRPr lang="zh-CN" sz="1450" kern="100" dirty="0">
                        <a:effectLst/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kern="1200" dirty="0">
                          <a:solidFill>
                            <a:srgbClr val="000000"/>
                          </a:solidFill>
                          <a:effectLst/>
                        </a:rPr>
                        <a:t>0.000</a:t>
                      </a:r>
                      <a:endParaRPr lang="zh-CN" sz="1450" kern="100" dirty="0">
                        <a:effectLst/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kern="1200" dirty="0">
                          <a:solidFill>
                            <a:srgbClr val="000000"/>
                          </a:solidFill>
                          <a:effectLst/>
                        </a:rPr>
                        <a:t>1.000</a:t>
                      </a:r>
                      <a:endParaRPr lang="zh-CN" sz="1450" kern="100" dirty="0">
                        <a:effectLst/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2416363"/>
                  </a:ext>
                </a:extLst>
              </a:tr>
              <a:tr h="21622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i="1" kern="100">
                          <a:solidFill>
                            <a:srgbClr val="000000"/>
                          </a:solidFill>
                          <a:effectLst/>
                        </a:rPr>
                        <a:t>HighTech</a:t>
                      </a:r>
                      <a:endParaRPr lang="zh-CN" sz="1450" kern="100">
                        <a:effectLst/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kern="100" dirty="0">
                          <a:solidFill>
                            <a:srgbClr val="000000"/>
                          </a:solidFill>
                          <a:effectLst/>
                        </a:rPr>
                        <a:t>1,671</a:t>
                      </a:r>
                      <a:endParaRPr lang="zh-CN" sz="1450" kern="100" dirty="0">
                        <a:effectLst/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kern="1200">
                          <a:solidFill>
                            <a:srgbClr val="000000"/>
                          </a:solidFill>
                          <a:effectLst/>
                        </a:rPr>
                        <a:t>0.550</a:t>
                      </a:r>
                      <a:endParaRPr lang="zh-CN" sz="1450" kern="100">
                        <a:effectLst/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kern="1200">
                          <a:solidFill>
                            <a:srgbClr val="000000"/>
                          </a:solidFill>
                          <a:effectLst/>
                        </a:rPr>
                        <a:t>0.498</a:t>
                      </a:r>
                      <a:endParaRPr lang="zh-CN" sz="1450" kern="100">
                        <a:effectLst/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kern="1200">
                          <a:solidFill>
                            <a:srgbClr val="000000"/>
                          </a:solidFill>
                          <a:effectLst/>
                        </a:rPr>
                        <a:t>0.000</a:t>
                      </a:r>
                      <a:endParaRPr lang="zh-CN" sz="1450" kern="100">
                        <a:effectLst/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kern="1200" dirty="0">
                          <a:solidFill>
                            <a:srgbClr val="000000"/>
                          </a:solidFill>
                          <a:effectLst/>
                        </a:rPr>
                        <a:t>0.000</a:t>
                      </a:r>
                      <a:endParaRPr lang="zh-CN" sz="1450" kern="100" dirty="0">
                        <a:effectLst/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kern="1200" dirty="0">
                          <a:solidFill>
                            <a:srgbClr val="000000"/>
                          </a:solidFill>
                          <a:effectLst/>
                        </a:rPr>
                        <a:t>1.000</a:t>
                      </a:r>
                      <a:endParaRPr lang="zh-CN" sz="1450" kern="100" dirty="0">
                        <a:effectLst/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kern="1200" dirty="0">
                          <a:solidFill>
                            <a:srgbClr val="000000"/>
                          </a:solidFill>
                          <a:effectLst/>
                        </a:rPr>
                        <a:t>1.000</a:t>
                      </a:r>
                      <a:endParaRPr lang="zh-CN" sz="1450" kern="100" dirty="0">
                        <a:effectLst/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kern="1200" dirty="0">
                          <a:solidFill>
                            <a:srgbClr val="000000"/>
                          </a:solidFill>
                          <a:effectLst/>
                        </a:rPr>
                        <a:t>1.000</a:t>
                      </a:r>
                      <a:endParaRPr lang="zh-CN" sz="1450" kern="100" dirty="0">
                        <a:effectLst/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6461177"/>
                  </a:ext>
                </a:extLst>
              </a:tr>
              <a:tr h="21622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i="1" kern="100">
                          <a:solidFill>
                            <a:srgbClr val="000000"/>
                          </a:solidFill>
                          <a:effectLst/>
                        </a:rPr>
                        <a:t>Biotech</a:t>
                      </a:r>
                      <a:endParaRPr lang="zh-CN" sz="1450" kern="100">
                        <a:effectLst/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kern="100">
                          <a:solidFill>
                            <a:srgbClr val="000000"/>
                          </a:solidFill>
                          <a:effectLst/>
                        </a:rPr>
                        <a:t>1,671</a:t>
                      </a:r>
                      <a:endParaRPr lang="zh-CN" sz="1450" kern="100">
                        <a:effectLst/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kern="1200">
                          <a:solidFill>
                            <a:srgbClr val="000000"/>
                          </a:solidFill>
                          <a:effectLst/>
                        </a:rPr>
                        <a:t>0.323</a:t>
                      </a:r>
                      <a:endParaRPr lang="zh-CN" sz="1450" kern="100">
                        <a:effectLst/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kern="1200">
                          <a:solidFill>
                            <a:srgbClr val="000000"/>
                          </a:solidFill>
                          <a:effectLst/>
                        </a:rPr>
                        <a:t>0.468</a:t>
                      </a:r>
                      <a:endParaRPr lang="zh-CN" sz="1450" kern="100">
                        <a:effectLst/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kern="1200">
                          <a:solidFill>
                            <a:srgbClr val="000000"/>
                          </a:solidFill>
                          <a:effectLst/>
                        </a:rPr>
                        <a:t>0.000</a:t>
                      </a:r>
                      <a:endParaRPr lang="zh-CN" sz="1450" kern="100">
                        <a:effectLst/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kern="1200" dirty="0">
                          <a:solidFill>
                            <a:srgbClr val="000000"/>
                          </a:solidFill>
                          <a:effectLst/>
                        </a:rPr>
                        <a:t>0.000</a:t>
                      </a:r>
                      <a:endParaRPr lang="zh-CN" sz="1450" kern="100" dirty="0">
                        <a:effectLst/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kern="1200" dirty="0">
                          <a:solidFill>
                            <a:srgbClr val="000000"/>
                          </a:solidFill>
                          <a:effectLst/>
                        </a:rPr>
                        <a:t>0.000</a:t>
                      </a:r>
                      <a:endParaRPr lang="zh-CN" sz="1450" kern="100" dirty="0">
                        <a:effectLst/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kern="1200" dirty="0">
                          <a:solidFill>
                            <a:srgbClr val="000000"/>
                          </a:solidFill>
                          <a:effectLst/>
                        </a:rPr>
                        <a:t>1.000</a:t>
                      </a:r>
                      <a:endParaRPr lang="zh-CN" sz="1450" kern="100" dirty="0">
                        <a:effectLst/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kern="1200" dirty="0">
                          <a:solidFill>
                            <a:srgbClr val="000000"/>
                          </a:solidFill>
                          <a:effectLst/>
                        </a:rPr>
                        <a:t>1.000</a:t>
                      </a:r>
                      <a:endParaRPr lang="zh-CN" sz="1450" kern="100" dirty="0">
                        <a:effectLst/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3210258"/>
                  </a:ext>
                </a:extLst>
              </a:tr>
              <a:tr h="21622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i="1" kern="100">
                          <a:solidFill>
                            <a:srgbClr val="000000"/>
                          </a:solidFill>
                          <a:effectLst/>
                        </a:rPr>
                        <a:t>PrcRev</a:t>
                      </a:r>
                      <a:endParaRPr lang="zh-CN" sz="1450" kern="100">
                        <a:effectLst/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kern="100">
                          <a:solidFill>
                            <a:srgbClr val="000000"/>
                          </a:solidFill>
                          <a:effectLst/>
                        </a:rPr>
                        <a:t>1,671</a:t>
                      </a:r>
                      <a:endParaRPr lang="zh-CN" sz="1450" kern="100">
                        <a:effectLst/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kern="1200">
                          <a:solidFill>
                            <a:srgbClr val="000000"/>
                          </a:solidFill>
                          <a:effectLst/>
                        </a:rPr>
                        <a:t>-0.013</a:t>
                      </a:r>
                      <a:endParaRPr lang="zh-CN" sz="1450" kern="100">
                        <a:effectLst/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kern="1200">
                          <a:solidFill>
                            <a:srgbClr val="000000"/>
                          </a:solidFill>
                          <a:effectLst/>
                        </a:rPr>
                        <a:t>0.139</a:t>
                      </a:r>
                      <a:endParaRPr lang="zh-CN" sz="1450" kern="100">
                        <a:effectLst/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kern="1200">
                          <a:solidFill>
                            <a:srgbClr val="000000"/>
                          </a:solidFill>
                          <a:effectLst/>
                        </a:rPr>
                        <a:t>-0.214</a:t>
                      </a:r>
                      <a:endParaRPr lang="zh-CN" sz="1450" kern="100">
                        <a:effectLst/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kern="1200" dirty="0">
                          <a:solidFill>
                            <a:srgbClr val="000000"/>
                          </a:solidFill>
                          <a:effectLst/>
                        </a:rPr>
                        <a:t>-0.077</a:t>
                      </a:r>
                      <a:endParaRPr lang="zh-CN" sz="1450" kern="100" dirty="0">
                        <a:effectLst/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kern="1200" dirty="0">
                          <a:solidFill>
                            <a:srgbClr val="000000"/>
                          </a:solidFill>
                          <a:effectLst/>
                        </a:rPr>
                        <a:t>0.000</a:t>
                      </a:r>
                      <a:endParaRPr lang="zh-CN" sz="1450" kern="100" dirty="0">
                        <a:effectLst/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kern="1200" dirty="0">
                          <a:solidFill>
                            <a:srgbClr val="000000"/>
                          </a:solidFill>
                          <a:effectLst/>
                        </a:rPr>
                        <a:t>0.071</a:t>
                      </a:r>
                      <a:endParaRPr lang="zh-CN" sz="1450" kern="100" dirty="0">
                        <a:effectLst/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kern="1200" dirty="0">
                          <a:solidFill>
                            <a:srgbClr val="000000"/>
                          </a:solidFill>
                          <a:effectLst/>
                        </a:rPr>
                        <a:t>0.143</a:t>
                      </a:r>
                      <a:endParaRPr lang="zh-CN" sz="1450" kern="100" dirty="0">
                        <a:effectLst/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2146554"/>
                  </a:ext>
                </a:extLst>
              </a:tr>
              <a:tr h="21622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i="1" kern="100">
                          <a:solidFill>
                            <a:srgbClr val="000000"/>
                          </a:solidFill>
                          <a:effectLst/>
                        </a:rPr>
                        <a:t>Internet</a:t>
                      </a:r>
                      <a:endParaRPr lang="zh-CN" sz="1450" kern="100">
                        <a:effectLst/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kern="100">
                          <a:solidFill>
                            <a:srgbClr val="000000"/>
                          </a:solidFill>
                          <a:effectLst/>
                        </a:rPr>
                        <a:t>1,671</a:t>
                      </a:r>
                      <a:endParaRPr lang="zh-CN" sz="1450" kern="100">
                        <a:effectLst/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kern="1200">
                          <a:solidFill>
                            <a:srgbClr val="000000"/>
                          </a:solidFill>
                          <a:effectLst/>
                        </a:rPr>
                        <a:t>0.095</a:t>
                      </a:r>
                      <a:endParaRPr lang="zh-CN" sz="1450" kern="100">
                        <a:effectLst/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kern="1200">
                          <a:solidFill>
                            <a:srgbClr val="000000"/>
                          </a:solidFill>
                          <a:effectLst/>
                        </a:rPr>
                        <a:t>0.293</a:t>
                      </a:r>
                      <a:endParaRPr lang="zh-CN" sz="1450" kern="100">
                        <a:effectLst/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kern="1200">
                          <a:solidFill>
                            <a:srgbClr val="000000"/>
                          </a:solidFill>
                          <a:effectLst/>
                        </a:rPr>
                        <a:t>0.000</a:t>
                      </a:r>
                      <a:endParaRPr lang="zh-CN" sz="1450" kern="100">
                        <a:effectLst/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kern="1200" dirty="0">
                          <a:solidFill>
                            <a:srgbClr val="000000"/>
                          </a:solidFill>
                          <a:effectLst/>
                        </a:rPr>
                        <a:t>0.000</a:t>
                      </a:r>
                      <a:endParaRPr lang="zh-CN" sz="1450" kern="100" dirty="0">
                        <a:effectLst/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kern="1200" dirty="0">
                          <a:solidFill>
                            <a:srgbClr val="000000"/>
                          </a:solidFill>
                          <a:effectLst/>
                        </a:rPr>
                        <a:t>0.000</a:t>
                      </a:r>
                      <a:endParaRPr lang="zh-CN" sz="1450" kern="100" dirty="0">
                        <a:effectLst/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kern="1200" dirty="0">
                          <a:solidFill>
                            <a:srgbClr val="000000"/>
                          </a:solidFill>
                          <a:effectLst/>
                        </a:rPr>
                        <a:t>0.000</a:t>
                      </a:r>
                      <a:endParaRPr lang="zh-CN" sz="1450" kern="100" dirty="0">
                        <a:effectLst/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kern="1200" dirty="0">
                          <a:solidFill>
                            <a:srgbClr val="000000"/>
                          </a:solidFill>
                          <a:effectLst/>
                        </a:rPr>
                        <a:t>0.000</a:t>
                      </a:r>
                      <a:endParaRPr lang="zh-CN" sz="1450" kern="100" dirty="0">
                        <a:effectLst/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6661608"/>
                  </a:ext>
                </a:extLst>
              </a:tr>
              <a:tr h="21622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i="1" kern="100">
                          <a:solidFill>
                            <a:srgbClr val="000000"/>
                          </a:solidFill>
                          <a:effectLst/>
                        </a:rPr>
                        <a:t>Overhang</a:t>
                      </a:r>
                      <a:endParaRPr lang="zh-CN" sz="1450" kern="100">
                        <a:effectLst/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kern="100">
                          <a:solidFill>
                            <a:srgbClr val="000000"/>
                          </a:solidFill>
                          <a:effectLst/>
                        </a:rPr>
                        <a:t>1,671</a:t>
                      </a:r>
                      <a:endParaRPr lang="zh-CN" sz="1450" kern="100">
                        <a:effectLst/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kern="1200">
                          <a:solidFill>
                            <a:srgbClr val="000000"/>
                          </a:solidFill>
                          <a:effectLst/>
                        </a:rPr>
                        <a:t>4.615</a:t>
                      </a:r>
                      <a:endParaRPr lang="zh-CN" sz="1450" kern="100">
                        <a:effectLst/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kern="1200">
                          <a:solidFill>
                            <a:srgbClr val="000000"/>
                          </a:solidFill>
                          <a:effectLst/>
                        </a:rPr>
                        <a:t>4.688</a:t>
                      </a:r>
                      <a:endParaRPr lang="zh-CN" sz="1450" kern="100">
                        <a:effectLst/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kern="1200">
                          <a:solidFill>
                            <a:srgbClr val="000000"/>
                          </a:solidFill>
                          <a:effectLst/>
                        </a:rPr>
                        <a:t>1.059</a:t>
                      </a:r>
                      <a:endParaRPr lang="zh-CN" sz="1450" kern="100">
                        <a:effectLst/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kern="1200" dirty="0">
                          <a:solidFill>
                            <a:srgbClr val="000000"/>
                          </a:solidFill>
                          <a:effectLst/>
                        </a:rPr>
                        <a:t>2.175</a:t>
                      </a:r>
                      <a:endParaRPr lang="zh-CN" sz="1450" kern="100" dirty="0">
                        <a:effectLst/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kern="1200" dirty="0">
                          <a:solidFill>
                            <a:srgbClr val="000000"/>
                          </a:solidFill>
                          <a:effectLst/>
                        </a:rPr>
                        <a:t>3.420</a:t>
                      </a:r>
                      <a:endParaRPr lang="zh-CN" sz="1450" kern="100" dirty="0">
                        <a:effectLst/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kern="1200" dirty="0">
                          <a:solidFill>
                            <a:srgbClr val="000000"/>
                          </a:solidFill>
                          <a:effectLst/>
                        </a:rPr>
                        <a:t>5.590</a:t>
                      </a:r>
                      <a:endParaRPr lang="zh-CN" sz="1450" kern="100" dirty="0">
                        <a:effectLst/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kern="1200" dirty="0">
                          <a:solidFill>
                            <a:srgbClr val="000000"/>
                          </a:solidFill>
                          <a:effectLst/>
                        </a:rPr>
                        <a:t>8.560</a:t>
                      </a:r>
                      <a:endParaRPr lang="zh-CN" sz="1450" kern="100" dirty="0">
                        <a:effectLst/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038755"/>
                  </a:ext>
                </a:extLst>
              </a:tr>
              <a:tr h="21622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i="1" kern="100">
                          <a:solidFill>
                            <a:srgbClr val="000000"/>
                          </a:solidFill>
                          <a:effectLst/>
                        </a:rPr>
                        <a:t>Primary</a:t>
                      </a:r>
                      <a:endParaRPr lang="zh-CN" sz="1450" kern="100">
                        <a:effectLst/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kern="100">
                          <a:solidFill>
                            <a:srgbClr val="000000"/>
                          </a:solidFill>
                          <a:effectLst/>
                        </a:rPr>
                        <a:t>1,671</a:t>
                      </a:r>
                      <a:endParaRPr lang="zh-CN" sz="1450" kern="100">
                        <a:effectLst/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kern="1200">
                          <a:solidFill>
                            <a:srgbClr val="000000"/>
                          </a:solidFill>
                          <a:effectLst/>
                        </a:rPr>
                        <a:t>0.328</a:t>
                      </a:r>
                      <a:endParaRPr lang="zh-CN" sz="1450" kern="100">
                        <a:effectLst/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kern="1200">
                          <a:solidFill>
                            <a:srgbClr val="000000"/>
                          </a:solidFill>
                          <a:effectLst/>
                        </a:rPr>
                        <a:t>0.470</a:t>
                      </a:r>
                      <a:endParaRPr lang="zh-CN" sz="1450" kern="100">
                        <a:effectLst/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kern="1200">
                          <a:solidFill>
                            <a:srgbClr val="000000"/>
                          </a:solidFill>
                          <a:effectLst/>
                        </a:rPr>
                        <a:t>0.000</a:t>
                      </a:r>
                      <a:endParaRPr lang="zh-CN" sz="1450" kern="100">
                        <a:effectLst/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kern="1200" dirty="0">
                          <a:solidFill>
                            <a:srgbClr val="000000"/>
                          </a:solidFill>
                          <a:effectLst/>
                        </a:rPr>
                        <a:t>0.000</a:t>
                      </a:r>
                      <a:endParaRPr lang="zh-CN" sz="1450" kern="100" dirty="0">
                        <a:effectLst/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kern="1200" dirty="0">
                          <a:solidFill>
                            <a:srgbClr val="000000"/>
                          </a:solidFill>
                          <a:effectLst/>
                        </a:rPr>
                        <a:t>0.000</a:t>
                      </a:r>
                      <a:endParaRPr lang="zh-CN" sz="1450" kern="100" dirty="0">
                        <a:effectLst/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kern="1200" dirty="0">
                          <a:solidFill>
                            <a:srgbClr val="000000"/>
                          </a:solidFill>
                          <a:effectLst/>
                        </a:rPr>
                        <a:t>1.000</a:t>
                      </a:r>
                      <a:endParaRPr lang="zh-CN" sz="1450" kern="100" dirty="0">
                        <a:effectLst/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kern="1200" dirty="0">
                          <a:solidFill>
                            <a:srgbClr val="000000"/>
                          </a:solidFill>
                          <a:effectLst/>
                        </a:rPr>
                        <a:t>1.000</a:t>
                      </a:r>
                      <a:endParaRPr lang="zh-CN" sz="1450" kern="100" dirty="0">
                        <a:effectLst/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3975701"/>
                  </a:ext>
                </a:extLst>
              </a:tr>
              <a:tr h="21622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i="1" kern="100">
                          <a:solidFill>
                            <a:srgbClr val="000000"/>
                          </a:solidFill>
                          <a:effectLst/>
                        </a:rPr>
                        <a:t>PositiveEPS</a:t>
                      </a:r>
                      <a:endParaRPr lang="zh-CN" sz="1450" kern="100">
                        <a:effectLst/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kern="100">
                          <a:solidFill>
                            <a:srgbClr val="000000"/>
                          </a:solidFill>
                          <a:effectLst/>
                        </a:rPr>
                        <a:t>1,671</a:t>
                      </a:r>
                      <a:endParaRPr lang="zh-CN" sz="1450" kern="100">
                        <a:effectLst/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kern="1200">
                          <a:solidFill>
                            <a:srgbClr val="000000"/>
                          </a:solidFill>
                          <a:effectLst/>
                        </a:rPr>
                        <a:t>0.271</a:t>
                      </a:r>
                      <a:endParaRPr lang="zh-CN" sz="1450" kern="100">
                        <a:effectLst/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kern="1200">
                          <a:solidFill>
                            <a:srgbClr val="000000"/>
                          </a:solidFill>
                          <a:effectLst/>
                        </a:rPr>
                        <a:t>0.445</a:t>
                      </a:r>
                      <a:endParaRPr lang="zh-CN" sz="1450" kern="100">
                        <a:effectLst/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kern="1200">
                          <a:solidFill>
                            <a:srgbClr val="000000"/>
                          </a:solidFill>
                          <a:effectLst/>
                        </a:rPr>
                        <a:t>0.000</a:t>
                      </a:r>
                      <a:endParaRPr lang="zh-CN" sz="1450" kern="100">
                        <a:effectLst/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kern="1200" dirty="0">
                          <a:solidFill>
                            <a:srgbClr val="000000"/>
                          </a:solidFill>
                          <a:effectLst/>
                        </a:rPr>
                        <a:t>0.000</a:t>
                      </a:r>
                      <a:endParaRPr lang="zh-CN" sz="1450" kern="100" dirty="0">
                        <a:effectLst/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kern="1200" dirty="0">
                          <a:solidFill>
                            <a:srgbClr val="000000"/>
                          </a:solidFill>
                          <a:effectLst/>
                        </a:rPr>
                        <a:t>0.000</a:t>
                      </a:r>
                      <a:endParaRPr lang="zh-CN" sz="1450" kern="100" dirty="0">
                        <a:effectLst/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kern="1200" dirty="0">
                          <a:solidFill>
                            <a:srgbClr val="000000"/>
                          </a:solidFill>
                          <a:effectLst/>
                        </a:rPr>
                        <a:t>1.000</a:t>
                      </a:r>
                      <a:endParaRPr lang="zh-CN" sz="1450" kern="100" dirty="0">
                        <a:effectLst/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kern="1200" dirty="0">
                          <a:solidFill>
                            <a:srgbClr val="000000"/>
                          </a:solidFill>
                          <a:effectLst/>
                        </a:rPr>
                        <a:t>1.000</a:t>
                      </a:r>
                      <a:endParaRPr lang="zh-CN" sz="1450" kern="100" dirty="0">
                        <a:effectLst/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3738817"/>
                  </a:ext>
                </a:extLst>
              </a:tr>
              <a:tr h="21622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i="1" kern="100">
                          <a:solidFill>
                            <a:srgbClr val="000000"/>
                          </a:solidFill>
                          <a:effectLst/>
                        </a:rPr>
                        <a:t>Second</a:t>
                      </a:r>
                      <a:endParaRPr lang="zh-CN" sz="1450" kern="100">
                        <a:effectLst/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kern="100">
                          <a:solidFill>
                            <a:srgbClr val="000000"/>
                          </a:solidFill>
                          <a:effectLst/>
                        </a:rPr>
                        <a:t>1,671</a:t>
                      </a:r>
                      <a:endParaRPr lang="zh-CN" sz="1450" kern="100">
                        <a:effectLst/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kern="1200">
                          <a:solidFill>
                            <a:srgbClr val="000000"/>
                          </a:solidFill>
                          <a:effectLst/>
                        </a:rPr>
                        <a:t>0.097</a:t>
                      </a:r>
                      <a:endParaRPr lang="zh-CN" sz="1450" kern="100">
                        <a:effectLst/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kern="1200">
                          <a:solidFill>
                            <a:srgbClr val="000000"/>
                          </a:solidFill>
                          <a:effectLst/>
                        </a:rPr>
                        <a:t>0.231</a:t>
                      </a:r>
                      <a:endParaRPr lang="zh-CN" sz="1450" kern="100">
                        <a:effectLst/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kern="1200">
                          <a:solidFill>
                            <a:srgbClr val="000000"/>
                          </a:solidFill>
                          <a:effectLst/>
                        </a:rPr>
                        <a:t>0.000</a:t>
                      </a:r>
                      <a:endParaRPr lang="zh-CN" sz="1450" kern="100">
                        <a:effectLst/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kern="1200">
                          <a:solidFill>
                            <a:srgbClr val="000000"/>
                          </a:solidFill>
                          <a:effectLst/>
                        </a:rPr>
                        <a:t>0.000</a:t>
                      </a:r>
                      <a:endParaRPr lang="zh-CN" sz="1450" kern="100">
                        <a:effectLst/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kern="1200" dirty="0">
                          <a:solidFill>
                            <a:srgbClr val="000000"/>
                          </a:solidFill>
                          <a:effectLst/>
                        </a:rPr>
                        <a:t>0.000</a:t>
                      </a:r>
                      <a:endParaRPr lang="zh-CN" sz="1450" kern="100" dirty="0">
                        <a:effectLst/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kern="1200" dirty="0">
                          <a:solidFill>
                            <a:srgbClr val="000000"/>
                          </a:solidFill>
                          <a:effectLst/>
                        </a:rPr>
                        <a:t>0.000</a:t>
                      </a:r>
                      <a:endParaRPr lang="zh-CN" sz="1450" kern="100" dirty="0">
                        <a:effectLst/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kern="1200" dirty="0">
                          <a:solidFill>
                            <a:srgbClr val="000000"/>
                          </a:solidFill>
                          <a:effectLst/>
                        </a:rPr>
                        <a:t>0.368</a:t>
                      </a:r>
                      <a:endParaRPr lang="zh-CN" sz="1450" kern="100" dirty="0">
                        <a:effectLst/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9123210"/>
                  </a:ext>
                </a:extLst>
              </a:tr>
            </a:tbl>
          </a:graphicData>
        </a:graphic>
      </p:graphicFrame>
      <p:sp>
        <p:nvSpPr>
          <p:cNvPr id="7" name="footer text"/>
          <p:cNvSpPr txBox="1"/>
          <p:nvPr/>
        </p:nvSpPr>
        <p:spPr>
          <a:xfrm>
            <a:off x="1097280" y="6446520"/>
            <a:ext cx="8686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FFFFFF"/>
                </a:solidFill>
              </a:rPr>
              <a:t>When AI-Washing Meets Initial Public Offerings  |  2026 FMA Annual Meeting</a:t>
            </a:r>
          </a:p>
        </p:txBody>
      </p:sp>
      <p:sp>
        <p:nvSpPr>
          <p:cNvPr id="8" name="slide number"/>
          <p:cNvSpPr txBox="1"/>
          <p:nvPr/>
        </p:nvSpPr>
        <p:spPr>
          <a:xfrm>
            <a:off x="10698480" y="64465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</a:rPr>
              <a:t>A11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Univariate test</a:t>
            </a:r>
          </a:p>
        </p:txBody>
      </p:sp>
      <p:sp>
        <p:nvSpPr>
          <p:cNvPr id="204" name="univ_label_0">
            <a:extLst>
              <a:ext uri="{FF2B5EF4-FFF2-40B4-BE49-F238E27FC236}">
                <a16:creationId xmlns:a16="http://schemas.microsoft.com/office/drawing/2014/main" id="{4024C86B-1198-424D-9D8B-C1DE4048634E}"/>
              </a:ext>
            </a:extLst>
          </p:cNvPr>
          <p:cNvSpPr>
            <a:spLocks noGrp="1"/>
          </p:cNvSpPr>
          <p:nvPr/>
        </p:nvSpPr>
        <p:spPr>
          <a:xfrm>
            <a:off x="1266074" y="2104593"/>
            <a:ext cx="4766636" cy="545746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ctr">
              <a:defRPr sz="1300" b="1">
                <a:solidFill>
                  <a:srgbClr val="000000"/>
                </a:solidFill>
              </a:defRPr>
            </a:defPPr>
          </a:lstStyle>
          <a:p>
            <a:pPr algn="ctr">
              <a:defRPr sz="1300" b="1">
                <a:solidFill>
                  <a:srgbClr val="000000"/>
                </a:solidFill>
              </a:defRPr>
            </a:pPr>
            <a:r>
              <a:rPr sz="1800" b="1" dirty="0">
                <a:solidFill>
                  <a:srgbClr val="000000"/>
                </a:solidFill>
              </a:rPr>
              <a:t>Panel A. Non-AI versus AI-washing </a:t>
            </a:r>
            <a:endParaRPr lang="en-US" sz="1800" b="1" dirty="0">
              <a:solidFill>
                <a:srgbClr val="000000"/>
              </a:solidFill>
            </a:endParaRPr>
          </a:p>
          <a:p>
            <a:pPr algn="ctr">
              <a:defRPr sz="1300" b="1">
                <a:solidFill>
                  <a:srgbClr val="000000"/>
                </a:solidFill>
              </a:defRPr>
            </a:pPr>
            <a:r>
              <a:rPr sz="1800" b="1" dirty="0">
                <a:solidFill>
                  <a:srgbClr val="000000"/>
                </a:solidFill>
              </a:rPr>
              <a:t>(N = 1,278)</a:t>
            </a:r>
          </a:p>
        </p:txBody>
      </p:sp>
      <p:graphicFrame>
        <p:nvGraphicFramePr>
          <p:cNvPr id="205" name="表格 204">
            <a:extLst>
              <a:ext uri="{FF2B5EF4-FFF2-40B4-BE49-F238E27FC236}">
                <a16:creationId xmlns:a16="http://schemas.microsoft.com/office/drawing/2014/main" id="{F76CCF97-F407-4227-8657-A6603962F78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53647625"/>
              </p:ext>
            </p:extLst>
          </p:nvPr>
        </p:nvGraphicFramePr>
        <p:xfrm>
          <a:off x="2038684" y="2735391"/>
          <a:ext cx="8175592" cy="3528248"/>
        </p:xfrm>
        <a:graphic>
          <a:graphicData uri="http://schemas.openxmlformats.org/drawingml/2006/table">
            <a:tbl>
              <a:tblPr/>
              <a:tblGrid>
                <a:gridCol w="101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32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32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32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932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9329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9329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06293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dirty="0">
                          <a:solidFill>
                            <a:srgbClr val="000000"/>
                          </a:solidFill>
                        </a:rPr>
                        <a:t>Variable</a:t>
                      </a:r>
                    </a:p>
                  </a:txBody>
                  <a:tcPr marL="22860" marR="22860" marT="4572" marB="4572" anchor="ctr">
                    <a:lnL w="0">
                      <a:noFill/>
                    </a:lnL>
                    <a:lnR w="0">
                      <a:noFill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dirty="0">
                          <a:solidFill>
                            <a:srgbClr val="000000"/>
                          </a:solidFill>
                        </a:rPr>
                        <a:t>N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dirty="0">
                          <a:solidFill>
                            <a:srgbClr val="000000"/>
                          </a:solidFill>
                        </a:rPr>
                        <a:t>Mean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000000"/>
                          </a:solidFill>
                        </a:rPr>
                        <a:t>N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dirty="0">
                          <a:solidFill>
                            <a:srgbClr val="000000"/>
                          </a:solidFill>
                        </a:rPr>
                        <a:t>Mean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dirty="0">
                          <a:solidFill>
                            <a:srgbClr val="000000"/>
                          </a:solidFill>
                        </a:rPr>
                        <a:t>Diff.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000000"/>
                          </a:solidFill>
                        </a:rPr>
                        <a:t>t-stat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6293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1" dirty="0" err="1">
                          <a:solidFill>
                            <a:srgbClr val="000000"/>
                          </a:solidFill>
                        </a:rPr>
                        <a:t>HighUW</a:t>
                      </a:r>
                      <a:endParaRPr sz="1300" b="0" i="1" dirty="0">
                        <a:solidFill>
                          <a:srgbClr val="000000"/>
                        </a:solidFill>
                      </a:endParaRPr>
                    </a:p>
                  </a:txBody>
                  <a:tcPr marL="22860" marR="22860" marT="4572" marB="457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dirty="0">
                          <a:solidFill>
                            <a:srgbClr val="000000"/>
                          </a:solidFill>
                        </a:rPr>
                        <a:t>1,171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dirty="0">
                          <a:solidFill>
                            <a:srgbClr val="000000"/>
                          </a:solidFill>
                        </a:rPr>
                        <a:t>0.445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dirty="0">
                          <a:solidFill>
                            <a:srgbClr val="000000"/>
                          </a:solidFill>
                        </a:rPr>
                        <a:t>106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dirty="0">
                          <a:solidFill>
                            <a:srgbClr val="000000"/>
                          </a:solidFill>
                        </a:rPr>
                        <a:t>0.575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dirty="0">
                          <a:solidFill>
                            <a:srgbClr val="000000"/>
                          </a:solidFill>
                        </a:rPr>
                        <a:t>-0.131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dirty="0">
                          <a:solidFill>
                            <a:srgbClr val="000000"/>
                          </a:solidFill>
                        </a:rPr>
                        <a:t>-2.589***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6293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1" dirty="0">
                          <a:solidFill>
                            <a:srgbClr val="000000"/>
                          </a:solidFill>
                        </a:rPr>
                        <a:t>VC</a:t>
                      </a:r>
                    </a:p>
                  </a:txBody>
                  <a:tcPr marL="22860" marR="22860" marT="4572" marB="4572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00000"/>
                          </a:solidFill>
                        </a:rPr>
                        <a:t>1,171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00000"/>
                          </a:solidFill>
                        </a:rPr>
                        <a:t>0.599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00000"/>
                          </a:solidFill>
                        </a:rPr>
                        <a:t>107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dirty="0">
                          <a:solidFill>
                            <a:srgbClr val="000000"/>
                          </a:solidFill>
                        </a:rPr>
                        <a:t>0.701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dirty="0">
                          <a:solidFill>
                            <a:srgbClr val="000000"/>
                          </a:solidFill>
                        </a:rPr>
                        <a:t>-0.102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00000"/>
                          </a:solidFill>
                        </a:rPr>
                        <a:t>-1.619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6293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1" dirty="0">
                          <a:solidFill>
                            <a:srgbClr val="000000"/>
                          </a:solidFill>
                        </a:rPr>
                        <a:t>Age</a:t>
                      </a:r>
                    </a:p>
                  </a:txBody>
                  <a:tcPr marL="22860" marR="22860" marT="4572" marB="4572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00000"/>
                          </a:solidFill>
                        </a:rPr>
                        <a:t>1,165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00000"/>
                          </a:solidFill>
                        </a:rPr>
                        <a:t>2.488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00000"/>
                          </a:solidFill>
                        </a:rPr>
                        <a:t>107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dirty="0">
                          <a:solidFill>
                            <a:srgbClr val="000000"/>
                          </a:solidFill>
                        </a:rPr>
                        <a:t>2.513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dirty="0">
                          <a:solidFill>
                            <a:srgbClr val="000000"/>
                          </a:solidFill>
                        </a:rPr>
                        <a:t>-0.026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dirty="0">
                          <a:solidFill>
                            <a:srgbClr val="000000"/>
                          </a:solidFill>
                        </a:rPr>
                        <a:t>-0.270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6293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1" dirty="0">
                          <a:solidFill>
                            <a:srgbClr val="000000"/>
                          </a:solidFill>
                        </a:rPr>
                        <a:t>Proceeds</a:t>
                      </a:r>
                    </a:p>
                  </a:txBody>
                  <a:tcPr marL="22860" marR="22860" marT="4572" marB="4572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00000"/>
                          </a:solidFill>
                        </a:rPr>
                        <a:t>1,171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00000"/>
                          </a:solidFill>
                        </a:rPr>
                        <a:t>4.672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00000"/>
                          </a:solidFill>
                        </a:rPr>
                        <a:t>107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00000"/>
                          </a:solidFill>
                        </a:rPr>
                        <a:t>4.847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dirty="0">
                          <a:solidFill>
                            <a:srgbClr val="000000"/>
                          </a:solidFill>
                        </a:rPr>
                        <a:t>-0.175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dirty="0">
                          <a:solidFill>
                            <a:srgbClr val="000000"/>
                          </a:solidFill>
                        </a:rPr>
                        <a:t>-1.515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6293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1">
                          <a:solidFill>
                            <a:srgbClr val="000000"/>
                          </a:solidFill>
                        </a:rPr>
                        <a:t>Sales</a:t>
                      </a:r>
                    </a:p>
                  </a:txBody>
                  <a:tcPr marL="22860" marR="22860" marT="4572" marB="4572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dirty="0">
                          <a:solidFill>
                            <a:srgbClr val="000000"/>
                          </a:solidFill>
                        </a:rPr>
                        <a:t>1,168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00000"/>
                          </a:solidFill>
                        </a:rPr>
                        <a:t>3.330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00000"/>
                          </a:solidFill>
                        </a:rPr>
                        <a:t>107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00000"/>
                          </a:solidFill>
                        </a:rPr>
                        <a:t>4.182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dirty="0">
                          <a:solidFill>
                            <a:srgbClr val="000000"/>
                          </a:solidFill>
                        </a:rPr>
                        <a:t>-0.852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dirty="0">
                          <a:solidFill>
                            <a:srgbClr val="000000"/>
                          </a:solidFill>
                        </a:rPr>
                        <a:t>-2.907***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6293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1" dirty="0">
                          <a:solidFill>
                            <a:srgbClr val="000000"/>
                          </a:solidFill>
                        </a:rPr>
                        <a:t>Assets</a:t>
                      </a:r>
                    </a:p>
                  </a:txBody>
                  <a:tcPr marL="22860" marR="22860" marT="4572" marB="4572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dirty="0">
                          <a:solidFill>
                            <a:srgbClr val="000000"/>
                          </a:solidFill>
                        </a:rPr>
                        <a:t>1,169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00000"/>
                          </a:solidFill>
                        </a:rPr>
                        <a:t>5.226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00000"/>
                          </a:solidFill>
                        </a:rPr>
                        <a:t>107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00000"/>
                          </a:solidFill>
                        </a:rPr>
                        <a:t>5.398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dirty="0">
                          <a:solidFill>
                            <a:srgbClr val="000000"/>
                          </a:solidFill>
                        </a:rPr>
                        <a:t>-0.172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dirty="0">
                          <a:solidFill>
                            <a:srgbClr val="000000"/>
                          </a:solidFill>
                        </a:rPr>
                        <a:t>-0.794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6293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1" dirty="0" err="1">
                          <a:solidFill>
                            <a:srgbClr val="000000"/>
                          </a:solidFill>
                        </a:rPr>
                        <a:t>HighTech</a:t>
                      </a:r>
                      <a:endParaRPr sz="1300" b="0" i="1" dirty="0">
                        <a:solidFill>
                          <a:srgbClr val="000000"/>
                        </a:solidFill>
                      </a:endParaRPr>
                    </a:p>
                  </a:txBody>
                  <a:tcPr marL="22860" marR="22860" marT="4572" marB="4572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dirty="0">
                          <a:solidFill>
                            <a:srgbClr val="000000"/>
                          </a:solidFill>
                        </a:rPr>
                        <a:t>1,171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00000"/>
                          </a:solidFill>
                        </a:rPr>
                        <a:t>0.495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00000"/>
                          </a:solidFill>
                        </a:rPr>
                        <a:t>107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00000"/>
                          </a:solidFill>
                        </a:rPr>
                        <a:t>0.495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dirty="0">
                          <a:solidFill>
                            <a:srgbClr val="000000"/>
                          </a:solidFill>
                        </a:rPr>
                        <a:t>0.000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dirty="0">
                          <a:solidFill>
                            <a:srgbClr val="000000"/>
                          </a:solidFill>
                        </a:rPr>
                        <a:t>0.000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6293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1">
                          <a:solidFill>
                            <a:srgbClr val="000000"/>
                          </a:solidFill>
                        </a:rPr>
                        <a:t>Biotech</a:t>
                      </a:r>
                    </a:p>
                  </a:txBody>
                  <a:tcPr marL="22860" marR="22860" marT="4572" marB="4572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00000"/>
                          </a:solidFill>
                        </a:rPr>
                        <a:t>1,171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00000"/>
                          </a:solidFill>
                        </a:rPr>
                        <a:t>0.398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00000"/>
                          </a:solidFill>
                        </a:rPr>
                        <a:t>107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00000"/>
                          </a:solidFill>
                        </a:rPr>
                        <a:t>0.271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dirty="0">
                          <a:solidFill>
                            <a:srgbClr val="000000"/>
                          </a:solidFill>
                        </a:rPr>
                        <a:t>0.127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dirty="0">
                          <a:solidFill>
                            <a:srgbClr val="000000"/>
                          </a:solidFill>
                        </a:rPr>
                        <a:t>2.585***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6293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1" dirty="0">
                          <a:solidFill>
                            <a:srgbClr val="000000"/>
                          </a:solidFill>
                        </a:rPr>
                        <a:t>Internet</a:t>
                      </a:r>
                    </a:p>
                  </a:txBody>
                  <a:tcPr marL="22860" marR="22860" marT="4572" marB="4572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dirty="0">
                          <a:solidFill>
                            <a:srgbClr val="000000"/>
                          </a:solidFill>
                        </a:rPr>
                        <a:t>1,171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00000"/>
                          </a:solidFill>
                        </a:rPr>
                        <a:t>0.035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00000"/>
                          </a:solidFill>
                        </a:rPr>
                        <a:t>107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00000"/>
                          </a:solidFill>
                        </a:rPr>
                        <a:t>0.150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00000"/>
                          </a:solidFill>
                        </a:rPr>
                        <a:t>-0.115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dirty="0">
                          <a:solidFill>
                            <a:srgbClr val="000000"/>
                          </a:solidFill>
                        </a:rPr>
                        <a:t>-5.555***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6293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1" dirty="0">
                          <a:solidFill>
                            <a:srgbClr val="000000"/>
                          </a:solidFill>
                        </a:rPr>
                        <a:t>Second</a:t>
                      </a:r>
                    </a:p>
                  </a:txBody>
                  <a:tcPr marL="22860" marR="22860" marT="4572" marB="4572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dirty="0">
                          <a:solidFill>
                            <a:srgbClr val="000000"/>
                          </a:solidFill>
                        </a:rPr>
                        <a:t>1,171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00000"/>
                          </a:solidFill>
                        </a:rPr>
                        <a:t>0.091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00000"/>
                          </a:solidFill>
                        </a:rPr>
                        <a:t>107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00000"/>
                          </a:solidFill>
                        </a:rPr>
                        <a:t>0.086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dirty="0">
                          <a:solidFill>
                            <a:srgbClr val="000000"/>
                          </a:solidFill>
                        </a:rPr>
                        <a:t>0.004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dirty="0">
                          <a:solidFill>
                            <a:srgbClr val="000000"/>
                          </a:solidFill>
                        </a:rPr>
                        <a:t>0.195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6293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1">
                          <a:solidFill>
                            <a:srgbClr val="000000"/>
                          </a:solidFill>
                        </a:rPr>
                        <a:t>Big4</a:t>
                      </a:r>
                    </a:p>
                  </a:txBody>
                  <a:tcPr marL="22860" marR="22860" marT="4572" marB="4572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dirty="0">
                          <a:solidFill>
                            <a:srgbClr val="000000"/>
                          </a:solidFill>
                        </a:rPr>
                        <a:t>1,171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00000"/>
                          </a:solidFill>
                        </a:rPr>
                        <a:t>0.386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00000"/>
                          </a:solidFill>
                        </a:rPr>
                        <a:t>107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00000"/>
                          </a:solidFill>
                        </a:rPr>
                        <a:t>0.234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dirty="0">
                          <a:solidFill>
                            <a:srgbClr val="000000"/>
                          </a:solidFill>
                        </a:rPr>
                        <a:t>0.152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dirty="0">
                          <a:solidFill>
                            <a:srgbClr val="000000"/>
                          </a:solidFill>
                        </a:rPr>
                        <a:t>3.128***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06293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1" dirty="0" err="1">
                          <a:solidFill>
                            <a:srgbClr val="000000"/>
                          </a:solidFill>
                        </a:rPr>
                        <a:t>PositiveEPS</a:t>
                      </a:r>
                      <a:endParaRPr sz="1300" b="0" i="1" dirty="0">
                        <a:solidFill>
                          <a:srgbClr val="000000"/>
                        </a:solidFill>
                      </a:endParaRPr>
                    </a:p>
                  </a:txBody>
                  <a:tcPr marL="22860" marR="22860" marT="4572" marB="4572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dirty="0">
                          <a:solidFill>
                            <a:srgbClr val="000000"/>
                          </a:solidFill>
                        </a:rPr>
                        <a:t>1,171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00000"/>
                          </a:solidFill>
                        </a:rPr>
                        <a:t>0.289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00000"/>
                          </a:solidFill>
                        </a:rPr>
                        <a:t>107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00000"/>
                          </a:solidFill>
                        </a:rPr>
                        <a:t>0.299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dirty="0">
                          <a:solidFill>
                            <a:srgbClr val="000000"/>
                          </a:solidFill>
                        </a:rPr>
                        <a:t>-0.010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dirty="0">
                          <a:solidFill>
                            <a:srgbClr val="000000"/>
                          </a:solidFill>
                        </a:rPr>
                        <a:t>-0.227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06293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1" dirty="0" err="1">
                          <a:solidFill>
                            <a:srgbClr val="000000"/>
                          </a:solidFill>
                        </a:rPr>
                        <a:t>PrcRev</a:t>
                      </a:r>
                      <a:endParaRPr sz="1300" b="0" i="1" dirty="0">
                        <a:solidFill>
                          <a:srgbClr val="000000"/>
                        </a:solidFill>
                      </a:endParaRPr>
                    </a:p>
                  </a:txBody>
                  <a:tcPr marL="22860" marR="22860" marT="4572" marB="4572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dirty="0">
                          <a:solidFill>
                            <a:srgbClr val="000000"/>
                          </a:solidFill>
                        </a:rPr>
                        <a:t>1,171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00000"/>
                          </a:solidFill>
                        </a:rPr>
                        <a:t>-0.029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00000"/>
                          </a:solidFill>
                        </a:rPr>
                        <a:t>107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00000"/>
                          </a:solidFill>
                        </a:rPr>
                        <a:t>-0.011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dirty="0">
                          <a:solidFill>
                            <a:srgbClr val="000000"/>
                          </a:solidFill>
                        </a:rPr>
                        <a:t>-0.019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dirty="0">
                          <a:solidFill>
                            <a:srgbClr val="000000"/>
                          </a:solidFill>
                        </a:rPr>
                        <a:t>-1.332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06293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1" dirty="0">
                          <a:solidFill>
                            <a:srgbClr val="000000"/>
                          </a:solidFill>
                        </a:rPr>
                        <a:t>Carve</a:t>
                      </a:r>
                    </a:p>
                  </a:txBody>
                  <a:tcPr marL="22860" marR="22860" marT="4572" marB="4572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dirty="0">
                          <a:solidFill>
                            <a:srgbClr val="000000"/>
                          </a:solidFill>
                        </a:rPr>
                        <a:t>1,171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00000"/>
                          </a:solidFill>
                        </a:rPr>
                        <a:t>0.204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00000"/>
                          </a:solidFill>
                        </a:rPr>
                        <a:t>107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00000"/>
                          </a:solidFill>
                        </a:rPr>
                        <a:t>0.121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dirty="0">
                          <a:solidFill>
                            <a:srgbClr val="000000"/>
                          </a:solidFill>
                        </a:rPr>
                        <a:t>0.083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dirty="0">
                          <a:solidFill>
                            <a:srgbClr val="000000"/>
                          </a:solidFill>
                        </a:rPr>
                        <a:t>2.058**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06293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1" dirty="0">
                          <a:solidFill>
                            <a:srgbClr val="000000"/>
                          </a:solidFill>
                        </a:rPr>
                        <a:t>Overhang</a:t>
                      </a:r>
                    </a:p>
                  </a:txBody>
                  <a:tcPr marL="22860" marR="22860" marT="4572" marB="4572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dirty="0">
                          <a:solidFill>
                            <a:srgbClr val="000000"/>
                          </a:solidFill>
                        </a:rPr>
                        <a:t>1,171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00000"/>
                          </a:solidFill>
                        </a:rPr>
                        <a:t>4.014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00000"/>
                          </a:solidFill>
                        </a:rPr>
                        <a:t>107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00000"/>
                          </a:solidFill>
                        </a:rPr>
                        <a:t>6.841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00000"/>
                          </a:solidFill>
                        </a:rPr>
                        <a:t>-2.827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dirty="0">
                          <a:solidFill>
                            <a:srgbClr val="000000"/>
                          </a:solidFill>
                        </a:rPr>
                        <a:t>-6.058***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06293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1" dirty="0">
                          <a:solidFill>
                            <a:srgbClr val="000000"/>
                          </a:solidFill>
                        </a:rPr>
                        <a:t>Primary</a:t>
                      </a:r>
                    </a:p>
                  </a:txBody>
                  <a:tcPr marL="22860" marR="22860" marT="4572" marB="4572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dirty="0">
                          <a:solidFill>
                            <a:srgbClr val="000000"/>
                          </a:solidFill>
                        </a:rPr>
                        <a:t>1,171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00000"/>
                          </a:solidFill>
                        </a:rPr>
                        <a:t>0.353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00000"/>
                          </a:solidFill>
                        </a:rPr>
                        <a:t>107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00000"/>
                          </a:solidFill>
                        </a:rPr>
                        <a:t>0.187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00000"/>
                          </a:solidFill>
                        </a:rPr>
                        <a:t>0.166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dirty="0">
                          <a:solidFill>
                            <a:srgbClr val="000000"/>
                          </a:solidFill>
                        </a:rPr>
                        <a:t>3.482***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206" name="univ_label_1">
            <a:extLst>
              <a:ext uri="{FF2B5EF4-FFF2-40B4-BE49-F238E27FC236}">
                <a16:creationId xmlns:a16="http://schemas.microsoft.com/office/drawing/2014/main" id="{E546BBE8-AF68-4A30-B917-84CBBD1B1C2D}"/>
              </a:ext>
            </a:extLst>
          </p:cNvPr>
          <p:cNvSpPr>
            <a:spLocks noGrp="1"/>
          </p:cNvSpPr>
          <p:nvPr/>
        </p:nvSpPr>
        <p:spPr>
          <a:xfrm>
            <a:off x="6220249" y="2103120"/>
            <a:ext cx="4766636" cy="62513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ctr">
              <a:defRPr sz="1300" b="1">
                <a:solidFill>
                  <a:srgbClr val="000000"/>
                </a:solidFill>
              </a:defRPr>
            </a:defPPr>
          </a:lstStyle>
          <a:p>
            <a:pPr algn="ctr">
              <a:defRPr sz="1300" b="1">
                <a:solidFill>
                  <a:srgbClr val="000000"/>
                </a:solidFill>
              </a:defRPr>
            </a:pPr>
            <a:r>
              <a:rPr sz="1800" b="1" dirty="0">
                <a:solidFill>
                  <a:srgbClr val="000000"/>
                </a:solidFill>
              </a:rPr>
              <a:t>Panel B. AI-investment versus AI-washing (N = 500)</a:t>
            </a:r>
          </a:p>
        </p:txBody>
      </p:sp>
      <p:graphicFrame>
        <p:nvGraphicFramePr>
          <p:cNvPr id="207" name="表格 206">
            <a:extLst>
              <a:ext uri="{FF2B5EF4-FFF2-40B4-BE49-F238E27FC236}">
                <a16:creationId xmlns:a16="http://schemas.microsoft.com/office/drawing/2014/main" id="{D97AC3FE-F413-4C85-BF40-3DC27E72C10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42247650"/>
              </p:ext>
            </p:extLst>
          </p:nvPr>
        </p:nvGraphicFramePr>
        <p:xfrm>
          <a:off x="2712292" y="2735391"/>
          <a:ext cx="6828376" cy="3528248"/>
        </p:xfrm>
        <a:graphic>
          <a:graphicData uri="http://schemas.openxmlformats.org/drawingml/2006/table">
            <a:tbl>
              <a:tblPr/>
              <a:tblGrid>
                <a:gridCol w="101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87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87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87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87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6875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6875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06293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dirty="0">
                          <a:solidFill>
                            <a:srgbClr val="000000"/>
                          </a:solidFill>
                        </a:rPr>
                        <a:t>Variable</a:t>
                      </a:r>
                    </a:p>
                  </a:txBody>
                  <a:tcPr marL="22860" marR="22860" marT="4572" marB="4572" anchor="ctr">
                    <a:lnL w="0">
                      <a:noFill/>
                    </a:lnL>
                    <a:lnR w="0">
                      <a:noFill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dirty="0">
                          <a:solidFill>
                            <a:srgbClr val="000000"/>
                          </a:solidFill>
                        </a:rPr>
                        <a:t>N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dirty="0">
                          <a:solidFill>
                            <a:srgbClr val="000000"/>
                          </a:solidFill>
                        </a:rPr>
                        <a:t>Mean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dirty="0">
                          <a:solidFill>
                            <a:srgbClr val="000000"/>
                          </a:solidFill>
                        </a:rPr>
                        <a:t>N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dirty="0">
                          <a:solidFill>
                            <a:srgbClr val="000000"/>
                          </a:solidFill>
                        </a:rPr>
                        <a:t>Mean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dirty="0">
                          <a:solidFill>
                            <a:srgbClr val="000000"/>
                          </a:solidFill>
                        </a:rPr>
                        <a:t>Diff.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dirty="0">
                          <a:solidFill>
                            <a:srgbClr val="000000"/>
                          </a:solidFill>
                        </a:rPr>
                        <a:t>t-stat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6293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1" dirty="0" err="1">
                          <a:solidFill>
                            <a:srgbClr val="000000"/>
                          </a:solidFill>
                        </a:rPr>
                        <a:t>HighUW</a:t>
                      </a:r>
                      <a:endParaRPr sz="1300" b="0" i="1" dirty="0">
                        <a:solidFill>
                          <a:srgbClr val="000000"/>
                        </a:solidFill>
                      </a:endParaRPr>
                    </a:p>
                  </a:txBody>
                  <a:tcPr marL="22860" marR="22860" marT="4572" marB="4572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dirty="0">
                          <a:solidFill>
                            <a:srgbClr val="000000"/>
                          </a:solidFill>
                        </a:rPr>
                        <a:t>393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dirty="0">
                          <a:solidFill>
                            <a:srgbClr val="000000"/>
                          </a:solidFill>
                        </a:rPr>
                        <a:t>0.697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dirty="0">
                          <a:solidFill>
                            <a:srgbClr val="000000"/>
                          </a:solidFill>
                        </a:rPr>
                        <a:t>106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dirty="0">
                          <a:solidFill>
                            <a:srgbClr val="000000"/>
                          </a:solidFill>
                        </a:rPr>
                        <a:t>0.575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dirty="0">
                          <a:solidFill>
                            <a:srgbClr val="000000"/>
                          </a:solidFill>
                        </a:rPr>
                        <a:t>0.122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dirty="0">
                          <a:solidFill>
                            <a:srgbClr val="000000"/>
                          </a:solidFill>
                        </a:rPr>
                        <a:t>2.376**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6293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1" dirty="0">
                          <a:solidFill>
                            <a:srgbClr val="000000"/>
                          </a:solidFill>
                        </a:rPr>
                        <a:t>VC</a:t>
                      </a:r>
                    </a:p>
                  </a:txBody>
                  <a:tcPr marL="22860" marR="22860" marT="4572" marB="4572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00000"/>
                          </a:solidFill>
                        </a:rPr>
                        <a:t>393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00000"/>
                          </a:solidFill>
                        </a:rPr>
                        <a:t>0.814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00000"/>
                          </a:solidFill>
                        </a:rPr>
                        <a:t>107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00000"/>
                          </a:solidFill>
                        </a:rPr>
                        <a:t>0.701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dirty="0">
                          <a:solidFill>
                            <a:srgbClr val="000000"/>
                          </a:solidFill>
                        </a:rPr>
                        <a:t>0.113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dirty="0">
                          <a:solidFill>
                            <a:srgbClr val="000000"/>
                          </a:solidFill>
                        </a:rPr>
                        <a:t>2.067**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6293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1" dirty="0">
                          <a:solidFill>
                            <a:srgbClr val="000000"/>
                          </a:solidFill>
                        </a:rPr>
                        <a:t>Age</a:t>
                      </a:r>
                    </a:p>
                  </a:txBody>
                  <a:tcPr marL="22860" marR="22860" marT="4572" marB="4572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00000"/>
                          </a:solidFill>
                        </a:rPr>
                        <a:t>393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00000"/>
                          </a:solidFill>
                        </a:rPr>
                        <a:t>2.553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00000"/>
                          </a:solidFill>
                        </a:rPr>
                        <a:t>107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00000"/>
                          </a:solidFill>
                        </a:rPr>
                        <a:t>2.513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00000"/>
                          </a:solidFill>
                        </a:rPr>
                        <a:t>0.040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dirty="0">
                          <a:solidFill>
                            <a:srgbClr val="000000"/>
                          </a:solidFill>
                        </a:rPr>
                        <a:t>0.525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6293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1" dirty="0">
                          <a:solidFill>
                            <a:srgbClr val="000000"/>
                          </a:solidFill>
                        </a:rPr>
                        <a:t>Proceeds</a:t>
                      </a:r>
                    </a:p>
                  </a:txBody>
                  <a:tcPr marL="22860" marR="22860" marT="4572" marB="4572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00000"/>
                          </a:solidFill>
                        </a:rPr>
                        <a:t>393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00000"/>
                          </a:solidFill>
                        </a:rPr>
                        <a:t>5.340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00000"/>
                          </a:solidFill>
                        </a:rPr>
                        <a:t>107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00000"/>
                          </a:solidFill>
                        </a:rPr>
                        <a:t>4.847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00000"/>
                          </a:solidFill>
                        </a:rPr>
                        <a:t>0.493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dirty="0">
                          <a:solidFill>
                            <a:srgbClr val="000000"/>
                          </a:solidFill>
                        </a:rPr>
                        <a:t>3.975***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6293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1" dirty="0">
                          <a:solidFill>
                            <a:srgbClr val="000000"/>
                          </a:solidFill>
                        </a:rPr>
                        <a:t>Sales</a:t>
                      </a:r>
                    </a:p>
                  </a:txBody>
                  <a:tcPr marL="22860" marR="22860" marT="4572" marB="4572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00000"/>
                          </a:solidFill>
                        </a:rPr>
                        <a:t>393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00000"/>
                          </a:solidFill>
                        </a:rPr>
                        <a:t>4.975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00000"/>
                          </a:solidFill>
                        </a:rPr>
                        <a:t>107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00000"/>
                          </a:solidFill>
                        </a:rPr>
                        <a:t>4.182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00000"/>
                          </a:solidFill>
                        </a:rPr>
                        <a:t>0.793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dirty="0">
                          <a:solidFill>
                            <a:srgbClr val="000000"/>
                          </a:solidFill>
                        </a:rPr>
                        <a:t>3.002***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6293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1" dirty="0">
                          <a:solidFill>
                            <a:srgbClr val="000000"/>
                          </a:solidFill>
                        </a:rPr>
                        <a:t>Assets</a:t>
                      </a:r>
                    </a:p>
                  </a:txBody>
                  <a:tcPr marL="22860" marR="22860" marT="4572" marB="4572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00000"/>
                          </a:solidFill>
                        </a:rPr>
                        <a:t>393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00000"/>
                          </a:solidFill>
                        </a:rPr>
                        <a:t>5.719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00000"/>
                          </a:solidFill>
                        </a:rPr>
                        <a:t>107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00000"/>
                          </a:solidFill>
                        </a:rPr>
                        <a:t>5.398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00000"/>
                          </a:solidFill>
                        </a:rPr>
                        <a:t>0.321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dirty="0">
                          <a:solidFill>
                            <a:srgbClr val="000000"/>
                          </a:solidFill>
                        </a:rPr>
                        <a:t>1.611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6293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1" dirty="0" err="1">
                          <a:solidFill>
                            <a:srgbClr val="000000"/>
                          </a:solidFill>
                        </a:rPr>
                        <a:t>HighTech</a:t>
                      </a:r>
                      <a:endParaRPr sz="1300" b="0" i="1" dirty="0">
                        <a:solidFill>
                          <a:srgbClr val="000000"/>
                        </a:solidFill>
                      </a:endParaRPr>
                    </a:p>
                  </a:txBody>
                  <a:tcPr marL="22860" marR="22860" marT="4572" marB="4572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00000"/>
                          </a:solidFill>
                        </a:rPr>
                        <a:t>393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00000"/>
                          </a:solidFill>
                        </a:rPr>
                        <a:t>0.728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00000"/>
                          </a:solidFill>
                        </a:rPr>
                        <a:t>107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00000"/>
                          </a:solidFill>
                        </a:rPr>
                        <a:t>0.495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00000"/>
                          </a:solidFill>
                        </a:rPr>
                        <a:t>0.232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dirty="0">
                          <a:solidFill>
                            <a:srgbClr val="000000"/>
                          </a:solidFill>
                        </a:rPr>
                        <a:t>4.650***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6293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1" dirty="0">
                          <a:solidFill>
                            <a:srgbClr val="000000"/>
                          </a:solidFill>
                        </a:rPr>
                        <a:t>Biotech</a:t>
                      </a:r>
                    </a:p>
                  </a:txBody>
                  <a:tcPr marL="22860" marR="22860" marT="4572" marB="4572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00000"/>
                          </a:solidFill>
                        </a:rPr>
                        <a:t>393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00000"/>
                          </a:solidFill>
                        </a:rPr>
                        <a:t>0.115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00000"/>
                          </a:solidFill>
                        </a:rPr>
                        <a:t>107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00000"/>
                          </a:solidFill>
                        </a:rPr>
                        <a:t>0.271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00000"/>
                          </a:solidFill>
                        </a:rPr>
                        <a:t>-0.157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dirty="0">
                          <a:solidFill>
                            <a:srgbClr val="000000"/>
                          </a:solidFill>
                        </a:rPr>
                        <a:t>-4.102***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6293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1" dirty="0">
                          <a:solidFill>
                            <a:srgbClr val="000000"/>
                          </a:solidFill>
                        </a:rPr>
                        <a:t>Internet</a:t>
                      </a:r>
                    </a:p>
                  </a:txBody>
                  <a:tcPr marL="22860" marR="22860" marT="4572" marB="4572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00000"/>
                          </a:solidFill>
                        </a:rPr>
                        <a:t>393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00000"/>
                          </a:solidFill>
                        </a:rPr>
                        <a:t>0.257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00000"/>
                          </a:solidFill>
                        </a:rPr>
                        <a:t>107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00000"/>
                          </a:solidFill>
                        </a:rPr>
                        <a:t>0.150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00000"/>
                          </a:solidFill>
                        </a:rPr>
                        <a:t>0.107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dirty="0">
                          <a:solidFill>
                            <a:srgbClr val="000000"/>
                          </a:solidFill>
                        </a:rPr>
                        <a:t>2.336**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6293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1" dirty="0">
                          <a:solidFill>
                            <a:srgbClr val="000000"/>
                          </a:solidFill>
                        </a:rPr>
                        <a:t>Second</a:t>
                      </a:r>
                    </a:p>
                  </a:txBody>
                  <a:tcPr marL="22860" marR="22860" marT="4572" marB="4572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00000"/>
                          </a:solidFill>
                        </a:rPr>
                        <a:t>393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00000"/>
                          </a:solidFill>
                        </a:rPr>
                        <a:t>0.119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00000"/>
                          </a:solidFill>
                        </a:rPr>
                        <a:t>107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00000"/>
                          </a:solidFill>
                        </a:rPr>
                        <a:t>0.086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00000"/>
                          </a:solidFill>
                        </a:rPr>
                        <a:t>0.033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dirty="0">
                          <a:solidFill>
                            <a:srgbClr val="000000"/>
                          </a:solidFill>
                        </a:rPr>
                        <a:t>1.273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6293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1" dirty="0">
                          <a:solidFill>
                            <a:srgbClr val="000000"/>
                          </a:solidFill>
                        </a:rPr>
                        <a:t>Big4</a:t>
                      </a:r>
                    </a:p>
                  </a:txBody>
                  <a:tcPr marL="22860" marR="22860" marT="4572" marB="4572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00000"/>
                          </a:solidFill>
                        </a:rPr>
                        <a:t>393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00000"/>
                          </a:solidFill>
                        </a:rPr>
                        <a:t>0.455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00000"/>
                          </a:solidFill>
                        </a:rPr>
                        <a:t>107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00000"/>
                          </a:solidFill>
                        </a:rPr>
                        <a:t>0.234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00000"/>
                          </a:solidFill>
                        </a:rPr>
                        <a:t>0.222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dirty="0">
                          <a:solidFill>
                            <a:srgbClr val="000000"/>
                          </a:solidFill>
                        </a:rPr>
                        <a:t>4.204***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06293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1" dirty="0" err="1">
                          <a:solidFill>
                            <a:srgbClr val="000000"/>
                          </a:solidFill>
                        </a:rPr>
                        <a:t>PositiveEPS</a:t>
                      </a:r>
                      <a:endParaRPr sz="1300" b="0" i="1" dirty="0">
                        <a:solidFill>
                          <a:srgbClr val="000000"/>
                        </a:solidFill>
                      </a:endParaRPr>
                    </a:p>
                  </a:txBody>
                  <a:tcPr marL="22860" marR="22860" marT="4572" marB="4572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00000"/>
                          </a:solidFill>
                        </a:rPr>
                        <a:t>393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00000"/>
                          </a:solidFill>
                        </a:rPr>
                        <a:t>0.211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00000"/>
                          </a:solidFill>
                        </a:rPr>
                        <a:t>107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00000"/>
                          </a:solidFill>
                        </a:rPr>
                        <a:t>0.299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00000"/>
                          </a:solidFill>
                        </a:rPr>
                        <a:t>-0.088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dirty="0">
                          <a:solidFill>
                            <a:srgbClr val="000000"/>
                          </a:solidFill>
                        </a:rPr>
                        <a:t>-1.918*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06293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1" dirty="0" err="1">
                          <a:solidFill>
                            <a:srgbClr val="000000"/>
                          </a:solidFill>
                        </a:rPr>
                        <a:t>PrcRev</a:t>
                      </a:r>
                      <a:endParaRPr sz="1300" b="0" i="1" dirty="0">
                        <a:solidFill>
                          <a:srgbClr val="000000"/>
                        </a:solidFill>
                      </a:endParaRPr>
                    </a:p>
                  </a:txBody>
                  <a:tcPr marL="22860" marR="22860" marT="4572" marB="4572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00000"/>
                          </a:solidFill>
                        </a:rPr>
                        <a:t>393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00000"/>
                          </a:solidFill>
                        </a:rPr>
                        <a:t>0.037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00000"/>
                          </a:solidFill>
                        </a:rPr>
                        <a:t>107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00000"/>
                          </a:solidFill>
                        </a:rPr>
                        <a:t>-0.011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00000"/>
                          </a:solidFill>
                        </a:rPr>
                        <a:t>0.048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dirty="0">
                          <a:solidFill>
                            <a:srgbClr val="000000"/>
                          </a:solidFill>
                        </a:rPr>
                        <a:t>3.141***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06293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1" dirty="0">
                          <a:solidFill>
                            <a:srgbClr val="000000"/>
                          </a:solidFill>
                        </a:rPr>
                        <a:t>Carve</a:t>
                      </a:r>
                    </a:p>
                  </a:txBody>
                  <a:tcPr marL="22860" marR="22860" marT="4572" marB="4572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00000"/>
                          </a:solidFill>
                        </a:rPr>
                        <a:t>393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00000"/>
                          </a:solidFill>
                        </a:rPr>
                        <a:t>0.115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00000"/>
                          </a:solidFill>
                        </a:rPr>
                        <a:t>107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00000"/>
                          </a:solidFill>
                        </a:rPr>
                        <a:t>0.121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00000"/>
                          </a:solidFill>
                        </a:rPr>
                        <a:t>-0.007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dirty="0">
                          <a:solidFill>
                            <a:srgbClr val="000000"/>
                          </a:solidFill>
                        </a:rPr>
                        <a:t>-0.200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06293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1" dirty="0">
                          <a:solidFill>
                            <a:srgbClr val="000000"/>
                          </a:solidFill>
                        </a:rPr>
                        <a:t>Overhang</a:t>
                      </a:r>
                    </a:p>
                  </a:txBody>
                  <a:tcPr marL="22860" marR="22860" marT="4572" marB="4572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00000"/>
                          </a:solidFill>
                        </a:rPr>
                        <a:t>393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00000"/>
                          </a:solidFill>
                        </a:rPr>
                        <a:t>5.799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00000"/>
                          </a:solidFill>
                        </a:rPr>
                        <a:t>107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00000"/>
                          </a:solidFill>
                        </a:rPr>
                        <a:t>6.841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00000"/>
                          </a:solidFill>
                        </a:rPr>
                        <a:t>-1.042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dirty="0">
                          <a:solidFill>
                            <a:srgbClr val="000000"/>
                          </a:solidFill>
                        </a:rPr>
                        <a:t>-1.893*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06293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1" dirty="0">
                          <a:solidFill>
                            <a:srgbClr val="000000"/>
                          </a:solidFill>
                        </a:rPr>
                        <a:t>Primary</a:t>
                      </a:r>
                    </a:p>
                  </a:txBody>
                  <a:tcPr marL="22860" marR="22860" marT="4572" marB="4572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dirty="0">
                          <a:solidFill>
                            <a:srgbClr val="000000"/>
                          </a:solidFill>
                        </a:rPr>
                        <a:t>393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00000"/>
                          </a:solidFill>
                        </a:rPr>
                        <a:t>0.293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00000"/>
                          </a:solidFill>
                        </a:rPr>
                        <a:t>107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00000"/>
                          </a:solidFill>
                        </a:rPr>
                        <a:t>0.187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00000"/>
                          </a:solidFill>
                        </a:rPr>
                        <a:t>0.106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dirty="0">
                          <a:solidFill>
                            <a:srgbClr val="000000"/>
                          </a:solidFill>
                        </a:rPr>
                        <a:t>2.190**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208" name="footer text"/>
          <p:cNvSpPr txBox="1"/>
          <p:nvPr/>
        </p:nvSpPr>
        <p:spPr>
          <a:xfrm>
            <a:off x="1097280" y="6446520"/>
            <a:ext cx="8686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FFFFFF"/>
                </a:solidFill>
              </a:rPr>
              <a:t>When AI-Washing Meets Initial Public Offerings  |  2026 FMA Annual Meeting</a:t>
            </a:r>
          </a:p>
        </p:txBody>
      </p:sp>
      <p:sp>
        <p:nvSpPr>
          <p:cNvPr id="209" name="slide number"/>
          <p:cNvSpPr txBox="1"/>
          <p:nvPr/>
        </p:nvSpPr>
        <p:spPr>
          <a:xfrm>
            <a:off x="10698480" y="64465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</a:rPr>
              <a:t>A12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Mechanism 1: AI value creation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08443F0-D317-6F67-E0F4-1C52017BA6C6}"/>
              </a:ext>
            </a:extLst>
          </p:cNvPr>
          <p:cNvSpPr txBox="1"/>
          <p:nvPr/>
        </p:nvSpPr>
        <p:spPr>
          <a:xfrm>
            <a:off x="1097280" y="2103120"/>
            <a:ext cx="10058400" cy="3190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/>
              <a:t>We</a:t>
            </a:r>
            <a:r>
              <a:rPr lang="zh-CN" altLang="en-US" sz="2000" dirty="0"/>
              <a:t> </a:t>
            </a:r>
            <a:r>
              <a:rPr lang="en-US" altLang="zh-CN" sz="2000" dirty="0"/>
              <a:t>first</a:t>
            </a:r>
            <a:r>
              <a:rPr lang="zh-CN" altLang="en-US" sz="2000" dirty="0"/>
              <a:t> </a:t>
            </a:r>
            <a:r>
              <a:rPr lang="en-US" altLang="zh-CN" sz="2000" dirty="0"/>
              <a:t>run regressions for each of the Fama–French 12 industries</a:t>
            </a:r>
            <a:r>
              <a:rPr lang="zh-CN" altLang="en-US" sz="2000" dirty="0"/>
              <a:t> </a:t>
            </a:r>
            <a:r>
              <a:rPr lang="en-US" altLang="zh-CN" sz="2000" dirty="0"/>
              <a:t>and each year to estimate the long-run market</a:t>
            </a:r>
            <a:r>
              <a:rPr lang="zh-CN" altLang="en-US" sz="2000" dirty="0"/>
              <a:t> </a:t>
            </a:r>
            <a:r>
              <a:rPr lang="en-US" altLang="zh-CN" sz="2000" dirty="0"/>
              <a:t>valuation of AI investment</a:t>
            </a:r>
          </a:p>
          <a:p>
            <a:pPr>
              <a:lnSpc>
                <a:spcPct val="150000"/>
              </a:lnSpc>
            </a:pPr>
            <a:endParaRPr lang="en-US" altLang="zh-CN" sz="2000" dirty="0"/>
          </a:p>
          <a:p>
            <a:pPr>
              <a:lnSpc>
                <a:spcPct val="150000"/>
              </a:lnSpc>
            </a:pPr>
            <a:endParaRPr lang="en-US" altLang="zh-CN" sz="2000" dirty="0"/>
          </a:p>
          <a:p>
            <a:pPr>
              <a:lnSpc>
                <a:spcPct val="150000"/>
              </a:lnSpc>
            </a:pPr>
            <a:endParaRPr lang="en-US" altLang="zh-CN" sz="2000" dirty="0"/>
          </a:p>
          <a:p>
            <a:pPr>
              <a:lnSpc>
                <a:spcPct val="150000"/>
              </a:lnSpc>
            </a:pPr>
            <a:endParaRPr lang="en-US" altLang="zh-CN" sz="1800" dirty="0"/>
          </a:p>
          <a:p>
            <a:pPr>
              <a:lnSpc>
                <a:spcPct val="150000"/>
              </a:lnSpc>
            </a:pPr>
            <a:r>
              <a:rPr lang="en-US" altLang="zh-CN" sz="2000" dirty="0"/>
              <a:t>After obtaining</a:t>
            </a:r>
            <a:r>
              <a:rPr lang="zh-CN" altLang="en-US" sz="2000" dirty="0"/>
              <a:t> </a:t>
            </a:r>
            <a:r>
              <a:rPr lang="en-US" altLang="zh-CN" sz="2000" dirty="0"/>
              <a:t>the industry-specific effects, we estimate the following equation: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670E9A9D-8A7F-2EA0-8128-1FAEC74108E4}"/>
                  </a:ext>
                </a:extLst>
              </p:cNvPr>
              <p:cNvSpPr txBox="1"/>
              <p:nvPr/>
            </p:nvSpPr>
            <p:spPr>
              <a:xfrm>
                <a:off x="1097280" y="5406296"/>
                <a:ext cx="10058400" cy="63616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kumimoji="1" lang="en-US" altLang="zh-CN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kumimoji="1" lang="en-US" altLang="zh-CN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kumimoji="1" lang="en-US" altLang="zh-CN" sz="20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kumimoji="1" lang="en-US" altLang="zh-CN" sz="20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kumimoji="1"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0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1" lang="zh-CN" altLang="en-US" sz="2000" i="1"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kumimoji="1"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000" i="1">
                            <a:latin typeface="Cambria Math" panose="02040503050406030204" pitchFamily="18" charset="0"/>
                          </a:rPr>
                          <m:t>𝐴𝐼</m:t>
                        </m:r>
                        <m:r>
                          <a:rPr kumimoji="1" lang="en-US" altLang="zh-CN" sz="2000" i="1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kumimoji="1" lang="en-US" altLang="zh-CN" sz="2000" i="1">
                            <a:latin typeface="Cambria Math" panose="02040503050406030204" pitchFamily="18" charset="0"/>
                          </a:rPr>
                          <m:t>𝑤𝑎𝑠ℎ𝑖𝑛𝑔</m:t>
                        </m:r>
                        <m:r>
                          <a:rPr kumimoji="1" lang="en-US" altLang="zh-CN" sz="2000" i="1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</a:rPr>
                          <m:t>𝐵𝑒𝑡𝑎</m:t>
                        </m:r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</a:rPr>
                          <m:t>𝐴𝐼𝑉𝑎𝑙𝑢𝑒</m:t>
                        </m:r>
                      </m:e>
                      <m:sub>
                        <m:r>
                          <a:rPr kumimoji="1" lang="en-US" altLang="zh-CN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kumimoji="1" lang="en-US" altLang="zh-CN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kumimoji="1" lang="en-US" altLang="zh-CN" sz="20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kumimoji="1" lang="en-US" altLang="zh-CN" sz="2000" dirty="0"/>
                  <a:t> </a:t>
                </a:r>
                <a14:m>
                  <m:oMath xmlns:m="http://schemas.openxmlformats.org/officeDocument/2006/math">
                    <m:r>
                      <a:rPr kumimoji="1" lang="en-US" altLang="zh-CN" sz="2000" i="1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kumimoji="1" lang="en-US" altLang="zh-CN" sz="2000" i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0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kumimoji="1" lang="zh-CN" altLang="en-US" sz="2000" i="1"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kumimoji="1"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000" i="1">
                            <a:latin typeface="Cambria Math" panose="02040503050406030204" pitchFamily="18" charset="0"/>
                          </a:rPr>
                          <m:t>𝐴𝐼</m:t>
                        </m:r>
                        <m:r>
                          <a:rPr kumimoji="1" lang="en-US" altLang="zh-CN" sz="2000" i="1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kumimoji="1" lang="en-US" altLang="zh-CN" sz="2000" i="1">
                            <a:latin typeface="Cambria Math" panose="02040503050406030204" pitchFamily="18" charset="0"/>
                          </a:rPr>
                          <m:t>𝑤𝑎𝑠ℎ𝑖𝑛𝑔</m:t>
                        </m:r>
                      </m:e>
                      <m:sub>
                        <m:r>
                          <a:rPr kumimoji="1" lang="en-US" altLang="zh-CN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kumimoji="1" lang="en-US" altLang="zh-CN" sz="20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kumimoji="1"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0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kumimoji="1" lang="zh-CN" altLang="en-US" sz="2000" i="1"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kumimoji="1"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000" i="1">
                            <a:latin typeface="Cambria Math" panose="02040503050406030204" pitchFamily="18" charset="0"/>
                          </a:rPr>
                          <m:t>𝐴𝐼</m:t>
                        </m:r>
                        <m:r>
                          <a:rPr kumimoji="1" lang="en-US" altLang="zh-CN" sz="2000" i="1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kumimoji="1" lang="en-US" altLang="zh-CN" sz="2000" i="1">
                            <a:latin typeface="Cambria Math" panose="02040503050406030204" pitchFamily="18" charset="0"/>
                          </a:rPr>
                          <m:t>𝑖𝑛𝑣𝑒𝑠𝑡</m:t>
                        </m:r>
                      </m:e>
                      <m:sub>
                        <m:r>
                          <a:rPr kumimoji="1" lang="en-US" altLang="zh-CN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kumimoji="1" lang="en-US" altLang="zh-CN" sz="2000" i="1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endParaRPr kumimoji="1" lang="en-US" altLang="zh-CN" sz="200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kumimoji="1"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0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kumimoji="1" lang="zh-CN" altLang="en-US" sz="2000" i="1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kumimoji="1"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000" i="1">
                              <a:latin typeface="Cambria Math" panose="02040503050406030204" pitchFamily="18" charset="0"/>
                            </a:rPr>
                            <m:t>𝐵𝑒𝑡𝑎</m:t>
                          </m:r>
                          <m:r>
                            <a:rPr kumimoji="1" lang="en-US" altLang="zh-CN" sz="2000" i="1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𝐴𝐼</m:t>
                          </m:r>
                          <m:r>
                            <a:rPr kumimoji="1" lang="en-US" altLang="zh-CN" sz="2000" i="1">
                              <a:latin typeface="Cambria Math" panose="02040503050406030204" pitchFamily="18" charset="0"/>
                            </a:rPr>
                            <m:t>𝑉𝑎𝑙𝑢𝑒</m:t>
                          </m:r>
                        </m:e>
                        <m:sub>
                          <m:r>
                            <a:rPr kumimoji="1" lang="en-US" altLang="zh-CN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kumimoji="1" lang="en-US" altLang="zh-CN" sz="2000" i="1">
                          <a:latin typeface="Cambria Math" panose="02040503050406030204" pitchFamily="18" charset="0"/>
                        </a:rPr>
                        <m:t> +</m:t>
                      </m:r>
                      <m:sSub>
                        <m:sSubPr>
                          <m:ctrlPr>
                            <a:rPr kumimoji="1" lang="en-US" altLang="zh-CN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000" i="1" dirty="0">
                              <a:latin typeface="Cambria Math" panose="02040503050406030204" pitchFamily="18" charset="0"/>
                            </a:rPr>
                            <m:t>𝐶𝑂𝑁𝑇𝑅𝑂𝐿𝑆</m:t>
                          </m:r>
                        </m:e>
                        <m:sub>
                          <m:r>
                            <a:rPr kumimoji="1" lang="en-US" altLang="zh-CN" sz="200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kumimoji="1" lang="en-US" altLang="zh-CN" sz="20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kumimoji="1"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000" i="1">
                              <a:latin typeface="Cambria Math" panose="02040503050406030204" pitchFamily="18" charset="0"/>
                            </a:rPr>
                            <m:t>𝐹𝐸</m:t>
                          </m:r>
                        </m:e>
                        <m:sub>
                          <m:r>
                            <a:rPr kumimoji="1" lang="en-US" altLang="zh-CN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zh-CN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kumimoji="1" lang="en-US" altLang="zh-CN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kumimoji="1" lang="en-US" altLang="zh-CN" sz="20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kumimoji="1"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kumimoji="1" lang="en-US" altLang="zh-CN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zh-CN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kumimoji="1" lang="en-US" altLang="zh-CN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kumimoji="1" lang="en-US" altLang="zh-CN" sz="1650" i="1" dirty="0"/>
              </a:p>
            </p:txBody>
          </p:sp>
        </mc:Choice>
        <mc:Fallback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670E9A9D-8A7F-2EA0-8128-1FAEC74108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7280" y="5406296"/>
                <a:ext cx="10058400" cy="636164"/>
              </a:xfrm>
              <a:prstGeom prst="rect">
                <a:avLst/>
              </a:prstGeom>
              <a:blipFill>
                <a:blip r:embed="rId2"/>
                <a:stretch>
                  <a:fillRect b="-145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DADF5FAE-AAFC-3691-95DD-3C86F1C5FD2F}"/>
                  </a:ext>
                </a:extLst>
              </p:cNvPr>
              <p:cNvSpPr txBox="1"/>
              <p:nvPr/>
            </p:nvSpPr>
            <p:spPr>
              <a:xfrm>
                <a:off x="2682099" y="3958902"/>
                <a:ext cx="7010611" cy="3180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kumimoji="1"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𝑙𝑛</m:t>
                          </m:r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𝑀𝑉</m:t>
                          </m:r>
                        </m:e>
                        <m:sub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 </m:t>
                          </m:r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kumimoji="1" lang="en-US" altLang="zh-CN" sz="20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kumimoji="1" lang="en-US" altLang="zh-CN" sz="2000" i="1">
                              <a:latin typeface="Cambria Math" panose="02040503050406030204" pitchFamily="18" charset="0"/>
                            </a:rPr>
                            <m:t>𝐴𝐼𝑉𝑎𝑙𝑢𝑒</m:t>
                          </m:r>
                        </m:sub>
                      </m:sSub>
                      <m:r>
                        <a:rPr kumimoji="1" lang="zh-CN" altLang="en-US" sz="2000" i="1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kumimoji="1"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𝐴𝐼𝑆𝑡𝑜𝑐𝑘</m:t>
                          </m:r>
                        </m:e>
                        <m:sub>
                          <m:r>
                            <a:rPr kumimoji="1"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kumimoji="1"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kumimoji="1"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kumimoji="1" lang="en-US" altLang="zh-CN" sz="20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kumimoji="1" lang="en-US" altLang="zh-CN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000" i="1" dirty="0">
                              <a:latin typeface="Cambria Math" panose="02040503050406030204" pitchFamily="18" charset="0"/>
                            </a:rPr>
                            <m:t>𝐶𝑂𝑁𝑇𝑅𝑂𝐿𝑆</m:t>
                          </m:r>
                        </m:e>
                        <m:sub>
                          <m:r>
                            <a:rPr kumimoji="1" lang="en-US" altLang="zh-CN" sz="200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zh-CN" sz="2000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kumimoji="1" lang="en-US" altLang="zh-CN" sz="2000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kumimoji="1" lang="en-US" altLang="zh-CN" sz="2000" b="0" i="1" dirty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kumimoji="1" lang="en-US" altLang="zh-CN" sz="20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kumimoji="1"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000" i="1">
                              <a:latin typeface="Cambria Math" panose="02040503050406030204" pitchFamily="18" charset="0"/>
                            </a:rPr>
                            <m:t>𝐹𝐸</m:t>
                          </m:r>
                        </m:e>
                        <m:sub>
                          <m:r>
                            <a:rPr kumimoji="1" lang="en-US" altLang="zh-CN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zh-CN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kumimoji="1" lang="en-US" altLang="zh-CN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kumimoji="1"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kumimoji="1" lang="en-US" altLang="zh-CN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zh-CN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kumimoji="1" lang="en-US" altLang="zh-CN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kumimoji="1" lang="en-US" altLang="zh-CN" sz="2000" i="1" dirty="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DADF5FAE-AAFC-3691-95DD-3C86F1C5FD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2099" y="3958902"/>
                <a:ext cx="7010611" cy="318082"/>
              </a:xfrm>
              <a:prstGeom prst="rect">
                <a:avLst/>
              </a:prstGeom>
              <a:blipFill>
                <a:blip r:embed="rId3"/>
                <a:stretch>
                  <a:fillRect l="-597" b="-290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599BC536-0E75-B993-4D5F-846C5D9FBAAA}"/>
                  </a:ext>
                </a:extLst>
              </p:cNvPr>
              <p:cNvSpPr txBox="1"/>
              <p:nvPr/>
            </p:nvSpPr>
            <p:spPr>
              <a:xfrm>
                <a:off x="3775286" y="2984979"/>
                <a:ext cx="4824239" cy="8609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𝐴𝐼𝑆𝑡𝑜𝑐𝑘</m:t>
                          </m:r>
                        </m:e>
                        <m:sub>
                          <m:r>
                            <a:rPr kumimoji="1"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kumimoji="1"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kumimoji="1"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kumimoji="1" lang="en-US" altLang="zh-CN" sz="20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nary>
                            <m:naryPr>
                              <m:chr m:val="∑"/>
                              <m:ctrlPr>
                                <a:rPr kumimoji="1"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kumimoji="1"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kumimoji="1"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10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kumimoji="1" lang="en-US" altLang="zh-CN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US" altLang="zh-CN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(1 − </m:t>
                                  </m:r>
                                  <m:r>
                                    <a:rPr kumimoji="1" lang="en-US" altLang="zh-CN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𝛿</m:t>
                                  </m:r>
                                  <m:r>
                                    <a:rPr kumimoji="1" lang="en-US" altLang="zh-CN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kumimoji="1" lang="en-US" altLang="zh-CN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</m:e>
                          </m:nary>
                          <m:r>
                            <a:rPr kumimoji="1"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𝐴𝐼𝑃𝑎𝑡𝑁𝑢𝑚</m:t>
                          </m:r>
                        </m:e>
                        <m:sub>
                          <m:r>
                            <a:rPr kumimoji="1"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 </m:t>
                          </m:r>
                          <m:r>
                            <a:rPr kumimoji="1"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kumimoji="1"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kumimoji="1"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kumimoji="1" lang="zh-CN" altLang="en-US" sz="2000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599BC536-0E75-B993-4D5F-846C5D9FBA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5286" y="2984979"/>
                <a:ext cx="4824239" cy="860932"/>
              </a:xfrm>
              <a:prstGeom prst="rect">
                <a:avLst/>
              </a:prstGeom>
              <a:blipFill>
                <a:blip r:embed="rId4"/>
                <a:stretch>
                  <a:fillRect l="-866" t="-115663" b="-17469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footer text"/>
          <p:cNvSpPr txBox="1"/>
          <p:nvPr/>
        </p:nvSpPr>
        <p:spPr>
          <a:xfrm>
            <a:off x="1097280" y="6446520"/>
            <a:ext cx="8686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FFFFFF"/>
                </a:solidFill>
              </a:rPr>
              <a:t>When AI-Washing Meets Initial Public Offerings  |  2026 FMA Annual Meeting</a:t>
            </a:r>
          </a:p>
        </p:txBody>
      </p:sp>
      <p:sp>
        <p:nvSpPr>
          <p:cNvPr id="12" name="slide number"/>
          <p:cNvSpPr txBox="1"/>
          <p:nvPr/>
        </p:nvSpPr>
        <p:spPr>
          <a:xfrm>
            <a:off x="10698480" y="64465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</a:rPr>
              <a:t>A13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Mechanism 1: AI value premium</a:t>
            </a:r>
          </a:p>
        </p:txBody>
      </p:sp>
      <p:graphicFrame>
        <p:nvGraphicFramePr>
          <p:cNvPr id="204" name="表格 203">
            <a:extLst>
              <a:ext uri="{FF2B5EF4-FFF2-40B4-BE49-F238E27FC236}">
                <a16:creationId xmlns:a16="http://schemas.microsoft.com/office/drawing/2014/main" id="{648DA060-B58B-4A71-8D93-8480563253F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71256005"/>
              </p:ext>
            </p:extLst>
          </p:nvPr>
        </p:nvGraphicFramePr>
        <p:xfrm>
          <a:off x="1097281" y="2103120"/>
          <a:ext cx="10058397" cy="3657600"/>
        </p:xfrm>
        <a:graphic>
          <a:graphicData uri="http://schemas.openxmlformats.org/drawingml/2006/table">
            <a:tbl>
              <a:tblPr/>
              <a:tblGrid>
                <a:gridCol w="1592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77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77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2805">
                  <a:extLst>
                    <a:ext uri="{9D8B030D-6E8A-4147-A177-3AD203B41FA5}">
                      <a16:colId xmlns:a16="http://schemas.microsoft.com/office/drawing/2014/main" val="3320682073"/>
                    </a:ext>
                  </a:extLst>
                </a:gridCol>
                <a:gridCol w="13577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77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6402">
                  <a:extLst>
                    <a:ext uri="{9D8B030D-6E8A-4147-A177-3AD203B41FA5}">
                      <a16:colId xmlns:a16="http://schemas.microsoft.com/office/drawing/2014/main" val="2922276477"/>
                    </a:ext>
                  </a:extLst>
                </a:gridCol>
                <a:gridCol w="13577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577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4384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 i="0" dirty="0">
                          <a:solidFill>
                            <a:srgbClr val="000000"/>
                          </a:solidFill>
                        </a:rPr>
                        <a:t>Dep. Variable=</a:t>
                      </a:r>
                    </a:p>
                  </a:txBody>
                  <a:tcPr marL="22860" marR="22860" marT="4572" marB="4572" anchor="ctr">
                    <a:lnL w="0"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 i="1" dirty="0">
                          <a:solidFill>
                            <a:srgbClr val="000000"/>
                          </a:solidFill>
                        </a:rPr>
                        <a:t>P/S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550" b="1" i="1" dirty="0">
                        <a:solidFill>
                          <a:srgbClr val="000000"/>
                        </a:solidFill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 i="1" dirty="0">
                          <a:solidFill>
                            <a:srgbClr val="000000"/>
                          </a:solidFill>
                        </a:rPr>
                        <a:t>BHAR[0,2yr]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550" b="1" i="0" dirty="0">
                        <a:solidFill>
                          <a:srgbClr val="000000"/>
                        </a:solidFill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550" b="1" i="1" dirty="0">
                        <a:solidFill>
                          <a:srgbClr val="000000"/>
                        </a:solidFill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 i="1" dirty="0">
                          <a:solidFill>
                            <a:srgbClr val="000000"/>
                          </a:solidFill>
                        </a:rPr>
                        <a:t>BHAR[0,3yr]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550" b="1" i="0" dirty="0">
                        <a:solidFill>
                          <a:srgbClr val="000000"/>
                        </a:solidFill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 i="0">
                          <a:solidFill>
                            <a:srgbClr val="000000"/>
                          </a:solidFill>
                        </a:rPr>
                        <a:t>Variable</a:t>
                      </a:r>
                    </a:p>
                  </a:txBody>
                  <a:tcPr marL="22860" marR="22860" marT="4572" marB="4572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 i="0" dirty="0">
                          <a:solidFill>
                            <a:srgbClr val="000000"/>
                          </a:solidFill>
                        </a:rPr>
                        <a:t>(1)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 i="0" dirty="0">
                          <a:solidFill>
                            <a:srgbClr val="000000"/>
                          </a:solidFill>
                        </a:rPr>
                        <a:t>(2)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550" b="1" i="0" dirty="0">
                        <a:solidFill>
                          <a:srgbClr val="000000"/>
                        </a:solidFill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 i="0" dirty="0">
                          <a:solidFill>
                            <a:srgbClr val="000000"/>
                          </a:solidFill>
                        </a:rPr>
                        <a:t>(3)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 i="0" dirty="0">
                          <a:solidFill>
                            <a:srgbClr val="000000"/>
                          </a:solidFill>
                        </a:rPr>
                        <a:t>(4)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550" b="1" i="0" dirty="0">
                        <a:solidFill>
                          <a:srgbClr val="000000"/>
                        </a:solidFill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 i="0" dirty="0">
                          <a:solidFill>
                            <a:srgbClr val="000000"/>
                          </a:solidFill>
                        </a:rPr>
                        <a:t>(5)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 i="0">
                          <a:solidFill>
                            <a:srgbClr val="000000"/>
                          </a:solidFill>
                        </a:rPr>
                        <a:t>(6)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 i="1" dirty="0" err="1">
                          <a:solidFill>
                            <a:srgbClr val="000000"/>
                          </a:solidFill>
                        </a:rPr>
                        <a:t>AIWashing×AIVal</a:t>
                      </a:r>
                      <a:endParaRPr sz="1550" b="0" i="1" dirty="0">
                        <a:solidFill>
                          <a:srgbClr val="000000"/>
                        </a:solidFill>
                      </a:endParaRPr>
                    </a:p>
                  </a:txBody>
                  <a:tcPr marL="22860" marR="22860" marT="4572" marB="4572" anchor="ctr">
                    <a:lnL w="0"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550" i="0" dirty="0"/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 i="0" dirty="0">
                          <a:solidFill>
                            <a:srgbClr val="FF0000"/>
                          </a:solidFill>
                        </a:rPr>
                        <a:t>16.105***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550" b="0" i="0" dirty="0">
                        <a:solidFill>
                          <a:srgbClr val="FF0000"/>
                        </a:solidFill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550" i="0" dirty="0">
                        <a:solidFill>
                          <a:srgbClr val="FF0000"/>
                        </a:solidFill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 i="0" dirty="0">
                          <a:solidFill>
                            <a:srgbClr val="FF0000"/>
                          </a:solidFill>
                        </a:rPr>
                        <a:t>-6.053***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550" b="0" i="0" dirty="0">
                        <a:solidFill>
                          <a:srgbClr val="FF0000"/>
                        </a:solidFill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550" i="0" dirty="0">
                        <a:solidFill>
                          <a:srgbClr val="FF0000"/>
                        </a:solidFill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 i="0" dirty="0">
                          <a:solidFill>
                            <a:srgbClr val="FF0000"/>
                          </a:solidFill>
                        </a:rPr>
                        <a:t>-5.407*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550" i="1" dirty="0"/>
                    </a:p>
                  </a:txBody>
                  <a:tcPr marL="22860" marR="22860" marT="4572" marB="4572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550" i="0"/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 i="0" dirty="0">
                          <a:solidFill>
                            <a:srgbClr val="FF0000"/>
                          </a:solidFill>
                        </a:rPr>
                        <a:t>(2.87)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550" b="0" i="0" dirty="0">
                        <a:solidFill>
                          <a:srgbClr val="FF0000"/>
                        </a:solidFill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550" i="0" dirty="0">
                        <a:solidFill>
                          <a:srgbClr val="FF0000"/>
                        </a:solidFill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 i="0" dirty="0">
                          <a:solidFill>
                            <a:srgbClr val="FF0000"/>
                          </a:solidFill>
                        </a:rPr>
                        <a:t>(-3.16)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550" b="0" i="0" dirty="0">
                        <a:solidFill>
                          <a:srgbClr val="FF0000"/>
                        </a:solidFill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550" i="0" dirty="0">
                        <a:solidFill>
                          <a:srgbClr val="FF0000"/>
                        </a:solidFill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 i="0" dirty="0">
                          <a:solidFill>
                            <a:srgbClr val="FF0000"/>
                          </a:solidFill>
                        </a:rPr>
                        <a:t>(-2.00)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 i="1" dirty="0" err="1">
                          <a:solidFill>
                            <a:srgbClr val="000000"/>
                          </a:solidFill>
                        </a:rPr>
                        <a:t>AIVal</a:t>
                      </a:r>
                      <a:endParaRPr sz="1550" b="0" i="1" dirty="0">
                        <a:solidFill>
                          <a:srgbClr val="000000"/>
                        </a:solidFill>
                      </a:endParaRPr>
                    </a:p>
                  </a:txBody>
                  <a:tcPr marL="22860" marR="22860" marT="4572" marB="4572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 i="0">
                          <a:solidFill>
                            <a:srgbClr val="000000"/>
                          </a:solidFill>
                        </a:rPr>
                        <a:t>-0.921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 i="0" dirty="0">
                          <a:solidFill>
                            <a:srgbClr val="000000"/>
                          </a:solidFill>
                        </a:rPr>
                        <a:t>-2.104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550" b="0" i="0" dirty="0">
                        <a:solidFill>
                          <a:srgbClr val="000000"/>
                        </a:solidFill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 i="0">
                          <a:solidFill>
                            <a:srgbClr val="000000"/>
                          </a:solidFill>
                        </a:rPr>
                        <a:t>1.516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 i="0" dirty="0">
                          <a:solidFill>
                            <a:srgbClr val="000000"/>
                          </a:solidFill>
                        </a:rPr>
                        <a:t>1.842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550" b="0" i="0" dirty="0">
                        <a:solidFill>
                          <a:srgbClr val="000000"/>
                        </a:solidFill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 i="0">
                          <a:solidFill>
                            <a:srgbClr val="000000"/>
                          </a:solidFill>
                        </a:rPr>
                        <a:t>0.675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 i="0">
                          <a:solidFill>
                            <a:srgbClr val="000000"/>
                          </a:solidFill>
                        </a:rPr>
                        <a:t>0.974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550" i="1" dirty="0"/>
                    </a:p>
                  </a:txBody>
                  <a:tcPr marL="22860" marR="22860" marT="4572" marB="4572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 i="0">
                          <a:solidFill>
                            <a:srgbClr val="000000"/>
                          </a:solidFill>
                        </a:rPr>
                        <a:t>(-0.28)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 i="0" dirty="0">
                          <a:solidFill>
                            <a:srgbClr val="000000"/>
                          </a:solidFill>
                        </a:rPr>
                        <a:t>(-0.64)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550" b="0" i="0" dirty="0">
                        <a:solidFill>
                          <a:srgbClr val="000000"/>
                        </a:solidFill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 i="0">
                          <a:solidFill>
                            <a:srgbClr val="000000"/>
                          </a:solidFill>
                        </a:rPr>
                        <a:t>(0.95)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 i="0" dirty="0">
                          <a:solidFill>
                            <a:srgbClr val="000000"/>
                          </a:solidFill>
                        </a:rPr>
                        <a:t>(1.10)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550" b="0" i="0" dirty="0">
                        <a:solidFill>
                          <a:srgbClr val="000000"/>
                        </a:solidFill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 i="0" dirty="0">
                          <a:solidFill>
                            <a:srgbClr val="000000"/>
                          </a:solidFill>
                        </a:rPr>
                        <a:t>(0.17)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 i="0" dirty="0">
                          <a:solidFill>
                            <a:srgbClr val="000000"/>
                          </a:solidFill>
                        </a:rPr>
                        <a:t>(0.25)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 i="1" dirty="0" err="1">
                          <a:solidFill>
                            <a:srgbClr val="000000"/>
                          </a:solidFill>
                        </a:rPr>
                        <a:t>AIWashing</a:t>
                      </a:r>
                      <a:endParaRPr sz="1550" b="0" i="1" dirty="0">
                        <a:solidFill>
                          <a:srgbClr val="000000"/>
                        </a:solidFill>
                      </a:endParaRPr>
                    </a:p>
                  </a:txBody>
                  <a:tcPr marL="22860" marR="22860" marT="4572" marB="4572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 i="0">
                          <a:solidFill>
                            <a:srgbClr val="000000"/>
                          </a:solidFill>
                        </a:rPr>
                        <a:t>-0.356**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 i="0" dirty="0">
                          <a:solidFill>
                            <a:srgbClr val="000000"/>
                          </a:solidFill>
                        </a:rPr>
                        <a:t>-0.465***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550" b="0" i="0" dirty="0">
                        <a:solidFill>
                          <a:srgbClr val="000000"/>
                        </a:solidFill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 i="0">
                          <a:solidFill>
                            <a:srgbClr val="000000"/>
                          </a:solidFill>
                        </a:rPr>
                        <a:t>-0.086**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 i="0" dirty="0">
                          <a:solidFill>
                            <a:srgbClr val="000000"/>
                          </a:solidFill>
                        </a:rPr>
                        <a:t>-0.043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550" b="0" i="0" dirty="0">
                        <a:solidFill>
                          <a:srgbClr val="000000"/>
                        </a:solidFill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 i="0" dirty="0">
                          <a:solidFill>
                            <a:srgbClr val="000000"/>
                          </a:solidFill>
                        </a:rPr>
                        <a:t>-0.138**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 i="0" dirty="0">
                          <a:solidFill>
                            <a:srgbClr val="000000"/>
                          </a:solidFill>
                        </a:rPr>
                        <a:t>-0.099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550" i="1" dirty="0"/>
                    </a:p>
                  </a:txBody>
                  <a:tcPr marL="22860" marR="22860" marT="4572" marB="4572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 i="0">
                          <a:solidFill>
                            <a:srgbClr val="000000"/>
                          </a:solidFill>
                        </a:rPr>
                        <a:t>(-2.55)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 i="0" dirty="0">
                          <a:solidFill>
                            <a:srgbClr val="000000"/>
                          </a:solidFill>
                        </a:rPr>
                        <a:t>(-2.98)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550" b="0" i="0" dirty="0">
                        <a:solidFill>
                          <a:srgbClr val="000000"/>
                        </a:solidFill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 i="0">
                          <a:solidFill>
                            <a:srgbClr val="000000"/>
                          </a:solidFill>
                        </a:rPr>
                        <a:t>(-2.34)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 i="0" dirty="0">
                          <a:solidFill>
                            <a:srgbClr val="000000"/>
                          </a:solidFill>
                        </a:rPr>
                        <a:t>(-1.30)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550" b="0" i="0" dirty="0">
                        <a:solidFill>
                          <a:srgbClr val="000000"/>
                        </a:solidFill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 i="0" dirty="0">
                          <a:solidFill>
                            <a:srgbClr val="000000"/>
                          </a:solidFill>
                        </a:rPr>
                        <a:t>(-2.59)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 i="0" dirty="0">
                          <a:solidFill>
                            <a:srgbClr val="000000"/>
                          </a:solidFill>
                        </a:rPr>
                        <a:t>(-1.58)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 i="1" dirty="0" err="1">
                          <a:solidFill>
                            <a:srgbClr val="000000"/>
                          </a:solidFill>
                        </a:rPr>
                        <a:t>AIInvestment</a:t>
                      </a:r>
                      <a:endParaRPr sz="1550" b="0" i="1" dirty="0">
                        <a:solidFill>
                          <a:srgbClr val="000000"/>
                        </a:solidFill>
                      </a:endParaRPr>
                    </a:p>
                  </a:txBody>
                  <a:tcPr marL="22860" marR="22860" marT="4572" marB="4572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 i="0">
                          <a:solidFill>
                            <a:srgbClr val="000000"/>
                          </a:solidFill>
                        </a:rPr>
                        <a:t>-0.403***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 i="0" dirty="0">
                          <a:solidFill>
                            <a:srgbClr val="000000"/>
                          </a:solidFill>
                        </a:rPr>
                        <a:t>-0.412***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550" b="0" i="0" dirty="0">
                        <a:solidFill>
                          <a:srgbClr val="000000"/>
                        </a:solidFill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 i="0">
                          <a:solidFill>
                            <a:srgbClr val="000000"/>
                          </a:solidFill>
                        </a:rPr>
                        <a:t>0.102**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 i="0" dirty="0">
                          <a:solidFill>
                            <a:srgbClr val="000000"/>
                          </a:solidFill>
                        </a:rPr>
                        <a:t>0.106**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550" b="0" i="0" dirty="0">
                        <a:solidFill>
                          <a:srgbClr val="000000"/>
                        </a:solidFill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 i="0" dirty="0">
                          <a:solidFill>
                            <a:srgbClr val="000000"/>
                          </a:solidFill>
                        </a:rPr>
                        <a:t>0.221***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 i="0" dirty="0">
                          <a:solidFill>
                            <a:srgbClr val="000000"/>
                          </a:solidFill>
                        </a:rPr>
                        <a:t>0.224***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550" i="0"/>
                    </a:p>
                  </a:txBody>
                  <a:tcPr marL="22860" marR="22860" marT="4572" marB="4572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 i="0">
                          <a:solidFill>
                            <a:srgbClr val="000000"/>
                          </a:solidFill>
                        </a:rPr>
                        <a:t>(-3.62)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 i="0" dirty="0">
                          <a:solidFill>
                            <a:srgbClr val="000000"/>
                          </a:solidFill>
                        </a:rPr>
                        <a:t>(-3.72)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550" b="0" i="0" dirty="0">
                        <a:solidFill>
                          <a:srgbClr val="000000"/>
                        </a:solidFill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 i="0" dirty="0">
                          <a:solidFill>
                            <a:srgbClr val="000000"/>
                          </a:solidFill>
                        </a:rPr>
                        <a:t>(2.33)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 i="0" dirty="0">
                          <a:solidFill>
                            <a:srgbClr val="000000"/>
                          </a:solidFill>
                        </a:rPr>
                        <a:t>(2.39)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550" b="0" i="0" dirty="0">
                        <a:solidFill>
                          <a:srgbClr val="000000"/>
                        </a:solidFill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 i="0" dirty="0">
                          <a:solidFill>
                            <a:srgbClr val="000000"/>
                          </a:solidFill>
                        </a:rPr>
                        <a:t>(4.91)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 i="0" dirty="0">
                          <a:solidFill>
                            <a:srgbClr val="000000"/>
                          </a:solidFill>
                        </a:rPr>
                        <a:t>(5.05)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550" i="0"/>
                    </a:p>
                  </a:txBody>
                  <a:tcPr marL="22860" marR="22860" marT="4572" marB="4572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550" i="0"/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550" i="0" dirty="0"/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550" i="0" dirty="0"/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550" i="0"/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550" i="0" dirty="0"/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550" i="0" dirty="0"/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550" i="0"/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550" i="0" dirty="0"/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 i="0">
                          <a:solidFill>
                            <a:srgbClr val="000000"/>
                          </a:solidFill>
                        </a:rPr>
                        <a:t>Controls</a:t>
                      </a:r>
                    </a:p>
                  </a:txBody>
                  <a:tcPr marL="22860" marR="22860" marT="4572" marB="4572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 i="0">
                          <a:solidFill>
                            <a:srgbClr val="000000"/>
                          </a:solidFill>
                        </a:rPr>
                        <a:t>Yes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 i="0" dirty="0">
                          <a:solidFill>
                            <a:srgbClr val="000000"/>
                          </a:solidFill>
                        </a:rPr>
                        <a:t>Yes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550" b="0" i="0" dirty="0">
                        <a:solidFill>
                          <a:srgbClr val="000000"/>
                        </a:solidFill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 i="0">
                          <a:solidFill>
                            <a:srgbClr val="000000"/>
                          </a:solidFill>
                        </a:rPr>
                        <a:t>Yes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 i="0" dirty="0">
                          <a:solidFill>
                            <a:srgbClr val="000000"/>
                          </a:solidFill>
                        </a:rPr>
                        <a:t>Yes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550" b="0" i="0" dirty="0">
                        <a:solidFill>
                          <a:srgbClr val="000000"/>
                        </a:solidFill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 i="0">
                          <a:solidFill>
                            <a:srgbClr val="000000"/>
                          </a:solidFill>
                        </a:rPr>
                        <a:t>Yes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 i="0" dirty="0">
                          <a:solidFill>
                            <a:srgbClr val="000000"/>
                          </a:solidFill>
                        </a:rPr>
                        <a:t>Yes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 i="0">
                          <a:solidFill>
                            <a:srgbClr val="000000"/>
                          </a:solidFill>
                        </a:rPr>
                        <a:t>Fixed Effects</a:t>
                      </a:r>
                    </a:p>
                  </a:txBody>
                  <a:tcPr marL="22860" marR="22860" marT="4572" marB="4572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 i="0">
                          <a:solidFill>
                            <a:srgbClr val="000000"/>
                          </a:solidFill>
                        </a:rPr>
                        <a:t>Ind &amp; Year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 i="0" dirty="0">
                          <a:solidFill>
                            <a:srgbClr val="000000"/>
                          </a:solidFill>
                        </a:rPr>
                        <a:t>Ind &amp; Year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550" b="0" i="0" dirty="0">
                        <a:solidFill>
                          <a:srgbClr val="000000"/>
                        </a:solidFill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 i="0">
                          <a:solidFill>
                            <a:srgbClr val="000000"/>
                          </a:solidFill>
                        </a:rPr>
                        <a:t>Ind &amp; Year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 i="0" dirty="0">
                          <a:solidFill>
                            <a:srgbClr val="000000"/>
                          </a:solidFill>
                        </a:rPr>
                        <a:t>Ind &amp; Year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550" b="0" i="0" dirty="0">
                        <a:solidFill>
                          <a:srgbClr val="000000"/>
                        </a:solidFill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 i="0">
                          <a:solidFill>
                            <a:srgbClr val="000000"/>
                          </a:solidFill>
                        </a:rPr>
                        <a:t>Ind &amp; Year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 i="0" dirty="0">
                          <a:solidFill>
                            <a:srgbClr val="000000"/>
                          </a:solidFill>
                        </a:rPr>
                        <a:t>Ind &amp; Year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 i="0">
                          <a:solidFill>
                            <a:srgbClr val="000000"/>
                          </a:solidFill>
                        </a:rPr>
                        <a:t>Observations</a:t>
                      </a:r>
                    </a:p>
                  </a:txBody>
                  <a:tcPr marL="22860" marR="22860" marT="4572" marB="4572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 i="0">
                          <a:solidFill>
                            <a:srgbClr val="000000"/>
                          </a:solidFill>
                        </a:rPr>
                        <a:t>605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 i="0" dirty="0">
                          <a:solidFill>
                            <a:srgbClr val="000000"/>
                          </a:solidFill>
                        </a:rPr>
                        <a:t>605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550" b="0" i="0" dirty="0">
                        <a:solidFill>
                          <a:srgbClr val="000000"/>
                        </a:solidFill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 i="0">
                          <a:solidFill>
                            <a:srgbClr val="000000"/>
                          </a:solidFill>
                        </a:rPr>
                        <a:t>1,538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 i="0" dirty="0">
                          <a:solidFill>
                            <a:srgbClr val="000000"/>
                          </a:solidFill>
                        </a:rPr>
                        <a:t>1,538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550" b="0" i="0" dirty="0">
                        <a:solidFill>
                          <a:srgbClr val="000000"/>
                        </a:solidFill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 i="0">
                          <a:solidFill>
                            <a:srgbClr val="000000"/>
                          </a:solidFill>
                        </a:rPr>
                        <a:t>1,498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 i="0" dirty="0">
                          <a:solidFill>
                            <a:srgbClr val="000000"/>
                          </a:solidFill>
                        </a:rPr>
                        <a:t>1,498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 i="0">
                          <a:solidFill>
                            <a:srgbClr val="000000"/>
                          </a:solidFill>
                        </a:rPr>
                        <a:t>Adjusted R2</a:t>
                      </a:r>
                    </a:p>
                  </a:txBody>
                  <a:tcPr marL="22860" marR="22860" marT="4572" marB="4572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 i="0">
                          <a:solidFill>
                            <a:srgbClr val="000000"/>
                          </a:solidFill>
                        </a:rPr>
                        <a:t>24.0%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 i="0" dirty="0">
                          <a:solidFill>
                            <a:srgbClr val="000000"/>
                          </a:solidFill>
                        </a:rPr>
                        <a:t>24.2%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550" b="0" i="0" dirty="0">
                        <a:solidFill>
                          <a:srgbClr val="000000"/>
                        </a:solidFill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 i="0">
                          <a:solidFill>
                            <a:srgbClr val="000000"/>
                          </a:solidFill>
                        </a:rPr>
                        <a:t>10.0%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 i="0" dirty="0">
                          <a:solidFill>
                            <a:srgbClr val="000000"/>
                          </a:solidFill>
                        </a:rPr>
                        <a:t>10.0%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550" b="0" i="0" dirty="0">
                        <a:solidFill>
                          <a:srgbClr val="000000"/>
                        </a:solidFill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 i="0">
                          <a:solidFill>
                            <a:srgbClr val="000000"/>
                          </a:solidFill>
                        </a:rPr>
                        <a:t>7.4%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 i="0" dirty="0">
                          <a:solidFill>
                            <a:srgbClr val="000000"/>
                          </a:solidFill>
                        </a:rPr>
                        <a:t>7.4%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205" name="footer text"/>
          <p:cNvSpPr txBox="1"/>
          <p:nvPr/>
        </p:nvSpPr>
        <p:spPr>
          <a:xfrm>
            <a:off x="1097280" y="6446520"/>
            <a:ext cx="8686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FFFFFF"/>
                </a:solidFill>
              </a:rPr>
              <a:t>When AI-Washing Meets Initial Public Offerings  |  2026 FMA Annual Meeting</a:t>
            </a:r>
          </a:p>
        </p:txBody>
      </p:sp>
      <p:sp>
        <p:nvSpPr>
          <p:cNvPr id="206" name="slide number"/>
          <p:cNvSpPr txBox="1"/>
          <p:nvPr/>
        </p:nvSpPr>
        <p:spPr>
          <a:xfrm>
            <a:off x="10698480" y="64465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</a:rPr>
              <a:t>A14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Mechanism 2: Verification difficulty</a:t>
            </a:r>
          </a:p>
        </p:txBody>
      </p:sp>
      <p:sp>
        <p:nvSpPr>
          <p:cNvPr id="3" name="text31"/>
          <p:cNvSpPr txBox="1"/>
          <p:nvPr/>
        </p:nvSpPr>
        <p:spPr>
          <a:xfrm>
            <a:off x="1097280" y="2103120"/>
            <a:ext cx="10058400" cy="4160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28600" indent="-228600">
              <a:spcBef>
                <a:spcPts val="800"/>
              </a:spcBef>
              <a:buClr>
                <a:srgbClr val="2683C6"/>
              </a:buClr>
              <a:buFont typeface="Arial"/>
              <a:buChar char="▪"/>
            </a:pPr>
            <a:r>
              <a:rPr sz="2000" b="1">
                <a:solidFill>
                  <a:srgbClr val="2683C6"/>
                </a:solidFill>
              </a:rPr>
              <a:t>Verification is harder when a firm’s business is distant from AI</a:t>
            </a:r>
          </a:p>
          <a:p>
            <a:pPr marL="640080" indent="-205740">
              <a:spcBef>
                <a:spcPts val="200"/>
              </a:spcBef>
              <a:buClr>
                <a:srgbClr val="2683C6"/>
              </a:buClr>
              <a:buFont typeface="Arial"/>
              <a:buChar char="–"/>
            </a:pPr>
            <a:r>
              <a:rPr sz="1800" b="0">
                <a:solidFill>
                  <a:srgbClr val="404040"/>
                </a:solidFill>
              </a:rPr>
              <a:t>Compare the issuer’s S-1 Business section with the USPTO AI patent corpus.</a:t>
            </a:r>
          </a:p>
          <a:p>
            <a:pPr marL="640080" indent="-205740">
              <a:spcBef>
                <a:spcPts val="200"/>
              </a:spcBef>
              <a:buClr>
                <a:srgbClr val="2683C6"/>
              </a:buClr>
              <a:buFont typeface="Arial"/>
              <a:buChar char="–"/>
            </a:pPr>
            <a:r>
              <a:rPr sz="1800" b="0">
                <a:solidFill>
                  <a:srgbClr val="404040"/>
                </a:solidFill>
              </a:rPr>
              <a:t>Embed both corpora using a sentence-transformer model and compute 1 − cosine similarity.</a:t>
            </a:r>
          </a:p>
          <a:p>
            <a:pPr marL="640080" indent="-205740">
              <a:spcBef>
                <a:spcPts val="200"/>
              </a:spcBef>
              <a:buClr>
                <a:srgbClr val="2683C6"/>
              </a:buClr>
              <a:buFont typeface="Arial"/>
              <a:buChar char="–"/>
            </a:pPr>
            <a:r>
              <a:rPr sz="1800" b="0">
                <a:solidFill>
                  <a:srgbClr val="404040"/>
                </a:solidFill>
              </a:rPr>
              <a:t>Mean-center AIDistance, scale by its sample mean, and interact with AIWashing.</a:t>
            </a:r>
          </a:p>
          <a:p>
            <a:pPr marL="228600" indent="-228600">
              <a:spcBef>
                <a:spcPts val="800"/>
              </a:spcBef>
              <a:buClr>
                <a:srgbClr val="2683C6"/>
              </a:buClr>
              <a:buFont typeface="Arial"/>
              <a:buChar char="▪"/>
            </a:pPr>
            <a:r>
              <a:rPr sz="2000" b="0">
                <a:solidFill>
                  <a:srgbClr val="404040"/>
                </a:solidFill>
              </a:rPr>
              <a:t>BHARi,t = β1AIWashing × AIDistancei,t + β2AIDistancei,t + β3AIWashingi + β4AIInvestmenti + Controlsi + FEi,t + εi,t</a:t>
            </a:r>
          </a:p>
          <a:p>
            <a:pPr marL="228600" indent="-228600">
              <a:spcBef>
                <a:spcPts val="800"/>
              </a:spcBef>
              <a:buClr>
                <a:srgbClr val="2683C6"/>
              </a:buClr>
              <a:buFont typeface="Arial"/>
              <a:buChar char="▪"/>
            </a:pPr>
            <a:r>
              <a:rPr sz="2000" b="1">
                <a:solidFill>
                  <a:srgbClr val="2683C6"/>
                </a:solidFill>
              </a:rPr>
              <a:t>Interpretation</a:t>
            </a:r>
          </a:p>
          <a:p>
            <a:pPr marL="640080" indent="-205740">
              <a:spcBef>
                <a:spcPts val="200"/>
              </a:spcBef>
              <a:buClr>
                <a:srgbClr val="2683C6"/>
              </a:buClr>
              <a:buFont typeface="Arial"/>
              <a:buChar char="–"/>
            </a:pPr>
            <a:r>
              <a:rPr sz="1800" b="0">
                <a:solidFill>
                  <a:srgbClr val="404040"/>
                </a:solidFill>
              </a:rPr>
              <a:t>Greater technological distance is associated with more negative long-run returns for AI-washing IPOs.</a:t>
            </a:r>
          </a:p>
          <a:p>
            <a:pPr marL="640080" indent="-205740">
              <a:spcBef>
                <a:spcPts val="200"/>
              </a:spcBef>
              <a:buClr>
                <a:srgbClr val="2683C6"/>
              </a:buClr>
              <a:buFont typeface="Arial"/>
              <a:buChar char="–"/>
            </a:pPr>
            <a:r>
              <a:rPr sz="1800" b="0">
                <a:solidFill>
                  <a:srgbClr val="404040"/>
                </a:solidFill>
              </a:rPr>
              <a:t>Distance captures verification difficulty. It may also reflect low technological fit.</a:t>
            </a:r>
          </a:p>
        </p:txBody>
      </p:sp>
      <p:sp>
        <p:nvSpPr>
          <p:cNvPr id="4" name="footer text"/>
          <p:cNvSpPr txBox="1"/>
          <p:nvPr/>
        </p:nvSpPr>
        <p:spPr>
          <a:xfrm>
            <a:off x="1097280" y="6446520"/>
            <a:ext cx="8686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FFFFFF"/>
                </a:solidFill>
              </a:rPr>
              <a:t>When AI-Washing Meets Initial Public Offerings  |  2026 FMA Annual Meeting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10698480" y="64465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</a:rPr>
              <a:t>A15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Mechanism 2: Verification difficulty</a:t>
            </a:r>
          </a:p>
        </p:txBody>
      </p:sp>
      <p:graphicFrame>
        <p:nvGraphicFramePr>
          <p:cNvPr id="204" name="表格 203">
            <a:extLst>
              <a:ext uri="{FF2B5EF4-FFF2-40B4-BE49-F238E27FC236}">
                <a16:creationId xmlns:a16="http://schemas.microsoft.com/office/drawing/2014/main" id="{AC2C8DC0-8E8F-4996-A96D-3CE73A8243E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38135976"/>
              </p:ext>
            </p:extLst>
          </p:nvPr>
        </p:nvGraphicFramePr>
        <p:xfrm>
          <a:off x="1516176" y="2103120"/>
          <a:ext cx="9220608" cy="4160519"/>
        </p:xfrm>
        <a:graphic>
          <a:graphicData uri="http://schemas.openxmlformats.org/drawingml/2006/table">
            <a:tbl>
              <a:tblPr/>
              <a:tblGrid>
                <a:gridCol w="27172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58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658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9885">
                  <a:extLst>
                    <a:ext uri="{9D8B030D-6E8A-4147-A177-3AD203B41FA5}">
                      <a16:colId xmlns:a16="http://schemas.microsoft.com/office/drawing/2014/main" val="1907509101"/>
                    </a:ext>
                  </a:extLst>
                </a:gridCol>
                <a:gridCol w="15658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658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736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 dirty="0">
                          <a:solidFill>
                            <a:srgbClr val="000000"/>
                          </a:solidFill>
                        </a:rPr>
                        <a:t>Dep. Variable=</a:t>
                      </a:r>
                    </a:p>
                  </a:txBody>
                  <a:tcPr marL="22860" marR="22860" marT="4572" marB="4572" anchor="ctr">
                    <a:lnL w="0"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 i="1" dirty="0">
                          <a:solidFill>
                            <a:srgbClr val="000000"/>
                          </a:solidFill>
                        </a:rPr>
                        <a:t>BHAR[0,2yr]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550" b="1" i="1" dirty="0">
                        <a:solidFill>
                          <a:srgbClr val="000000"/>
                        </a:solidFill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 i="1" dirty="0">
                          <a:solidFill>
                            <a:srgbClr val="000000"/>
                          </a:solidFill>
                        </a:rPr>
                        <a:t>BHAR[0,3yr]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736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 dirty="0">
                          <a:solidFill>
                            <a:srgbClr val="000000"/>
                          </a:solidFill>
                        </a:rPr>
                        <a:t>Variable</a:t>
                      </a:r>
                    </a:p>
                  </a:txBody>
                  <a:tcPr marL="22860" marR="22860" marT="4572" marB="4572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 dirty="0">
                          <a:solidFill>
                            <a:srgbClr val="000000"/>
                          </a:solidFill>
                        </a:rPr>
                        <a:t>(1)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 dirty="0">
                          <a:solidFill>
                            <a:srgbClr val="000000"/>
                          </a:solidFill>
                        </a:rPr>
                        <a:t>(2)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550" b="1" dirty="0">
                        <a:solidFill>
                          <a:srgbClr val="000000"/>
                        </a:solidFill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000000"/>
                          </a:solidFill>
                        </a:rPr>
                        <a:t>(3)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000000"/>
                          </a:solidFill>
                        </a:rPr>
                        <a:t>(4)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36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 i="1" dirty="0" err="1">
                          <a:solidFill>
                            <a:srgbClr val="000000"/>
                          </a:solidFill>
                        </a:rPr>
                        <a:t>AIWashing×AIDistance</a:t>
                      </a:r>
                      <a:endParaRPr sz="1550" b="0" i="1" dirty="0">
                        <a:solidFill>
                          <a:srgbClr val="000000"/>
                        </a:solidFill>
                      </a:endParaRPr>
                    </a:p>
                  </a:txBody>
                  <a:tcPr marL="22860" marR="22860" marT="4572" marB="4572" anchor="ctr">
                    <a:lnL w="0"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550" dirty="0">
                        <a:solidFill>
                          <a:srgbClr val="FF0000"/>
                        </a:solidFill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 dirty="0">
                          <a:solidFill>
                            <a:srgbClr val="FF0000"/>
                          </a:solidFill>
                        </a:rPr>
                        <a:t>-1.313**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550" b="0" dirty="0">
                        <a:solidFill>
                          <a:srgbClr val="FF0000"/>
                        </a:solidFill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550" dirty="0">
                        <a:solidFill>
                          <a:srgbClr val="FF0000"/>
                        </a:solidFill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FF0000"/>
                          </a:solidFill>
                        </a:rPr>
                        <a:t>-1.425*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736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550" i="1" dirty="0"/>
                    </a:p>
                  </a:txBody>
                  <a:tcPr marL="22860" marR="22860" marT="4572" marB="4572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550" dirty="0">
                        <a:solidFill>
                          <a:srgbClr val="FF0000"/>
                        </a:solidFill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 dirty="0">
                          <a:solidFill>
                            <a:srgbClr val="FF0000"/>
                          </a:solidFill>
                        </a:rPr>
                        <a:t>(-2.19)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550" b="0" dirty="0">
                        <a:solidFill>
                          <a:srgbClr val="FF0000"/>
                        </a:solidFill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550" dirty="0">
                        <a:solidFill>
                          <a:srgbClr val="FF0000"/>
                        </a:solidFill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 dirty="0">
                          <a:solidFill>
                            <a:srgbClr val="FF0000"/>
                          </a:solidFill>
                        </a:rPr>
                        <a:t>(-1.98)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736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 i="1" dirty="0" err="1">
                          <a:solidFill>
                            <a:srgbClr val="000000"/>
                          </a:solidFill>
                        </a:rPr>
                        <a:t>AIDistance</a:t>
                      </a:r>
                      <a:endParaRPr sz="1550" b="0" i="1" dirty="0">
                        <a:solidFill>
                          <a:srgbClr val="000000"/>
                        </a:solidFill>
                      </a:endParaRPr>
                    </a:p>
                  </a:txBody>
                  <a:tcPr marL="22860" marR="22860" marT="4572" marB="4572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000000"/>
                          </a:solidFill>
                        </a:rPr>
                        <a:t>-0.099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 dirty="0">
                          <a:solidFill>
                            <a:srgbClr val="000000"/>
                          </a:solidFill>
                        </a:rPr>
                        <a:t>0.003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550" b="0" dirty="0">
                        <a:solidFill>
                          <a:srgbClr val="000000"/>
                        </a:solidFill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 dirty="0">
                          <a:solidFill>
                            <a:srgbClr val="000000"/>
                          </a:solidFill>
                        </a:rPr>
                        <a:t>-0.310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 dirty="0">
                          <a:solidFill>
                            <a:srgbClr val="000000"/>
                          </a:solidFill>
                        </a:rPr>
                        <a:t>-0.200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736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550" i="1" dirty="0"/>
                    </a:p>
                  </a:txBody>
                  <a:tcPr marL="22860" marR="22860" marT="4572" marB="4572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000000"/>
                          </a:solidFill>
                        </a:rPr>
                        <a:t>(-0.70)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 dirty="0">
                          <a:solidFill>
                            <a:srgbClr val="000000"/>
                          </a:solidFill>
                        </a:rPr>
                        <a:t>(0.03)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550" b="0" dirty="0">
                        <a:solidFill>
                          <a:srgbClr val="000000"/>
                        </a:solidFill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000000"/>
                          </a:solidFill>
                        </a:rPr>
                        <a:t>(-1.25)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 dirty="0">
                          <a:solidFill>
                            <a:srgbClr val="000000"/>
                          </a:solidFill>
                        </a:rPr>
                        <a:t>(-0.82)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736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 i="1" dirty="0" err="1">
                          <a:solidFill>
                            <a:srgbClr val="000000"/>
                          </a:solidFill>
                        </a:rPr>
                        <a:t>AIWashing</a:t>
                      </a:r>
                      <a:endParaRPr sz="1550" b="0" i="1" dirty="0">
                        <a:solidFill>
                          <a:srgbClr val="000000"/>
                        </a:solidFill>
                      </a:endParaRPr>
                    </a:p>
                  </a:txBody>
                  <a:tcPr marL="22860" marR="22860" marT="4572" marB="4572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000000"/>
                          </a:solidFill>
                        </a:rPr>
                        <a:t>-0.085**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 dirty="0">
                          <a:solidFill>
                            <a:srgbClr val="000000"/>
                          </a:solidFill>
                        </a:rPr>
                        <a:t>-0.121**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550" b="0" dirty="0">
                        <a:solidFill>
                          <a:srgbClr val="000000"/>
                        </a:solidFill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000000"/>
                          </a:solidFill>
                        </a:rPr>
                        <a:t>-0.166***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 dirty="0">
                          <a:solidFill>
                            <a:srgbClr val="000000"/>
                          </a:solidFill>
                        </a:rPr>
                        <a:t>-0.209***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736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550" i="1" dirty="0"/>
                    </a:p>
                  </a:txBody>
                  <a:tcPr marL="22860" marR="22860" marT="4572" marB="4572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000000"/>
                          </a:solidFill>
                        </a:rPr>
                        <a:t>(-2.12)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 dirty="0">
                          <a:solidFill>
                            <a:srgbClr val="000000"/>
                          </a:solidFill>
                        </a:rPr>
                        <a:t>(-2.37)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550" b="0" dirty="0">
                        <a:solidFill>
                          <a:srgbClr val="000000"/>
                        </a:solidFill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000000"/>
                          </a:solidFill>
                        </a:rPr>
                        <a:t>(-4.31)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 dirty="0">
                          <a:solidFill>
                            <a:srgbClr val="000000"/>
                          </a:solidFill>
                        </a:rPr>
                        <a:t>(-4.69)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736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 i="1" dirty="0" err="1">
                          <a:solidFill>
                            <a:srgbClr val="000000"/>
                          </a:solidFill>
                        </a:rPr>
                        <a:t>AIInvestment</a:t>
                      </a:r>
                      <a:endParaRPr sz="1550" b="0" i="1" dirty="0">
                        <a:solidFill>
                          <a:srgbClr val="000000"/>
                        </a:solidFill>
                      </a:endParaRPr>
                    </a:p>
                  </a:txBody>
                  <a:tcPr marL="22860" marR="22860" marT="4572" marB="4572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000000"/>
                          </a:solidFill>
                        </a:rPr>
                        <a:t>0.062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 dirty="0">
                          <a:solidFill>
                            <a:srgbClr val="000000"/>
                          </a:solidFill>
                        </a:rPr>
                        <a:t>0.072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550" b="0" dirty="0">
                        <a:solidFill>
                          <a:srgbClr val="000000"/>
                        </a:solidFill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000000"/>
                          </a:solidFill>
                        </a:rPr>
                        <a:t>0.156***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 dirty="0">
                          <a:solidFill>
                            <a:srgbClr val="000000"/>
                          </a:solidFill>
                        </a:rPr>
                        <a:t>0.167***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736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550" i="1" dirty="0"/>
                    </a:p>
                  </a:txBody>
                  <a:tcPr marL="22860" marR="22860" marT="4572" marB="4572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000000"/>
                          </a:solidFill>
                        </a:rPr>
                        <a:t>(1.12)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 dirty="0">
                          <a:solidFill>
                            <a:srgbClr val="000000"/>
                          </a:solidFill>
                        </a:rPr>
                        <a:t>(1.38)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550" b="0" dirty="0">
                        <a:solidFill>
                          <a:srgbClr val="000000"/>
                        </a:solidFill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000000"/>
                          </a:solidFill>
                        </a:rPr>
                        <a:t>(3.23)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 dirty="0">
                          <a:solidFill>
                            <a:srgbClr val="000000"/>
                          </a:solidFill>
                        </a:rPr>
                        <a:t>(3.44)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736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550"/>
                    </a:p>
                  </a:txBody>
                  <a:tcPr marL="22860" marR="22860" marT="4572" marB="4572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550" dirty="0"/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550" dirty="0"/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550" dirty="0"/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550"/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550" dirty="0"/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736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000000"/>
                          </a:solidFill>
                        </a:rPr>
                        <a:t>Controls</a:t>
                      </a:r>
                    </a:p>
                  </a:txBody>
                  <a:tcPr marL="22860" marR="22860" marT="4572" marB="4572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000000"/>
                          </a:solidFill>
                        </a:rPr>
                        <a:t>Yes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 dirty="0">
                          <a:solidFill>
                            <a:srgbClr val="000000"/>
                          </a:solidFill>
                        </a:rPr>
                        <a:t>Yes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550" b="0" dirty="0">
                        <a:solidFill>
                          <a:srgbClr val="000000"/>
                        </a:solidFill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000000"/>
                          </a:solidFill>
                        </a:rPr>
                        <a:t>Yes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 dirty="0">
                          <a:solidFill>
                            <a:srgbClr val="000000"/>
                          </a:solidFill>
                        </a:rPr>
                        <a:t>Yes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736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000000"/>
                          </a:solidFill>
                        </a:rPr>
                        <a:t>Fixed Effects</a:t>
                      </a:r>
                    </a:p>
                  </a:txBody>
                  <a:tcPr marL="22860" marR="22860" marT="4572" marB="4572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000000"/>
                          </a:solidFill>
                        </a:rPr>
                        <a:t>Ind &amp; Year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 dirty="0">
                          <a:solidFill>
                            <a:srgbClr val="000000"/>
                          </a:solidFill>
                        </a:rPr>
                        <a:t>Ind &amp; Year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550" b="0" dirty="0">
                        <a:solidFill>
                          <a:srgbClr val="000000"/>
                        </a:solidFill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000000"/>
                          </a:solidFill>
                        </a:rPr>
                        <a:t>Ind &amp; Year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 dirty="0">
                          <a:solidFill>
                            <a:srgbClr val="000000"/>
                          </a:solidFill>
                        </a:rPr>
                        <a:t>Ind &amp; Year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736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000000"/>
                          </a:solidFill>
                        </a:rPr>
                        <a:t>Observations</a:t>
                      </a:r>
                    </a:p>
                  </a:txBody>
                  <a:tcPr marL="22860" marR="22860" marT="4572" marB="4572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000000"/>
                          </a:solidFill>
                        </a:rPr>
                        <a:t>1,410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 dirty="0">
                          <a:solidFill>
                            <a:srgbClr val="000000"/>
                          </a:solidFill>
                        </a:rPr>
                        <a:t>1,410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550" b="0" dirty="0">
                        <a:solidFill>
                          <a:srgbClr val="000000"/>
                        </a:solidFill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000000"/>
                          </a:solidFill>
                        </a:rPr>
                        <a:t>1,375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 dirty="0">
                          <a:solidFill>
                            <a:srgbClr val="000000"/>
                          </a:solidFill>
                        </a:rPr>
                        <a:t>1,375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736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000000"/>
                          </a:solidFill>
                        </a:rPr>
                        <a:t>Adjusted R2</a:t>
                      </a:r>
                    </a:p>
                  </a:txBody>
                  <a:tcPr marL="22860" marR="22860" marT="4572" marB="4572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000000"/>
                          </a:solidFill>
                        </a:rPr>
                        <a:t>8.7%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 dirty="0">
                          <a:solidFill>
                            <a:srgbClr val="000000"/>
                          </a:solidFill>
                        </a:rPr>
                        <a:t>8.7%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550" b="0" dirty="0">
                        <a:solidFill>
                          <a:srgbClr val="000000"/>
                        </a:solidFill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000000"/>
                          </a:solidFill>
                        </a:rPr>
                        <a:t>6.2%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 dirty="0">
                          <a:solidFill>
                            <a:srgbClr val="000000"/>
                          </a:solidFill>
                        </a:rPr>
                        <a:t>6.2%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205" name="footer text"/>
          <p:cNvSpPr txBox="1"/>
          <p:nvPr/>
        </p:nvSpPr>
        <p:spPr>
          <a:xfrm>
            <a:off x="1097280" y="6446520"/>
            <a:ext cx="8686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FFFFFF"/>
                </a:solidFill>
              </a:rPr>
              <a:t>When AI-Washing Meets Initial Public Offerings  |  2026 FMA Annual Meeting</a:t>
            </a:r>
          </a:p>
        </p:txBody>
      </p:sp>
      <p:sp>
        <p:nvSpPr>
          <p:cNvPr id="206" name="slide number"/>
          <p:cNvSpPr txBox="1"/>
          <p:nvPr/>
        </p:nvSpPr>
        <p:spPr>
          <a:xfrm>
            <a:off x="10698480" y="64465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</a:rPr>
              <a:t>A16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Mechanism 3: Litigation risk</a:t>
            </a:r>
          </a:p>
        </p:txBody>
      </p:sp>
      <p:sp>
        <p:nvSpPr>
          <p:cNvPr id="3" name="text33"/>
          <p:cNvSpPr txBox="1"/>
          <p:nvPr/>
        </p:nvSpPr>
        <p:spPr>
          <a:xfrm>
            <a:off x="1097280" y="2103120"/>
            <a:ext cx="10058400" cy="4160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28600" indent="-228600">
              <a:spcBef>
                <a:spcPts val="800"/>
              </a:spcBef>
              <a:buClr>
                <a:srgbClr val="2683C6"/>
              </a:buClr>
              <a:buFont typeface="Arial"/>
              <a:buChar char="▪"/>
            </a:pPr>
            <a:r>
              <a:rPr sz="2000" b="1">
                <a:solidFill>
                  <a:srgbClr val="2683C6"/>
                </a:solidFill>
              </a:rPr>
              <a:t>Litigation risk measured over the first post-IPO year</a:t>
            </a:r>
          </a:p>
          <a:p>
            <a:pPr marL="228600" indent="-228600">
              <a:spcBef>
                <a:spcPts val="800"/>
              </a:spcBef>
              <a:buClr>
                <a:srgbClr val="2683C6"/>
              </a:buClr>
              <a:buFont typeface="Arial"/>
              <a:buChar char="▪"/>
            </a:pPr>
            <a:r>
              <a:rPr sz="2000" b="0">
                <a:solidFill>
                  <a:srgbClr val="404040"/>
                </a:solidFill>
              </a:rPr>
              <a:t>LitRiskKS: Kim–Skinner (2012) predicted litigation exposure using firm characteristics, returns, volatility, skewness, and turnover.</a:t>
            </a:r>
          </a:p>
          <a:p>
            <a:pPr marL="228600" indent="-228600">
              <a:spcBef>
                <a:spcPts val="800"/>
              </a:spcBef>
              <a:buClr>
                <a:srgbClr val="2683C6"/>
              </a:buClr>
              <a:buFont typeface="Arial"/>
              <a:buChar char="▪"/>
            </a:pPr>
            <a:r>
              <a:rPr sz="2000" b="0">
                <a:solidFill>
                  <a:srgbClr val="404040"/>
                </a:solidFill>
              </a:rPr>
              <a:t>LitRiskDFY: Disclosure-related class actions in the issuer’s FF12 industry, following Donelson et al. (2022).</a:t>
            </a:r>
          </a:p>
          <a:p>
            <a:pPr marL="228600" indent="-228600">
              <a:spcBef>
                <a:spcPts val="800"/>
              </a:spcBef>
              <a:buClr>
                <a:srgbClr val="2683C6"/>
              </a:buClr>
              <a:buFont typeface="Arial"/>
              <a:buChar char="▪"/>
            </a:pPr>
            <a:r>
              <a:rPr sz="2000" b="0">
                <a:solidFill>
                  <a:srgbClr val="404040"/>
                </a:solidFill>
              </a:rPr>
              <a:t>BHAR[1, 2yr]i,t = β1AIWashing × LitRiski,t + β2LitRiski,t + β3AIWashingi + β4AIInvestmenti + Controlsi + FEi,t + εi,t</a:t>
            </a:r>
          </a:p>
          <a:p>
            <a:pPr marL="228600" indent="-228600">
              <a:spcBef>
                <a:spcPts val="800"/>
              </a:spcBef>
              <a:buClr>
                <a:srgbClr val="2683C6"/>
              </a:buClr>
              <a:buFont typeface="Arial"/>
              <a:buChar char="▪"/>
            </a:pPr>
            <a:r>
              <a:rPr sz="2000" b="1">
                <a:solidFill>
                  <a:srgbClr val="2683C6"/>
                </a:solidFill>
              </a:rPr>
              <a:t>Further supportive evidence: </a:t>
            </a:r>
            <a:r>
              <a:rPr sz="2000" b="0">
                <a:solidFill>
                  <a:srgbClr val="404040"/>
                </a:solidFill>
              </a:rPr>
              <a:t>Disclosure gap</a:t>
            </a:r>
          </a:p>
          <a:p>
            <a:pPr marL="228600" indent="-228600">
              <a:spcBef>
                <a:spcPts val="800"/>
              </a:spcBef>
              <a:buClr>
                <a:srgbClr val="2683C6"/>
              </a:buClr>
              <a:buFont typeface="Arial"/>
              <a:buChar char="▪"/>
            </a:pPr>
            <a:r>
              <a:rPr sz="2000" b="0">
                <a:solidFill>
                  <a:srgbClr val="404040"/>
                </a:solidFill>
              </a:rPr>
              <a:t>AIGapi,t = β1AIWashing × LitRiski,t + β2LitRiski,t + β3AIWashingi + β4AIInvestmenti + Controlsi + FEi,t + εi,t</a:t>
            </a:r>
          </a:p>
        </p:txBody>
      </p:sp>
      <p:sp>
        <p:nvSpPr>
          <p:cNvPr id="4" name="footer text"/>
          <p:cNvSpPr txBox="1"/>
          <p:nvPr/>
        </p:nvSpPr>
        <p:spPr>
          <a:xfrm>
            <a:off x="1097280" y="6446520"/>
            <a:ext cx="8686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FFFFFF"/>
                </a:solidFill>
              </a:rPr>
              <a:t>When AI-Washing Meets Initial Public Offerings  |  2026 FMA Annual Meeting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10698480" y="64465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</a:rPr>
              <a:t>A17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Mechanism 3: Litigation risk</a:t>
            </a:r>
          </a:p>
        </p:txBody>
      </p:sp>
      <p:graphicFrame>
        <p:nvGraphicFramePr>
          <p:cNvPr id="204" name="表格 203">
            <a:extLst>
              <a:ext uri="{FF2B5EF4-FFF2-40B4-BE49-F238E27FC236}">
                <a16:creationId xmlns:a16="http://schemas.microsoft.com/office/drawing/2014/main" id="{00BA0F51-6EC1-4E1A-8C9C-553257A82F8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80708436"/>
              </p:ext>
            </p:extLst>
          </p:nvPr>
        </p:nvGraphicFramePr>
        <p:xfrm>
          <a:off x="2040635" y="2103120"/>
          <a:ext cx="8171689" cy="4160519"/>
        </p:xfrm>
        <a:graphic>
          <a:graphicData uri="http://schemas.openxmlformats.org/drawingml/2006/table">
            <a:tbl>
              <a:tblPr/>
              <a:tblGrid>
                <a:gridCol w="28567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87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87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87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287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8814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dirty="0">
                          <a:solidFill>
                            <a:srgbClr val="000000"/>
                          </a:solidFill>
                        </a:rPr>
                        <a:t>Dep. Variable=</a:t>
                      </a:r>
                    </a:p>
                  </a:txBody>
                  <a:tcPr marL="22860" marR="22860" marT="4572" marB="4572" anchor="ctr">
                    <a:lnL w="0"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1" dirty="0">
                          <a:solidFill>
                            <a:srgbClr val="000000"/>
                          </a:solidFill>
                        </a:rPr>
                        <a:t>BHAR[1,2yr]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dirty="0"/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dirty="0"/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dirty="0"/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814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dirty="0">
                          <a:solidFill>
                            <a:srgbClr val="000000"/>
                          </a:solidFill>
                        </a:rPr>
                        <a:t>Variable</a:t>
                      </a:r>
                    </a:p>
                  </a:txBody>
                  <a:tcPr marL="22860" marR="22860" marT="4572" marB="4572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00000"/>
                          </a:solidFill>
                        </a:rPr>
                        <a:t>(1)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00000"/>
                          </a:solidFill>
                        </a:rPr>
                        <a:t>(2)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00000"/>
                          </a:solidFill>
                        </a:rPr>
                        <a:t>(3)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00000"/>
                          </a:solidFill>
                        </a:rPr>
                        <a:t>(4)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814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1" dirty="0" err="1">
                          <a:solidFill>
                            <a:srgbClr val="000000"/>
                          </a:solidFill>
                        </a:rPr>
                        <a:t>AIWashing×LitRiskKS</a:t>
                      </a:r>
                      <a:endParaRPr sz="1400" b="0" i="1" dirty="0">
                        <a:solidFill>
                          <a:srgbClr val="000000"/>
                        </a:solidFill>
                      </a:endParaRPr>
                    </a:p>
                  </a:txBody>
                  <a:tcPr marL="22860" marR="22860" marT="4572" marB="4572" anchor="ctr">
                    <a:lnL w="0"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400" dirty="0"/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dirty="0">
                          <a:solidFill>
                            <a:srgbClr val="FF0000"/>
                          </a:solidFill>
                        </a:rPr>
                        <a:t>-0.034***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400" dirty="0">
                        <a:solidFill>
                          <a:srgbClr val="FF0000"/>
                        </a:solidFill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400">
                        <a:solidFill>
                          <a:srgbClr val="FF0000"/>
                        </a:solidFill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81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400" i="1" dirty="0"/>
                    </a:p>
                  </a:txBody>
                  <a:tcPr marL="22860" marR="22860" marT="4572" marB="4572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400" dirty="0"/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dirty="0">
                          <a:solidFill>
                            <a:srgbClr val="FF0000"/>
                          </a:solidFill>
                        </a:rPr>
                        <a:t>(-3.10)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400" dirty="0">
                        <a:solidFill>
                          <a:srgbClr val="FF0000"/>
                        </a:solidFill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400" dirty="0">
                        <a:solidFill>
                          <a:srgbClr val="FF0000"/>
                        </a:solidFill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814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1" dirty="0" err="1">
                          <a:solidFill>
                            <a:srgbClr val="000000"/>
                          </a:solidFill>
                        </a:rPr>
                        <a:t>AIWashing×LitRiskDFY</a:t>
                      </a:r>
                      <a:endParaRPr sz="1400" b="0" i="1" dirty="0">
                        <a:solidFill>
                          <a:srgbClr val="000000"/>
                        </a:solidFill>
                      </a:endParaRPr>
                    </a:p>
                  </a:txBody>
                  <a:tcPr marL="22860" marR="22860" marT="4572" marB="4572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400"/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400" dirty="0">
                        <a:solidFill>
                          <a:srgbClr val="FF0000"/>
                        </a:solidFill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400">
                        <a:solidFill>
                          <a:srgbClr val="FF0000"/>
                        </a:solidFill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dirty="0">
                          <a:solidFill>
                            <a:srgbClr val="FF0000"/>
                          </a:solidFill>
                        </a:rPr>
                        <a:t>-0.048**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81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400" i="1" dirty="0"/>
                    </a:p>
                  </a:txBody>
                  <a:tcPr marL="22860" marR="22860" marT="4572" marB="4572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400"/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400" dirty="0">
                        <a:solidFill>
                          <a:srgbClr val="FF0000"/>
                        </a:solidFill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400">
                        <a:solidFill>
                          <a:srgbClr val="FF0000"/>
                        </a:solidFill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dirty="0">
                          <a:solidFill>
                            <a:srgbClr val="FF0000"/>
                          </a:solidFill>
                        </a:rPr>
                        <a:t>(-2.57)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814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1" dirty="0" err="1">
                          <a:solidFill>
                            <a:srgbClr val="000000"/>
                          </a:solidFill>
                        </a:rPr>
                        <a:t>LitRiskKS</a:t>
                      </a:r>
                      <a:endParaRPr sz="1400" b="0" i="1" dirty="0">
                        <a:solidFill>
                          <a:srgbClr val="000000"/>
                        </a:solidFill>
                      </a:endParaRPr>
                    </a:p>
                  </a:txBody>
                  <a:tcPr marL="22860" marR="22860" marT="4572" marB="4572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-0.003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dirty="0">
                          <a:solidFill>
                            <a:srgbClr val="000000"/>
                          </a:solidFill>
                        </a:rPr>
                        <a:t>-0.001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400" dirty="0"/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400"/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81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400" i="1" dirty="0"/>
                    </a:p>
                  </a:txBody>
                  <a:tcPr marL="22860" marR="22860" marT="4572" marB="4572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(-0.32)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(-0.08)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400" dirty="0"/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400"/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814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1" dirty="0" err="1">
                          <a:solidFill>
                            <a:srgbClr val="000000"/>
                          </a:solidFill>
                        </a:rPr>
                        <a:t>LitRiskDFY</a:t>
                      </a:r>
                      <a:endParaRPr sz="1400" b="0" i="1" dirty="0">
                        <a:solidFill>
                          <a:srgbClr val="000000"/>
                        </a:solidFill>
                      </a:endParaRPr>
                    </a:p>
                  </a:txBody>
                  <a:tcPr marL="22860" marR="22860" marT="4572" marB="4572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400"/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400"/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dirty="0">
                          <a:solidFill>
                            <a:srgbClr val="000000"/>
                          </a:solidFill>
                        </a:rPr>
                        <a:t>0.023**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0.025***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81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400" i="1" dirty="0"/>
                    </a:p>
                  </a:txBody>
                  <a:tcPr marL="22860" marR="22860" marT="4572" marB="4572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400"/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400"/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dirty="0">
                          <a:solidFill>
                            <a:srgbClr val="000000"/>
                          </a:solidFill>
                        </a:rPr>
                        <a:t>(2.46)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(2.81)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814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1" dirty="0" err="1">
                          <a:solidFill>
                            <a:srgbClr val="000000"/>
                          </a:solidFill>
                        </a:rPr>
                        <a:t>AIWashing</a:t>
                      </a:r>
                      <a:endParaRPr sz="1400" b="0" i="1" dirty="0">
                        <a:solidFill>
                          <a:srgbClr val="000000"/>
                        </a:solidFill>
                      </a:endParaRPr>
                    </a:p>
                  </a:txBody>
                  <a:tcPr marL="22860" marR="22860" marT="4572" marB="4572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0.002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-0.097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dirty="0">
                          <a:solidFill>
                            <a:srgbClr val="000000"/>
                          </a:solidFill>
                        </a:rPr>
                        <a:t>0.001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0.080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81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400" i="1" dirty="0"/>
                    </a:p>
                  </a:txBody>
                  <a:tcPr marL="22860" marR="22860" marT="4572" marB="4572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(0.05)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(-1.35)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dirty="0">
                          <a:solidFill>
                            <a:srgbClr val="000000"/>
                          </a:solidFill>
                        </a:rPr>
                        <a:t>(0.01)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(1.33)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814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1" dirty="0" err="1">
                          <a:solidFill>
                            <a:srgbClr val="000000"/>
                          </a:solidFill>
                        </a:rPr>
                        <a:t>AIInvestment</a:t>
                      </a:r>
                      <a:endParaRPr sz="1400" b="0" i="1" dirty="0">
                        <a:solidFill>
                          <a:srgbClr val="000000"/>
                        </a:solidFill>
                      </a:endParaRPr>
                    </a:p>
                  </a:txBody>
                  <a:tcPr marL="22860" marR="22860" marT="4572" marB="4572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0.075*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0.074*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dirty="0">
                          <a:solidFill>
                            <a:srgbClr val="000000"/>
                          </a:solidFill>
                        </a:rPr>
                        <a:t>0.069*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0.063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881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400"/>
                    </a:p>
                  </a:txBody>
                  <a:tcPr marL="22860" marR="22860" marT="4572" marB="4572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(1.76)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(1.73)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dirty="0">
                          <a:solidFill>
                            <a:srgbClr val="000000"/>
                          </a:solidFill>
                        </a:rPr>
                        <a:t>(1.69)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(1.55)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881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400"/>
                    </a:p>
                  </a:txBody>
                  <a:tcPr marL="22860" marR="22860" marT="4572" marB="4572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400"/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400"/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400" dirty="0"/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400"/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8814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Controls</a:t>
                      </a:r>
                    </a:p>
                  </a:txBody>
                  <a:tcPr marL="22860" marR="22860" marT="4572" marB="4572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Yes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Yes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dirty="0">
                          <a:solidFill>
                            <a:srgbClr val="000000"/>
                          </a:solidFill>
                        </a:rPr>
                        <a:t>Yes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dirty="0">
                          <a:solidFill>
                            <a:srgbClr val="000000"/>
                          </a:solidFill>
                        </a:rPr>
                        <a:t>Yes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8814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Fixed Effects</a:t>
                      </a:r>
                    </a:p>
                  </a:txBody>
                  <a:tcPr marL="22860" marR="22860" marT="4572" marB="4572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Ind &amp; Year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Ind &amp; Year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Ind &amp; Year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dirty="0">
                          <a:solidFill>
                            <a:srgbClr val="000000"/>
                          </a:solidFill>
                        </a:rPr>
                        <a:t>Ind &amp; Year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8814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Observations</a:t>
                      </a:r>
                    </a:p>
                  </a:txBody>
                  <a:tcPr marL="22860" marR="22860" marT="4572" marB="4572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1,472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1,472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1,472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dirty="0">
                          <a:solidFill>
                            <a:srgbClr val="000000"/>
                          </a:solidFill>
                        </a:rPr>
                        <a:t>1,472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8814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Adjusted R2</a:t>
                      </a:r>
                    </a:p>
                  </a:txBody>
                  <a:tcPr marL="22860" marR="22860" marT="4572" marB="4572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5.1%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5.1%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5.3%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dirty="0">
                          <a:solidFill>
                            <a:srgbClr val="000000"/>
                          </a:solidFill>
                        </a:rPr>
                        <a:t>5.4%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  <p:sp>
        <p:nvSpPr>
          <p:cNvPr id="205" name="footer text"/>
          <p:cNvSpPr txBox="1"/>
          <p:nvPr/>
        </p:nvSpPr>
        <p:spPr>
          <a:xfrm>
            <a:off x="1097280" y="6446520"/>
            <a:ext cx="8686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FFFFFF"/>
                </a:solidFill>
              </a:rPr>
              <a:t>When AI-Washing Meets Initial Public Offerings  |  2026 FMA Annual Meeting</a:t>
            </a:r>
          </a:p>
        </p:txBody>
      </p:sp>
      <p:sp>
        <p:nvSpPr>
          <p:cNvPr id="206" name="slide number"/>
          <p:cNvSpPr txBox="1"/>
          <p:nvPr/>
        </p:nvSpPr>
        <p:spPr>
          <a:xfrm>
            <a:off x="10698480" y="64465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</a:rPr>
              <a:t>A18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Mechanism 3: Post-IPO AI disclosure gaps</a:t>
            </a:r>
          </a:p>
        </p:txBody>
      </p:sp>
      <p:sp>
        <p:nvSpPr>
          <p:cNvPr id="204" name="body">
            <a:extLst>
              <a:ext uri="{FF2B5EF4-FFF2-40B4-BE49-F238E27FC236}">
                <a16:creationId xmlns:a16="http://schemas.microsoft.com/office/drawing/2014/main" id="{CFCC79DF-9ADE-43D9-A175-DCED5878B6F9}"/>
              </a:ext>
            </a:extLst>
          </p:cNvPr>
          <p:cNvSpPr>
            <a:spLocks noGrp="1"/>
          </p:cNvSpPr>
          <p:nvPr/>
        </p:nvSpPr>
        <p:spPr>
          <a:xfrm>
            <a:off x="1737673" y="2103120"/>
            <a:ext cx="8777612" cy="62292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450" b="0">
                <a:solidFill>
                  <a:srgbClr val="000000"/>
                </a:solidFill>
              </a:defRPr>
            </a:defPPr>
          </a:lstStyle>
          <a:p>
            <a:pPr algn="l">
              <a:defRPr sz="1450" b="0">
                <a:solidFill>
                  <a:srgbClr val="000000"/>
                </a:solidFill>
              </a:defRPr>
            </a:pPr>
            <a:r>
              <a:rPr sz="1650" b="0" dirty="0">
                <a:solidFill>
                  <a:srgbClr val="000000"/>
                </a:solidFill>
              </a:rPr>
              <a:t>AI disclosure changes relative to the S-1, comparing AI-washing with AI-investment IPOs</a:t>
            </a:r>
          </a:p>
          <a:p>
            <a:pPr algn="l">
              <a:defRPr sz="1450" b="0">
                <a:solidFill>
                  <a:srgbClr val="000000"/>
                </a:solidFill>
              </a:defRPr>
            </a:pPr>
            <a:r>
              <a:rPr sz="1650" b="0" dirty="0">
                <a:solidFill>
                  <a:srgbClr val="000000"/>
                </a:solidFill>
              </a:rPr>
              <a:t>10-K: matched Business, Risk Factors, and MD&amp;A sections. Calls: quarters 5–8, scaled by words.</a:t>
            </a:r>
          </a:p>
        </p:txBody>
      </p:sp>
      <p:graphicFrame>
        <p:nvGraphicFramePr>
          <p:cNvPr id="205" name="表格 204">
            <a:extLst>
              <a:ext uri="{FF2B5EF4-FFF2-40B4-BE49-F238E27FC236}">
                <a16:creationId xmlns:a16="http://schemas.microsoft.com/office/drawing/2014/main" id="{4FA8E145-3FDD-4846-92FC-7800422B541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89099848"/>
              </p:ext>
            </p:extLst>
          </p:nvPr>
        </p:nvGraphicFramePr>
        <p:xfrm>
          <a:off x="1773068" y="3065825"/>
          <a:ext cx="8706823" cy="3197814"/>
        </p:xfrm>
        <a:graphic>
          <a:graphicData uri="http://schemas.openxmlformats.org/drawingml/2006/table">
            <a:tbl>
              <a:tblPr/>
              <a:tblGrid>
                <a:gridCol w="24876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8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98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6519">
                  <a:extLst>
                    <a:ext uri="{9D8B030D-6E8A-4147-A177-3AD203B41FA5}">
                      <a16:colId xmlns:a16="http://schemas.microsoft.com/office/drawing/2014/main" val="689826718"/>
                    </a:ext>
                  </a:extLst>
                </a:gridCol>
                <a:gridCol w="1498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98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4598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 dirty="0">
                          <a:solidFill>
                            <a:srgbClr val="000000"/>
                          </a:solidFill>
                        </a:rPr>
                        <a:t>Dep. Variable=</a:t>
                      </a:r>
                    </a:p>
                  </a:txBody>
                  <a:tcPr marL="22860" marR="22860" marT="4572" marB="4572" anchor="ctr">
                    <a:lnL w="0"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 i="1" dirty="0" err="1">
                          <a:solidFill>
                            <a:srgbClr val="000000"/>
                          </a:solidFill>
                        </a:rPr>
                        <a:t>AIGapTenK</a:t>
                      </a:r>
                      <a:endParaRPr sz="1500" b="1" i="1" dirty="0">
                        <a:solidFill>
                          <a:srgbClr val="000000"/>
                        </a:solidFill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 i="1" dirty="0" err="1">
                          <a:solidFill>
                            <a:srgbClr val="000000"/>
                          </a:solidFill>
                        </a:rPr>
                        <a:t>AIGapTenK</a:t>
                      </a:r>
                      <a:endParaRPr sz="1500" b="1" i="1" dirty="0">
                        <a:solidFill>
                          <a:srgbClr val="000000"/>
                        </a:solidFill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500" b="1" i="1" dirty="0">
                        <a:solidFill>
                          <a:srgbClr val="000000"/>
                        </a:solidFill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 i="1" dirty="0" err="1">
                          <a:solidFill>
                            <a:srgbClr val="000000"/>
                          </a:solidFill>
                        </a:rPr>
                        <a:t>AIGapCall</a:t>
                      </a:r>
                      <a:endParaRPr sz="1500" b="1" i="1" dirty="0">
                        <a:solidFill>
                          <a:srgbClr val="000000"/>
                        </a:solidFill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 i="1" dirty="0" err="1">
                          <a:solidFill>
                            <a:srgbClr val="000000"/>
                          </a:solidFill>
                        </a:rPr>
                        <a:t>AIGapCall</a:t>
                      </a:r>
                      <a:endParaRPr sz="1500" b="1" i="1" dirty="0">
                        <a:solidFill>
                          <a:srgbClr val="000000"/>
                        </a:solidFill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598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 dirty="0">
                          <a:solidFill>
                            <a:srgbClr val="000000"/>
                          </a:solidFill>
                        </a:rPr>
                        <a:t>Risk proxy</a:t>
                      </a:r>
                    </a:p>
                  </a:txBody>
                  <a:tcPr marL="22860" marR="22860" marT="4572" marB="4572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 dirty="0">
                          <a:solidFill>
                            <a:srgbClr val="000000"/>
                          </a:solidFill>
                        </a:rPr>
                        <a:t>KS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 dirty="0">
                          <a:solidFill>
                            <a:srgbClr val="000000"/>
                          </a:solidFill>
                        </a:rPr>
                        <a:t>DFY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500" b="1" dirty="0">
                        <a:solidFill>
                          <a:srgbClr val="000000"/>
                        </a:solidFill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 dirty="0">
                          <a:solidFill>
                            <a:srgbClr val="000000"/>
                          </a:solidFill>
                        </a:rPr>
                        <a:t>KS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000000"/>
                          </a:solidFill>
                        </a:rPr>
                        <a:t>DFY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598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1" dirty="0" err="1">
                          <a:solidFill>
                            <a:srgbClr val="000000"/>
                          </a:solidFill>
                        </a:rPr>
                        <a:t>AIWashing</a:t>
                      </a:r>
                      <a:r>
                        <a:rPr sz="1500" b="0" i="1" dirty="0">
                          <a:solidFill>
                            <a:srgbClr val="000000"/>
                          </a:solidFill>
                        </a:rPr>
                        <a:t> × </a:t>
                      </a:r>
                      <a:r>
                        <a:rPr sz="1500" b="0" i="1" dirty="0" err="1">
                          <a:solidFill>
                            <a:srgbClr val="000000"/>
                          </a:solidFill>
                        </a:rPr>
                        <a:t>LitRisk</a:t>
                      </a:r>
                      <a:endParaRPr sz="1500" b="0" i="1" dirty="0">
                        <a:solidFill>
                          <a:srgbClr val="000000"/>
                        </a:solidFill>
                      </a:endParaRPr>
                    </a:p>
                  </a:txBody>
                  <a:tcPr marL="22860" marR="22860" marT="4572" marB="4572" anchor="ctr">
                    <a:lnL w="0"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dirty="0">
                          <a:solidFill>
                            <a:srgbClr val="FF0000"/>
                          </a:solidFill>
                        </a:rPr>
                        <a:t>-1.328*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dirty="0">
                          <a:solidFill>
                            <a:srgbClr val="FF0000"/>
                          </a:solidFill>
                        </a:rPr>
                        <a:t>-0.547*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500" b="0" dirty="0">
                        <a:solidFill>
                          <a:srgbClr val="FF0000"/>
                        </a:solidFill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dirty="0">
                          <a:solidFill>
                            <a:srgbClr val="FF0000"/>
                          </a:solidFill>
                        </a:rPr>
                        <a:t>-0.188***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dirty="0">
                          <a:solidFill>
                            <a:srgbClr val="FF0000"/>
                          </a:solidFill>
                        </a:rPr>
                        <a:t>-0.118*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59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500" i="1" dirty="0"/>
                    </a:p>
                  </a:txBody>
                  <a:tcPr marL="22860" marR="22860" marT="4572" marB="4572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FF0000"/>
                          </a:solidFill>
                        </a:rPr>
                        <a:t>(-1.76)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dirty="0">
                          <a:solidFill>
                            <a:srgbClr val="FF0000"/>
                          </a:solidFill>
                        </a:rPr>
                        <a:t>(-1.92)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500" b="0" dirty="0">
                        <a:solidFill>
                          <a:srgbClr val="FF0000"/>
                        </a:solidFill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dirty="0">
                          <a:solidFill>
                            <a:srgbClr val="FF0000"/>
                          </a:solidFill>
                        </a:rPr>
                        <a:t>(-3.28)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dirty="0">
                          <a:solidFill>
                            <a:srgbClr val="FF0000"/>
                          </a:solidFill>
                        </a:rPr>
                        <a:t>(-1.83)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598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1" dirty="0" err="1">
                          <a:solidFill>
                            <a:srgbClr val="000000"/>
                          </a:solidFill>
                        </a:rPr>
                        <a:t>LitRisk</a:t>
                      </a:r>
                      <a:endParaRPr sz="1500" b="0" i="1" dirty="0">
                        <a:solidFill>
                          <a:srgbClr val="000000"/>
                        </a:solidFill>
                      </a:endParaRPr>
                    </a:p>
                  </a:txBody>
                  <a:tcPr marL="22860" marR="22860" marT="4572" marB="4572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dirty="0">
                          <a:solidFill>
                            <a:srgbClr val="000000"/>
                          </a:solidFill>
                        </a:rPr>
                        <a:t>0.146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dirty="0">
                          <a:solidFill>
                            <a:srgbClr val="000000"/>
                          </a:solidFill>
                        </a:rPr>
                        <a:t>0.005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500" b="0" dirty="0">
                        <a:solidFill>
                          <a:srgbClr val="000000"/>
                        </a:solidFill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dirty="0">
                          <a:solidFill>
                            <a:srgbClr val="000000"/>
                          </a:solidFill>
                        </a:rPr>
                        <a:t>0.044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dirty="0">
                          <a:solidFill>
                            <a:srgbClr val="000000"/>
                          </a:solidFill>
                        </a:rPr>
                        <a:t>0.078**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59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500" i="1" dirty="0"/>
                    </a:p>
                  </a:txBody>
                  <a:tcPr marL="22860" marR="22860" marT="4572" marB="4572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000000"/>
                          </a:solidFill>
                        </a:rPr>
                        <a:t>(1.43)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dirty="0">
                          <a:solidFill>
                            <a:srgbClr val="000000"/>
                          </a:solidFill>
                        </a:rPr>
                        <a:t>(0.04)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500" b="0" dirty="0">
                        <a:solidFill>
                          <a:srgbClr val="000000"/>
                        </a:solidFill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000000"/>
                          </a:solidFill>
                        </a:rPr>
                        <a:t>(1.21)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dirty="0">
                          <a:solidFill>
                            <a:srgbClr val="000000"/>
                          </a:solidFill>
                        </a:rPr>
                        <a:t>(2.21)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598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1" dirty="0" err="1">
                          <a:solidFill>
                            <a:srgbClr val="000000"/>
                          </a:solidFill>
                        </a:rPr>
                        <a:t>AIWashing</a:t>
                      </a:r>
                      <a:endParaRPr sz="1500" b="0" i="1" dirty="0">
                        <a:solidFill>
                          <a:srgbClr val="000000"/>
                        </a:solidFill>
                      </a:endParaRPr>
                    </a:p>
                  </a:txBody>
                  <a:tcPr marL="22860" marR="22860" marT="4572" marB="4572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000000"/>
                          </a:solidFill>
                        </a:rPr>
                        <a:t>-3.926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dirty="0">
                          <a:solidFill>
                            <a:srgbClr val="000000"/>
                          </a:solidFill>
                        </a:rPr>
                        <a:t>0.906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500" b="0" dirty="0">
                        <a:solidFill>
                          <a:srgbClr val="000000"/>
                        </a:solidFill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000000"/>
                          </a:solidFill>
                        </a:rPr>
                        <a:t>-0.698***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dirty="0">
                          <a:solidFill>
                            <a:srgbClr val="000000"/>
                          </a:solidFill>
                        </a:rPr>
                        <a:t>0.131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59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500" i="1" dirty="0"/>
                    </a:p>
                  </a:txBody>
                  <a:tcPr marL="22860" marR="22860" marT="4572" marB="4572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dirty="0">
                          <a:solidFill>
                            <a:srgbClr val="000000"/>
                          </a:solidFill>
                        </a:rPr>
                        <a:t>(-1.35)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dirty="0">
                          <a:solidFill>
                            <a:srgbClr val="000000"/>
                          </a:solidFill>
                        </a:rPr>
                        <a:t>(1.31)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500" b="0" dirty="0">
                        <a:solidFill>
                          <a:srgbClr val="000000"/>
                        </a:solidFill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000000"/>
                          </a:solidFill>
                        </a:rPr>
                        <a:t>(-3.57)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dirty="0">
                          <a:solidFill>
                            <a:srgbClr val="000000"/>
                          </a:solidFill>
                        </a:rPr>
                        <a:t>(0.48)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598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500" b="0" dirty="0">
                        <a:solidFill>
                          <a:srgbClr val="000000"/>
                        </a:solidFill>
                      </a:endParaRPr>
                    </a:p>
                  </a:txBody>
                  <a:tcPr marL="22860" marR="22860" marT="4572" marB="4572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500" b="0" dirty="0">
                        <a:solidFill>
                          <a:srgbClr val="000000"/>
                        </a:solidFill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500" b="0" dirty="0">
                        <a:solidFill>
                          <a:srgbClr val="000000"/>
                        </a:solidFill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500" b="0" dirty="0">
                        <a:solidFill>
                          <a:srgbClr val="000000"/>
                        </a:solidFill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500" b="0" dirty="0">
                        <a:solidFill>
                          <a:srgbClr val="000000"/>
                        </a:solidFill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500" b="0" dirty="0">
                        <a:solidFill>
                          <a:srgbClr val="000000"/>
                        </a:solidFill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4857601"/>
                  </a:ext>
                </a:extLst>
              </a:tr>
              <a:tr h="24598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dirty="0">
                          <a:solidFill>
                            <a:srgbClr val="000000"/>
                          </a:solidFill>
                        </a:rPr>
                        <a:t>Controls</a:t>
                      </a:r>
                    </a:p>
                  </a:txBody>
                  <a:tcPr marL="22860" marR="22860" marT="4572" marB="4572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dirty="0">
                          <a:solidFill>
                            <a:srgbClr val="000000"/>
                          </a:solidFill>
                        </a:rPr>
                        <a:t>Yes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dirty="0">
                          <a:solidFill>
                            <a:srgbClr val="000000"/>
                          </a:solidFill>
                        </a:rPr>
                        <a:t>Yes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500" b="0" dirty="0">
                        <a:solidFill>
                          <a:srgbClr val="000000"/>
                        </a:solidFill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dirty="0">
                          <a:solidFill>
                            <a:srgbClr val="000000"/>
                          </a:solidFill>
                        </a:rPr>
                        <a:t>Yes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dirty="0">
                          <a:solidFill>
                            <a:srgbClr val="000000"/>
                          </a:solidFill>
                        </a:rPr>
                        <a:t>Yes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598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000000"/>
                          </a:solidFill>
                        </a:rPr>
                        <a:t>Fixed Effects</a:t>
                      </a:r>
                    </a:p>
                  </a:txBody>
                  <a:tcPr marL="22860" marR="22860" marT="4572" marB="4572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000000"/>
                          </a:solidFill>
                        </a:rPr>
                        <a:t>Ind &amp; Year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dirty="0">
                          <a:solidFill>
                            <a:srgbClr val="000000"/>
                          </a:solidFill>
                        </a:rPr>
                        <a:t>Ind &amp; Year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500" b="0" dirty="0">
                        <a:solidFill>
                          <a:srgbClr val="000000"/>
                        </a:solidFill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000000"/>
                          </a:solidFill>
                        </a:rPr>
                        <a:t>Ind &amp; Year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dirty="0">
                          <a:solidFill>
                            <a:srgbClr val="000000"/>
                          </a:solidFill>
                        </a:rPr>
                        <a:t>Ind &amp; Year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598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000000"/>
                          </a:solidFill>
                        </a:rPr>
                        <a:t>Observations</a:t>
                      </a:r>
                    </a:p>
                  </a:txBody>
                  <a:tcPr marL="22860" marR="22860" marT="4572" marB="4572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000000"/>
                          </a:solidFill>
                        </a:rPr>
                        <a:t>212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dirty="0">
                          <a:solidFill>
                            <a:srgbClr val="000000"/>
                          </a:solidFill>
                        </a:rPr>
                        <a:t>214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500" b="0" dirty="0">
                        <a:solidFill>
                          <a:srgbClr val="000000"/>
                        </a:solidFill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000000"/>
                          </a:solidFill>
                        </a:rPr>
                        <a:t>373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dirty="0">
                          <a:solidFill>
                            <a:srgbClr val="000000"/>
                          </a:solidFill>
                        </a:rPr>
                        <a:t>374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598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000000"/>
                          </a:solidFill>
                        </a:rPr>
                        <a:t>Adjusted R²</a:t>
                      </a:r>
                    </a:p>
                  </a:txBody>
                  <a:tcPr marL="22860" marR="22860" marT="4572" marB="4572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000000"/>
                          </a:solidFill>
                        </a:rPr>
                        <a:t>3.6%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dirty="0">
                          <a:solidFill>
                            <a:srgbClr val="000000"/>
                          </a:solidFill>
                        </a:rPr>
                        <a:t>1.7%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500" b="0" dirty="0">
                        <a:solidFill>
                          <a:srgbClr val="000000"/>
                        </a:solidFill>
                      </a:endParaRP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000000"/>
                          </a:solidFill>
                        </a:rPr>
                        <a:t>12.8%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dirty="0">
                          <a:solidFill>
                            <a:srgbClr val="000000"/>
                          </a:solidFill>
                        </a:rPr>
                        <a:t>13.4%</a:t>
                      </a:r>
                    </a:p>
                  </a:txBody>
                  <a:tcPr marL="22860" marR="22860" marT="4572" marB="4572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206" name="footer text"/>
          <p:cNvSpPr txBox="1"/>
          <p:nvPr/>
        </p:nvSpPr>
        <p:spPr>
          <a:xfrm>
            <a:off x="1097280" y="6446520"/>
            <a:ext cx="8686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FFFFFF"/>
                </a:solidFill>
              </a:rPr>
              <a:t>When AI-Washing Meets Initial Public Offerings  |  2026 FMA Annual Meeting</a:t>
            </a:r>
          </a:p>
        </p:txBody>
      </p:sp>
      <p:sp>
        <p:nvSpPr>
          <p:cNvPr id="207" name="slide number"/>
          <p:cNvSpPr txBox="1"/>
          <p:nvPr/>
        </p:nvSpPr>
        <p:spPr>
          <a:xfrm>
            <a:off x="10698480" y="64465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</a:rPr>
              <a:t>A19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Regulatory oversight of AI-washing</a:t>
            </a:r>
          </a:p>
        </p:txBody>
      </p:sp>
      <p:sp>
        <p:nvSpPr>
          <p:cNvPr id="3" name="text36"/>
          <p:cNvSpPr txBox="1"/>
          <p:nvPr/>
        </p:nvSpPr>
        <p:spPr>
          <a:xfrm>
            <a:off x="1097280" y="2103120"/>
            <a:ext cx="10058400" cy="4160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194310" indent="-194310">
              <a:spcBef>
                <a:spcPts val="800"/>
              </a:spcBef>
              <a:buClr>
                <a:srgbClr val="2683C6"/>
              </a:buClr>
              <a:buFont typeface="Arial"/>
              <a:buChar char="▪"/>
            </a:pPr>
            <a:r>
              <a:rPr sz="1700" b="1">
                <a:solidFill>
                  <a:srgbClr val="2683C6"/>
                </a:solidFill>
              </a:rPr>
              <a:t>Pre-filing review environment</a:t>
            </a:r>
          </a:p>
          <a:p>
            <a:pPr marL="194310" indent="-194310">
              <a:spcBef>
                <a:spcPts val="800"/>
              </a:spcBef>
              <a:buClr>
                <a:srgbClr val="2683C6"/>
              </a:buClr>
              <a:buFont typeface="Arial"/>
              <a:buChar char="▪"/>
            </a:pPr>
            <a:r>
              <a:rPr sz="1700" b="0">
                <a:solidFill>
                  <a:srgbClr val="404040"/>
                </a:solidFill>
              </a:rPr>
              <a:t>ComLetter = ln(1 + comment letters issued market-wide from 12 to 6 months before filing).</a:t>
            </a:r>
          </a:p>
          <a:p>
            <a:pPr marL="194310" indent="-194310">
              <a:spcBef>
                <a:spcPts val="800"/>
              </a:spcBef>
              <a:buClr>
                <a:srgbClr val="2683C6"/>
              </a:buClr>
              <a:buFont typeface="Arial"/>
              <a:buChar char="▪"/>
            </a:pPr>
            <a:r>
              <a:rPr sz="1700" b="0">
                <a:solidFill>
                  <a:srgbClr val="404040"/>
                </a:solidFill>
              </a:rPr>
              <a:t>This measures broader SEC review activity, not review of the focal issuer.</a:t>
            </a:r>
          </a:p>
          <a:p>
            <a:pPr marL="194310" indent="-194310">
              <a:spcBef>
                <a:spcPts val="800"/>
              </a:spcBef>
              <a:buClr>
                <a:srgbClr val="2683C6"/>
              </a:buClr>
              <a:buFont typeface="Arial"/>
              <a:buChar char="▪"/>
            </a:pPr>
            <a:r>
              <a:rPr sz="1700" b="0">
                <a:solidFill>
                  <a:srgbClr val="404040"/>
                </a:solidFill>
              </a:rPr>
              <a:t>Logit specifications control for issuer characteristics, industry, and year effects.</a:t>
            </a:r>
          </a:p>
          <a:p>
            <a:pPr marL="194310" indent="-194310">
              <a:spcBef>
                <a:spcPts val="800"/>
              </a:spcBef>
              <a:buClr>
                <a:srgbClr val="2683C6"/>
              </a:buClr>
              <a:buFont typeface="Arial"/>
              <a:buChar char="▪"/>
            </a:pPr>
            <a:r>
              <a:rPr sz="1700" b="0">
                <a:solidFill>
                  <a:srgbClr val="404040"/>
                </a:solidFill>
              </a:rPr>
              <a:t>logit Pr(Yᵢ = 1) = α + β₁ ComLetterᵢ + γ′ Xᵢ + FEi,t + εi,t</a:t>
            </a:r>
          </a:p>
          <a:p>
            <a:pPr marL="194310" indent="-194310">
              <a:spcBef>
                <a:spcPts val="800"/>
              </a:spcBef>
              <a:buClr>
                <a:srgbClr val="2683C6"/>
              </a:buClr>
              <a:buFont typeface="Arial"/>
              <a:buChar char="▪"/>
            </a:pPr>
            <a:r>
              <a:rPr sz="1700" b="1">
                <a:solidFill>
                  <a:srgbClr val="2683C6"/>
                </a:solidFill>
              </a:rPr>
              <a:t>SEC enforcement on misleading AI claims: March 18, 2024</a:t>
            </a:r>
          </a:p>
          <a:p>
            <a:pPr marL="194310" indent="-194310">
              <a:spcBef>
                <a:spcPts val="800"/>
              </a:spcBef>
              <a:buClr>
                <a:srgbClr val="2683C6"/>
              </a:buClr>
              <a:buFont typeface="Arial"/>
              <a:buChar char="▪"/>
            </a:pPr>
            <a:r>
              <a:rPr sz="1700" b="0">
                <a:solidFill>
                  <a:srgbClr val="404040"/>
                </a:solidFill>
              </a:rPr>
              <a:t>Compare post-enforcement changes across industries with different 2010–2017 AI-washing exposure (Post × WashRatio).</a:t>
            </a:r>
          </a:p>
          <a:p>
            <a:pPr marL="194310" indent="-194310">
              <a:spcBef>
                <a:spcPts val="800"/>
              </a:spcBef>
              <a:buClr>
                <a:srgbClr val="2683C6"/>
              </a:buClr>
              <a:buFont typeface="Arial"/>
              <a:buChar char="▪"/>
            </a:pPr>
            <a:r>
              <a:rPr sz="1700" b="0">
                <a:solidFill>
                  <a:srgbClr val="404040"/>
                </a:solidFill>
              </a:rPr>
              <a:t>Results indicate an association with regulatory scrutiny; they do not establish causality.</a:t>
            </a:r>
          </a:p>
          <a:p>
            <a:pPr marL="194310" indent="-194310">
              <a:spcBef>
                <a:spcPts val="800"/>
              </a:spcBef>
              <a:buClr>
                <a:srgbClr val="2683C6"/>
              </a:buClr>
              <a:buFont typeface="Arial"/>
              <a:buChar char="▪"/>
            </a:pPr>
            <a:r>
              <a:rPr sz="1700" b="0">
                <a:solidFill>
                  <a:srgbClr val="404040"/>
                </a:solidFill>
              </a:rPr>
              <a:t>logit Pr(AIWashingᵢ = 1) = α + β₁(Postᵢ × WashRatioⱼ) + β₂ Postᵢ + β₃ WashRatioⱼ + γ′ Xᵢ + FE+ εi,t</a:t>
            </a:r>
          </a:p>
        </p:txBody>
      </p:sp>
      <p:sp>
        <p:nvSpPr>
          <p:cNvPr id="4" name="footer text"/>
          <p:cNvSpPr txBox="1"/>
          <p:nvPr/>
        </p:nvSpPr>
        <p:spPr>
          <a:xfrm>
            <a:off x="1097280" y="6446520"/>
            <a:ext cx="8686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FFFFFF"/>
                </a:solidFill>
              </a:rPr>
              <a:t>When AI-Washing Meets Initial Public Offerings  |  2026 FMA Annual Meeting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10698480" y="64465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</a:rPr>
              <a:t>A20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Regulatory oversight of AI-washing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30137DE6-11BB-48C2-ACC0-A90D3F3678F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25494085"/>
              </p:ext>
            </p:extLst>
          </p:nvPr>
        </p:nvGraphicFramePr>
        <p:xfrm>
          <a:off x="2389898" y="2103120"/>
          <a:ext cx="7473164" cy="1331803"/>
        </p:xfrm>
        <a:graphic>
          <a:graphicData uri="http://schemas.openxmlformats.org/drawingml/2006/table">
            <a:tbl>
              <a:tblPr/>
              <a:tblGrid>
                <a:gridCol w="20239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58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58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5817">
                  <a:extLst>
                    <a:ext uri="{9D8B030D-6E8A-4147-A177-3AD203B41FA5}">
                      <a16:colId xmlns:a16="http://schemas.microsoft.com/office/drawing/2014/main" val="3537639495"/>
                    </a:ext>
                  </a:extLst>
                </a:gridCol>
                <a:gridCol w="132584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2584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64045">
                <a:tc>
                  <a:txBody>
                    <a:bodyPr/>
                    <a:lstStyle/>
                    <a:p>
                      <a:pPr algn="l"/>
                      <a:r>
                        <a:rPr sz="1100" b="1" dirty="0">
                          <a:solidFill>
                            <a:srgbClr val="000000"/>
                          </a:solidFill>
                        </a:rPr>
                        <a:t>Dep. Variable=</a:t>
                      </a:r>
                    </a:p>
                  </a:txBody>
                  <a:tcPr marL="28575" marR="28575" marT="0" marB="0" anchor="ctr">
                    <a:lnL w="0"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100" b="1" i="1" dirty="0" err="1">
                          <a:solidFill>
                            <a:srgbClr val="000000"/>
                          </a:solidFill>
                        </a:rPr>
                        <a:t>AIWashing</a:t>
                      </a:r>
                      <a:endParaRPr sz="1100" b="1" i="1" dirty="0">
                        <a:solidFill>
                          <a:srgbClr val="000000"/>
                        </a:solidFill>
                      </a:endParaRPr>
                    </a:p>
                  </a:txBody>
                  <a:tcPr marL="28575" marR="28575" marT="0" marB="0" anchor="ctr">
                    <a:lnL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28575" marR="28575" marT="0" marB="0" anchor="ctr">
                    <a:lnL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100" b="1" i="1" dirty="0">
                        <a:solidFill>
                          <a:srgbClr val="000000"/>
                        </a:solidFill>
                      </a:endParaRPr>
                    </a:p>
                  </a:txBody>
                  <a:tcPr marL="28575" marR="28575" marT="0" marB="0" anchor="ctr">
                    <a:lnL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100" b="1" i="1" dirty="0" err="1">
                          <a:solidFill>
                            <a:srgbClr val="000000"/>
                          </a:solidFill>
                        </a:rPr>
                        <a:t>AIInvestment</a:t>
                      </a:r>
                      <a:endParaRPr sz="1100" b="1" i="1" dirty="0">
                        <a:solidFill>
                          <a:srgbClr val="000000"/>
                        </a:solidFill>
                      </a:endParaRPr>
                    </a:p>
                  </a:txBody>
                  <a:tcPr marL="28575" marR="28575" marT="0" marB="0" anchor="ctr">
                    <a:lnL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28575" marR="28575" marT="0" marB="0" anchor="ctr">
                    <a:lnL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4045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</a:rPr>
                        <a:t>Variable</a:t>
                      </a:r>
                    </a:p>
                  </a:txBody>
                  <a:tcPr marL="28575" marR="28575" marT="0" marB="0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000000"/>
                          </a:solidFill>
                        </a:rPr>
                        <a:t>(1)</a:t>
                      </a:r>
                    </a:p>
                  </a:txBody>
                  <a:tcPr marL="28575" marR="28575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000000"/>
                          </a:solidFill>
                        </a:rPr>
                        <a:t>(2)</a:t>
                      </a:r>
                    </a:p>
                  </a:txBody>
                  <a:tcPr marL="28575" marR="28575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100" b="1" dirty="0">
                        <a:solidFill>
                          <a:srgbClr val="000000"/>
                        </a:solidFill>
                      </a:endParaRPr>
                    </a:p>
                  </a:txBody>
                  <a:tcPr marL="28575" marR="28575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000000"/>
                          </a:solidFill>
                        </a:rPr>
                        <a:t>(3)</a:t>
                      </a:r>
                    </a:p>
                  </a:txBody>
                  <a:tcPr marL="28575" marR="28575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</a:rPr>
                        <a:t>(4)</a:t>
                      </a:r>
                    </a:p>
                  </a:txBody>
                  <a:tcPr marL="28575" marR="28575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4045">
                <a:tc>
                  <a:txBody>
                    <a:bodyPr/>
                    <a:lstStyle/>
                    <a:p>
                      <a:pPr algn="l"/>
                      <a:r>
                        <a:rPr sz="1100" b="0" i="1" dirty="0" err="1">
                          <a:solidFill>
                            <a:srgbClr val="000000"/>
                          </a:solidFill>
                        </a:rPr>
                        <a:t>ComLetter</a:t>
                      </a:r>
                      <a:endParaRPr sz="1100" b="0" i="1" dirty="0">
                        <a:solidFill>
                          <a:srgbClr val="000000"/>
                        </a:solidFill>
                      </a:endParaRPr>
                    </a:p>
                  </a:txBody>
                  <a:tcPr marL="28575" marR="28575" marT="0" marB="0" anchor="ctr">
                    <a:lnL w="0"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FF0000"/>
                          </a:solidFill>
                        </a:rPr>
                        <a:t>-0.264***</a:t>
                      </a:r>
                    </a:p>
                  </a:txBody>
                  <a:tcPr marL="28575" marR="28575" marT="0" marB="0" anchor="ctr">
                    <a:lnL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FF0000"/>
                          </a:solidFill>
                        </a:rPr>
                        <a:t>-0.249**</a:t>
                      </a:r>
                    </a:p>
                  </a:txBody>
                  <a:tcPr marL="28575" marR="28575" marT="0" marB="0" anchor="ctr">
                    <a:lnL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100" b="0" dirty="0">
                        <a:solidFill>
                          <a:srgbClr val="FF0000"/>
                        </a:solidFill>
                      </a:endParaRPr>
                    </a:p>
                  </a:txBody>
                  <a:tcPr marL="28575" marR="28575" marT="0" marB="0" anchor="ctr">
                    <a:lnL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0000"/>
                          </a:solidFill>
                        </a:rPr>
                        <a:t>0.082</a:t>
                      </a:r>
                    </a:p>
                  </a:txBody>
                  <a:tcPr marL="28575" marR="28575" marT="0" marB="0" anchor="ctr">
                    <a:lnL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0000"/>
                          </a:solidFill>
                        </a:rPr>
                        <a:t>-0.044</a:t>
                      </a:r>
                    </a:p>
                  </a:txBody>
                  <a:tcPr marL="28575" marR="28575" marT="0" marB="0" anchor="ctr">
                    <a:lnL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4045">
                <a:tc>
                  <a:txBody>
                    <a:bodyPr/>
                    <a:lstStyle/>
                    <a:p>
                      <a:endParaRPr/>
                    </a:p>
                  </a:txBody>
                  <a:tcPr marL="28575" marR="28575" marT="0" marB="0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0000"/>
                          </a:solidFill>
                        </a:rPr>
                        <a:t>(-3.57)</a:t>
                      </a:r>
                    </a:p>
                  </a:txBody>
                  <a:tcPr marL="28575" marR="28575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FF0000"/>
                          </a:solidFill>
                        </a:rPr>
                        <a:t>(-2.44)</a:t>
                      </a:r>
                    </a:p>
                  </a:txBody>
                  <a:tcPr marL="28575" marR="28575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100" b="0" dirty="0">
                        <a:solidFill>
                          <a:srgbClr val="FF0000"/>
                        </a:solidFill>
                      </a:endParaRPr>
                    </a:p>
                  </a:txBody>
                  <a:tcPr marL="28575" marR="28575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FF0000"/>
                          </a:solidFill>
                        </a:rPr>
                        <a:t>(0.84)</a:t>
                      </a:r>
                    </a:p>
                  </a:txBody>
                  <a:tcPr marL="28575" marR="28575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FF0000"/>
                          </a:solidFill>
                        </a:rPr>
                        <a:t>(-0.58)</a:t>
                      </a:r>
                    </a:p>
                  </a:txBody>
                  <a:tcPr marL="28575" marR="28575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4045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</a:rPr>
                        <a:t>Controls</a:t>
                      </a:r>
                    </a:p>
                  </a:txBody>
                  <a:tcPr marL="28575" marR="28575" marT="0" marB="0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</a:rPr>
                        <a:t>No</a:t>
                      </a:r>
                    </a:p>
                  </a:txBody>
                  <a:tcPr marL="28575" marR="28575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000000"/>
                          </a:solidFill>
                        </a:rPr>
                        <a:t>Yes</a:t>
                      </a:r>
                    </a:p>
                  </a:txBody>
                  <a:tcPr marL="28575" marR="28575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100" b="0" dirty="0">
                        <a:solidFill>
                          <a:srgbClr val="000000"/>
                        </a:solidFill>
                      </a:endParaRPr>
                    </a:p>
                  </a:txBody>
                  <a:tcPr marL="28575" marR="28575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</a:rPr>
                        <a:t>No</a:t>
                      </a:r>
                    </a:p>
                  </a:txBody>
                  <a:tcPr marL="28575" marR="28575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</a:rPr>
                        <a:t>Yes</a:t>
                      </a:r>
                    </a:p>
                  </a:txBody>
                  <a:tcPr marL="28575" marR="28575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4045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</a:rPr>
                        <a:t>Fixed Effects</a:t>
                      </a:r>
                    </a:p>
                  </a:txBody>
                  <a:tcPr marL="28575" marR="28575" marT="0" marB="0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</a:rPr>
                        <a:t>Ind &amp; Year</a:t>
                      </a:r>
                    </a:p>
                  </a:txBody>
                  <a:tcPr marL="28575" marR="28575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000000"/>
                          </a:solidFill>
                        </a:rPr>
                        <a:t>Ind &amp; Year</a:t>
                      </a:r>
                    </a:p>
                  </a:txBody>
                  <a:tcPr marL="28575" marR="28575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100" b="0" dirty="0">
                        <a:solidFill>
                          <a:srgbClr val="000000"/>
                        </a:solidFill>
                      </a:endParaRPr>
                    </a:p>
                  </a:txBody>
                  <a:tcPr marL="28575" marR="28575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</a:rPr>
                        <a:t>Ind &amp; Year</a:t>
                      </a:r>
                    </a:p>
                  </a:txBody>
                  <a:tcPr marL="28575" marR="28575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</a:rPr>
                        <a:t>Ind &amp; Year</a:t>
                      </a:r>
                    </a:p>
                  </a:txBody>
                  <a:tcPr marL="28575" marR="28575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4045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</a:rPr>
                        <a:t>Observations</a:t>
                      </a:r>
                    </a:p>
                  </a:txBody>
                  <a:tcPr marL="28575" marR="28575" marT="0" marB="0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</a:rPr>
                        <a:t>1,445</a:t>
                      </a:r>
                    </a:p>
                  </a:txBody>
                  <a:tcPr marL="28575" marR="28575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000000"/>
                          </a:solidFill>
                        </a:rPr>
                        <a:t>1,436</a:t>
                      </a:r>
                    </a:p>
                  </a:txBody>
                  <a:tcPr marL="28575" marR="28575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100" b="0" dirty="0">
                        <a:solidFill>
                          <a:srgbClr val="000000"/>
                        </a:solidFill>
                      </a:endParaRPr>
                    </a:p>
                  </a:txBody>
                  <a:tcPr marL="28575" marR="28575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</a:rPr>
                        <a:t>1,524</a:t>
                      </a:r>
                    </a:p>
                  </a:txBody>
                  <a:tcPr marL="28575" marR="28575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</a:rPr>
                        <a:t>1,515</a:t>
                      </a:r>
                    </a:p>
                  </a:txBody>
                  <a:tcPr marL="28575" marR="28575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4045"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000000"/>
                          </a:solidFill>
                        </a:rPr>
                        <a:t>Pseudo R²</a:t>
                      </a:r>
                    </a:p>
                  </a:txBody>
                  <a:tcPr marL="28575" marR="28575" marT="0" marB="0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</a:rPr>
                        <a:t>8.5%</a:t>
                      </a:r>
                    </a:p>
                  </a:txBody>
                  <a:tcPr marL="28575" marR="28575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000000"/>
                          </a:solidFill>
                        </a:rPr>
                        <a:t>11.4%</a:t>
                      </a:r>
                    </a:p>
                  </a:txBody>
                  <a:tcPr marL="28575" marR="28575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100" b="0" dirty="0">
                        <a:solidFill>
                          <a:srgbClr val="000000"/>
                        </a:solidFill>
                      </a:endParaRPr>
                    </a:p>
                  </a:txBody>
                  <a:tcPr marL="28575" marR="28575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000000"/>
                          </a:solidFill>
                        </a:rPr>
                        <a:t>23.5%</a:t>
                      </a:r>
                    </a:p>
                  </a:txBody>
                  <a:tcPr marL="28575" marR="28575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000000"/>
                          </a:solidFill>
                        </a:rPr>
                        <a:t>33.9%</a:t>
                      </a:r>
                    </a:p>
                  </a:txBody>
                  <a:tcPr marL="28575" marR="28575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" name="Event heading">
            <a:extLst>
              <a:ext uri="{FF2B5EF4-FFF2-40B4-BE49-F238E27FC236}">
                <a16:creationId xmlns:a16="http://schemas.microsoft.com/office/drawing/2014/main" id="{5ED4EC25-D066-4D81-8FE9-A61C64844510}"/>
              </a:ext>
            </a:extLst>
          </p:cNvPr>
          <p:cNvSpPr>
            <a:spLocks noGrp="1"/>
          </p:cNvSpPr>
          <p:nvPr/>
        </p:nvSpPr>
        <p:spPr>
          <a:xfrm>
            <a:off x="2389894" y="3506617"/>
            <a:ext cx="7412411" cy="194423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1200" b="0">
                <a:solidFill>
                  <a:srgbClr val="000000"/>
                </a:solidFill>
              </a:defRPr>
            </a:defPPr>
          </a:lstStyle>
          <a:p>
            <a:pPr algn="l"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SEC enforcement on March 18, 2024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29F27336-16F3-454C-B655-5E843BDA7AC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88007729"/>
              </p:ext>
            </p:extLst>
          </p:nvPr>
        </p:nvGraphicFramePr>
        <p:xfrm>
          <a:off x="2389897" y="3738711"/>
          <a:ext cx="7473165" cy="2022008"/>
        </p:xfrm>
        <a:graphic>
          <a:graphicData uri="http://schemas.openxmlformats.org/drawingml/2006/table">
            <a:tbl>
              <a:tblPr/>
              <a:tblGrid>
                <a:gridCol w="23695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5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59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59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759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64045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</a:rPr>
                        <a:t>Dep. Variable=</a:t>
                      </a:r>
                    </a:p>
                  </a:txBody>
                  <a:tcPr marL="28575" marR="28575" marT="0" marB="0" anchor="ctr">
                    <a:lnL w="0"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sz="1100" b="1" i="1" dirty="0" err="1">
                          <a:solidFill>
                            <a:srgbClr val="000000"/>
                          </a:solidFill>
                        </a:rPr>
                        <a:t>AIWashing</a:t>
                      </a:r>
                      <a:endParaRPr sz="1100" b="1" i="1" dirty="0">
                        <a:solidFill>
                          <a:srgbClr val="000000"/>
                        </a:solidFill>
                      </a:endParaRPr>
                    </a:p>
                  </a:txBody>
                  <a:tcPr marL="28575" marR="28575" marT="0" marB="0" anchor="ctr">
                    <a:lnL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28575" marR="28575" marT="0" marB="0" anchor="ctr">
                    <a:lnL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28575" marR="28575" marT="0" marB="0" anchor="ctr">
                    <a:lnL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28575" marR="28575" marT="0" marB="0" anchor="ctr">
                    <a:lnL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7969">
                <a:tc>
                  <a:txBody>
                    <a:bodyPr/>
                    <a:lstStyle/>
                    <a:p>
                      <a:pPr algn="l"/>
                      <a:r>
                        <a:rPr sz="1100" b="1" dirty="0">
                          <a:solidFill>
                            <a:srgbClr val="000000"/>
                          </a:solidFill>
                        </a:rPr>
                        <a:t>Variable</a:t>
                      </a:r>
                    </a:p>
                  </a:txBody>
                  <a:tcPr marL="28575" marR="28575" marT="0" marB="0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</a:rPr>
                        <a:t>(1)</a:t>
                      </a:r>
                    </a:p>
                  </a:txBody>
                  <a:tcPr marL="28575" marR="28575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</a:rPr>
                        <a:t>(2)</a:t>
                      </a:r>
                    </a:p>
                  </a:txBody>
                  <a:tcPr marL="28575" marR="28575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000000"/>
                          </a:solidFill>
                        </a:rPr>
                        <a:t>(3)</a:t>
                      </a:r>
                    </a:p>
                  </a:txBody>
                  <a:tcPr marL="28575" marR="28575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</a:rPr>
                        <a:t>(4)</a:t>
                      </a:r>
                    </a:p>
                  </a:txBody>
                  <a:tcPr marL="28575" marR="28575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7969">
                <a:tc>
                  <a:txBody>
                    <a:bodyPr/>
                    <a:lstStyle/>
                    <a:p>
                      <a:pPr algn="l"/>
                      <a:r>
                        <a:rPr sz="1100" b="0" i="1" dirty="0" err="1">
                          <a:solidFill>
                            <a:srgbClr val="000000"/>
                          </a:solidFill>
                        </a:rPr>
                        <a:t>Post×WashRatio</a:t>
                      </a:r>
                      <a:endParaRPr sz="1100" b="0" i="1" dirty="0">
                        <a:solidFill>
                          <a:srgbClr val="000000"/>
                        </a:solidFill>
                      </a:endParaRPr>
                    </a:p>
                  </a:txBody>
                  <a:tcPr marL="28575" marR="28575" marT="0" marB="0" anchor="ctr">
                    <a:lnL w="0"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28575" marR="28575" marT="0" marB="0" anchor="ctr">
                    <a:lnL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FF0000"/>
                          </a:solidFill>
                        </a:rPr>
                        <a:t>-2.614***</a:t>
                      </a:r>
                    </a:p>
                  </a:txBody>
                  <a:tcPr marL="28575" marR="28575" marT="0" marB="0" anchor="ctr">
                    <a:lnL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FF0000"/>
                          </a:solidFill>
                        </a:rPr>
                        <a:t>-3.000***</a:t>
                      </a:r>
                    </a:p>
                  </a:txBody>
                  <a:tcPr marL="28575" marR="28575" marT="0" marB="0" anchor="ctr">
                    <a:lnL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FF0000"/>
                          </a:solidFill>
                        </a:rPr>
                        <a:t>-2.184**</a:t>
                      </a:r>
                    </a:p>
                  </a:txBody>
                  <a:tcPr marL="28575" marR="28575" marT="0" marB="0" anchor="ctr">
                    <a:lnL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7969">
                <a:tc>
                  <a:txBody>
                    <a:bodyPr/>
                    <a:lstStyle/>
                    <a:p>
                      <a:endParaRPr i="1" dirty="0"/>
                    </a:p>
                  </a:txBody>
                  <a:tcPr marL="28575" marR="28575" marT="0" marB="0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28575" marR="28575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0000"/>
                          </a:solidFill>
                        </a:rPr>
                        <a:t>(-3.19)</a:t>
                      </a:r>
                    </a:p>
                  </a:txBody>
                  <a:tcPr marL="28575" marR="28575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FF0000"/>
                          </a:solidFill>
                        </a:rPr>
                        <a:t>(-2.75)</a:t>
                      </a:r>
                    </a:p>
                  </a:txBody>
                  <a:tcPr marL="28575" marR="28575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FF0000"/>
                          </a:solidFill>
                        </a:rPr>
                        <a:t>(-2.26)</a:t>
                      </a:r>
                    </a:p>
                  </a:txBody>
                  <a:tcPr marL="28575" marR="28575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7969">
                <a:tc>
                  <a:txBody>
                    <a:bodyPr/>
                    <a:lstStyle/>
                    <a:p>
                      <a:pPr algn="l"/>
                      <a:r>
                        <a:rPr sz="1100" b="0" i="1" dirty="0">
                          <a:solidFill>
                            <a:srgbClr val="000000"/>
                          </a:solidFill>
                        </a:rPr>
                        <a:t>Post</a:t>
                      </a:r>
                    </a:p>
                  </a:txBody>
                  <a:tcPr marL="28575" marR="28575" marT="0" marB="0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</a:rPr>
                        <a:t>0.701**</a:t>
                      </a:r>
                    </a:p>
                  </a:txBody>
                  <a:tcPr marL="28575" marR="28575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</a:rPr>
                        <a:t>1.405***</a:t>
                      </a:r>
                    </a:p>
                  </a:txBody>
                  <a:tcPr marL="28575" marR="28575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</a:rPr>
                        <a:t>1.686***</a:t>
                      </a:r>
                    </a:p>
                  </a:txBody>
                  <a:tcPr marL="28575" marR="28575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000000"/>
                          </a:solidFill>
                        </a:rPr>
                        <a:t>2.472</a:t>
                      </a:r>
                    </a:p>
                  </a:txBody>
                  <a:tcPr marL="28575" marR="28575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7969">
                <a:tc>
                  <a:txBody>
                    <a:bodyPr/>
                    <a:lstStyle/>
                    <a:p>
                      <a:endParaRPr i="1" dirty="0"/>
                    </a:p>
                  </a:txBody>
                  <a:tcPr marL="28575" marR="28575" marT="0" marB="0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</a:rPr>
                        <a:t>(2.06)</a:t>
                      </a:r>
                    </a:p>
                  </a:txBody>
                  <a:tcPr marL="28575" marR="28575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</a:rPr>
                        <a:t>(3.79)</a:t>
                      </a:r>
                    </a:p>
                  </a:txBody>
                  <a:tcPr marL="28575" marR="28575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</a:rPr>
                        <a:t>(3.23)</a:t>
                      </a:r>
                    </a:p>
                  </a:txBody>
                  <a:tcPr marL="28575" marR="28575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</a:rPr>
                        <a:t>(1.62)</a:t>
                      </a:r>
                    </a:p>
                  </a:txBody>
                  <a:tcPr marL="28575" marR="28575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7969">
                <a:tc>
                  <a:txBody>
                    <a:bodyPr/>
                    <a:lstStyle/>
                    <a:p>
                      <a:pPr algn="l"/>
                      <a:r>
                        <a:rPr sz="1100" b="0" i="1" dirty="0" err="1">
                          <a:solidFill>
                            <a:srgbClr val="000000"/>
                          </a:solidFill>
                        </a:rPr>
                        <a:t>WashRatio</a:t>
                      </a:r>
                      <a:endParaRPr sz="1100" b="0" i="1" dirty="0">
                        <a:solidFill>
                          <a:srgbClr val="000000"/>
                        </a:solidFill>
                      </a:endParaRPr>
                    </a:p>
                  </a:txBody>
                  <a:tcPr marL="28575" marR="28575" marT="0" marB="0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</a:rPr>
                        <a:t>0.548</a:t>
                      </a:r>
                    </a:p>
                  </a:txBody>
                  <a:tcPr marL="28575" marR="28575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</a:rPr>
                        <a:t>0.621*</a:t>
                      </a:r>
                    </a:p>
                  </a:txBody>
                  <a:tcPr marL="28575" marR="28575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</a:rPr>
                        <a:t>0.520</a:t>
                      </a:r>
                    </a:p>
                  </a:txBody>
                  <a:tcPr marL="28575" marR="28575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</a:rPr>
                        <a:t>0.364</a:t>
                      </a:r>
                    </a:p>
                  </a:txBody>
                  <a:tcPr marL="28575" marR="28575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7969">
                <a:tc>
                  <a:txBody>
                    <a:bodyPr/>
                    <a:lstStyle/>
                    <a:p>
                      <a:endParaRPr i="1" dirty="0"/>
                    </a:p>
                  </a:txBody>
                  <a:tcPr marL="28575" marR="28575" marT="0" marB="0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</a:rPr>
                        <a:t>(1.55)</a:t>
                      </a:r>
                    </a:p>
                  </a:txBody>
                  <a:tcPr marL="28575" marR="28575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</a:rPr>
                        <a:t>(1.74)</a:t>
                      </a:r>
                    </a:p>
                  </a:txBody>
                  <a:tcPr marL="28575" marR="28575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</a:rPr>
                        <a:t>(1.52)</a:t>
                      </a:r>
                    </a:p>
                  </a:txBody>
                  <a:tcPr marL="28575" marR="28575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</a:rPr>
                        <a:t>(1.05)</a:t>
                      </a:r>
                    </a:p>
                  </a:txBody>
                  <a:tcPr marL="28575" marR="28575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7969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</a:rPr>
                        <a:t>Controls</a:t>
                      </a:r>
                    </a:p>
                  </a:txBody>
                  <a:tcPr marL="28575" marR="28575" marT="0" marB="0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</a:rPr>
                        <a:t>No</a:t>
                      </a:r>
                    </a:p>
                  </a:txBody>
                  <a:tcPr marL="28575" marR="28575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</a:rPr>
                        <a:t>No</a:t>
                      </a:r>
                    </a:p>
                  </a:txBody>
                  <a:tcPr marL="28575" marR="28575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</a:rPr>
                        <a:t>Yes</a:t>
                      </a:r>
                    </a:p>
                  </a:txBody>
                  <a:tcPr marL="28575" marR="28575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</a:rPr>
                        <a:t>Yes</a:t>
                      </a:r>
                    </a:p>
                  </a:txBody>
                  <a:tcPr marL="28575" marR="28575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57969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</a:rPr>
                        <a:t>Fixed Effects</a:t>
                      </a:r>
                    </a:p>
                  </a:txBody>
                  <a:tcPr marL="28575" marR="28575" marT="0" marB="0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</a:rPr>
                        <a:t>No</a:t>
                      </a:r>
                    </a:p>
                  </a:txBody>
                  <a:tcPr marL="28575" marR="28575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</a:rPr>
                        <a:t>No</a:t>
                      </a:r>
                    </a:p>
                  </a:txBody>
                  <a:tcPr marL="28575" marR="28575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</a:rPr>
                        <a:t>No</a:t>
                      </a:r>
                    </a:p>
                  </a:txBody>
                  <a:tcPr marL="28575" marR="28575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</a:rPr>
                        <a:t>Filing quarter</a:t>
                      </a:r>
                    </a:p>
                  </a:txBody>
                  <a:tcPr marL="28575" marR="28575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57969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</a:rPr>
                        <a:t>Observations</a:t>
                      </a:r>
                    </a:p>
                  </a:txBody>
                  <a:tcPr marL="28575" marR="28575" marT="0" marB="0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</a:rPr>
                        <a:t>748</a:t>
                      </a:r>
                    </a:p>
                  </a:txBody>
                  <a:tcPr marL="28575" marR="28575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</a:rPr>
                        <a:t>748</a:t>
                      </a:r>
                    </a:p>
                  </a:txBody>
                  <a:tcPr marL="28575" marR="28575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</a:rPr>
                        <a:t>735</a:t>
                      </a:r>
                    </a:p>
                  </a:txBody>
                  <a:tcPr marL="28575" marR="28575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</a:rPr>
                        <a:t>692</a:t>
                      </a:r>
                    </a:p>
                  </a:txBody>
                  <a:tcPr marL="28575" marR="28575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57969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</a:rPr>
                        <a:t>Pseudo R²</a:t>
                      </a:r>
                    </a:p>
                  </a:txBody>
                  <a:tcPr marL="28575" marR="28575" marT="0" marB="0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</a:rPr>
                        <a:t>0.9%</a:t>
                      </a:r>
                    </a:p>
                  </a:txBody>
                  <a:tcPr marL="28575" marR="28575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</a:rPr>
                        <a:t>1.2%</a:t>
                      </a:r>
                    </a:p>
                  </a:txBody>
                  <a:tcPr marL="28575" marR="28575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</a:rPr>
                        <a:t>7.1%</a:t>
                      </a:r>
                    </a:p>
                  </a:txBody>
                  <a:tcPr marL="28575" marR="28575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000000"/>
                          </a:solidFill>
                        </a:rPr>
                        <a:t>10.1%</a:t>
                      </a:r>
                    </a:p>
                  </a:txBody>
                  <a:tcPr marL="28575" marR="28575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5" name="footer text"/>
          <p:cNvSpPr txBox="1"/>
          <p:nvPr/>
        </p:nvSpPr>
        <p:spPr>
          <a:xfrm>
            <a:off x="1097280" y="6446520"/>
            <a:ext cx="8686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FFFFFF"/>
                </a:solidFill>
              </a:rPr>
              <a:t>When AI-Washing Meets Initial Public Offerings  |  2026 FMA Annual Meeting</a:t>
            </a:r>
          </a:p>
        </p:txBody>
      </p:sp>
      <p:sp>
        <p:nvSpPr>
          <p:cNvPr id="6" name="slide number"/>
          <p:cNvSpPr txBox="1"/>
          <p:nvPr/>
        </p:nvSpPr>
        <p:spPr>
          <a:xfrm>
            <a:off x="10698480" y="64465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</a:rPr>
              <a:t>A21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VTI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Sagona Extra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agona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ABE3C30C-0FC0-4450-828E-52DE70F1BCCB}" vid="{A6E2497D-935A-4CFD-B9FD-6DCB15FA68B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Frame</Template>
  <TotalTime>1</TotalTime>
  <Words>0</Words>
  <Application>Microsoft Macintosh PowerPoint</Application>
  <PresentationFormat>Widescreen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Calibri</vt:lpstr>
      <vt:lpstr>Sagona Book</vt:lpstr>
      <vt:lpstr>Sagona ExtraLight</vt:lpstr>
      <vt:lpstr>RetrospectVTI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Rui Dai</dc:creator>
  <cp:lastModifiedBy>Rui Dai</cp:lastModifiedBy>
  <cp:revision>1</cp:revision>
  <dcterms:created xsi:type="dcterms:W3CDTF">2026-10-12T19:05:55Z</dcterms:created>
  <dcterms:modified xsi:type="dcterms:W3CDTF">2026-10-12T19:07:48Z</dcterms:modified>
</cp:coreProperties>
</file>