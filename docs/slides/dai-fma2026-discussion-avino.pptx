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3" r:id="rId1"/>
  </p:sldMasterIdLst>
  <p:sldIdLst>
    <p:sldId id="256" r:id="rId2"/>
    <p:sldId id="257" r:id="rId6"/>
    <p:sldId id="258" r:id="rId4"/>
    <p:sldId id="259" r:id="rId3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Setup: Compustat quarterly data for NYSE/AMEX/NASDAQ firms, 1985Q1-2017Q2 (418,000 firm-quarters).</a:t>
            </a:r>
          </a:p>
          <a:p>
            <a:r>
              <a:t>Investment = capital expenditures (CAPX), R&amp;D, and their sum, each scaled by lagged assets.</a:t>
            </a:r>
          </a:p>
          <a:p/>
          <a:p>
            <a:r>
              <a:t>Climate risk = the Climate Change News index (CCN) of Engle, Giglio, Kelly, Lee and Stroebel (2020):</a:t>
            </a:r>
          </a:p>
          <a:p>
            <a:r>
              <a:t>the share of Wall Street Journal text about climate change, normalized and logged. It is one number per</a:t>
            </a:r>
          </a:p>
          <a:p>
            <a:r>
              <a:t>month for the whole economy. The regression follows Gulen and Ion (2016), who did the same exercise for</a:t>
            </a:r>
          </a:p>
          <a:p>
            <a:r>
              <a:t>economic policy uncertainty (EPU), with firm fixed effects and firm controls, but no time fixed effects,</a:t>
            </a:r>
          </a:p>
          <a:p>
            <a:r>
              <a:t>because CCN is the same for every firm in a quarter.</a:t>
            </a:r>
          </a:p>
          <a:p/>
          <a:p>
            <a:r>
              <a:t>Headline numbers:</a:t>
            </a:r>
          </a:p>
          <a:p>
            <a:r>
              <a:t>- Table 2: one standard deviation more climate news -&gt; CAPX next quarter falls by 0.29 percentage</a:t>
            </a:r>
          </a:p>
          <a:p>
            <a:r>
              <a:t>  points of assets, about 8% of average CAPX, three times the EPU effect, and the effect lasts about</a:t>
            </a:r>
          </a:p>
          <a:p>
            <a:r>
              <a:t>  25 quarters (Figure 1).</a:t>
            </a:r>
          </a:p>
          <a:p>
            <a:r>
              <a:t>- Channels (Tables 4-7): stronger for firms with high cost of equity and financial constraints; weaker</a:t>
            </a:r>
          </a:p>
          <a:p>
            <a:r>
              <a:t>  where environmental regulation is stricter and in oil and gas, utilities and autos.</a:t>
            </a:r>
          </a:p>
          <a:p>
            <a:r>
              <a:t>- Table 8: the effect is there only before the Stern Review (Oct 2006).</a:t>
            </a:r>
          </a:p>
          <a:p>
            <a:r>
              <a:t>- Table 9: after Stern, brown firms (top quartile of emissions or negative MSCI environmental score)</a:t>
            </a:r>
          </a:p>
          <a:p>
            <a:r>
              <a:t>  invest 0.75-0.84 pp of assets more than matched peers, two quarters ahead.</a:t>
            </a:r>
          </a:p>
          <a:p>
            <a:r>
              <a:t>- Table 10: brown firms' emission intensity falls after Stern; no change in patents.</a:t>
            </a:r>
          </a:p>
          <a:p>
            <a:r>
              <a:t>- Table 12: firms with more firm-level climate exposure react less to aggregate climate news.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issue: identification comes from one aggregate time series.</a:t>
            </a:r>
          </a:p>
          <a:p/>
          <a:p>
            <a:r>
              <a:t>1. Because CCN is the same for all firms in a quarter, the regression in Table 2 effectively asks: in</a:t>
            </a:r>
          </a:p>
          <a:p>
            <a:r>
              <a:t>quarters when the WSJ wrote more about climate, did the average firm invest less? There are about 130</a:t>
            </a:r>
          </a:p>
          <a:p>
            <a:r>
              <a:t>quarters. Clustering by quarter fixes the standard errors, but not the confounding: any slow-moving</a:t>
            </a:r>
          </a:p>
          <a:p>
            <a:r>
              <a:t>force correlated with climate coverage is absorbed by CCN.</a:t>
            </a:r>
          </a:p>
          <a:p/>
          <a:p>
            <a:r>
              <a:t>2. The obvious one is a level shift in both series (checked 2026-10-12):</a:t>
            </a:r>
          </a:p>
          <a:p>
            <a:r>
              <a:t>- Capex: my Compustat calculation (annual, NYSE/AMEX/NASDAQ US firms, capex / lagged assets,</a:t>
            </a:r>
          </a:p>
          <a:p>
            <a:r>
              <a:t>  equal-weighted, winsorized 1/99; script checks/capex_trend.py): 10.9% in 1985, about 9% through the</a:t>
            </a:r>
          </a:p>
          <a:p>
            <a:r>
              <a:t>  1990s (9.0% in 2000), 4.8% in 2002, 4.6% in 2003, 5.7% in 2006, 3.7% in 2017. Median and aggregate</a:t>
            </a:r>
          </a:p>
          <a:p>
            <a:r>
              <a:t>  ratios, and the sample without financials and utilities, show the same decline (about -2 pp of assets</a:t>
            </a:r>
          </a:p>
          <a:p>
            <a:r>
              <a:t>  per decade). Kahle and Stulz (2017, JEP) report the same pattern: investment relative to assets is</a:t>
            </a:r>
          </a:p>
          <a:p>
            <a:r>
              <a:t>  lower than in the 1990s, and the average firm now spends more on R&amp;D than on capex.</a:t>
            </a:r>
          </a:p>
          <a:p>
            <a:r>
              <a:t>- Climate news: in Engle et al. (2020), Figure 2, the WSJ index is flat at roughly 40-50 from 1985 to</a:t>
            </a:r>
          </a:p>
          <a:p>
            <a:r>
              <a:t>  about 2001 apart from spikes (UNFCCC 1992, Kyoto 1997), rises to roughly 60-80 from 2002, peaks at</a:t>
            </a:r>
          </a:p>
          <a:p>
            <a:r>
              <a:t>  Copenhagen (2009), and settles near 60 afterwards. So it is not a steady upward trend; it is a step up</a:t>
            </a:r>
          </a:p>
          <a:p>
            <a:r>
              <a:t>  in the early 2000s.</a:t>
            </a:r>
          </a:p>
          <a:p>
            <a:r>
              <a:t>- Both shifts fall inside the pre-2006 window where the paper finds its effect. A regression of capex on</a:t>
            </a:r>
          </a:p>
          <a:p>
            <a:r>
              <a:t>  climate news over 1985-2006 can therefore pick up "the 1990s had high capex and little climate news;</a:t>
            </a:r>
          </a:p>
          <a:p>
            <a:r>
              <a:t>  the 2000s had low capex and more climate news", with no climate channel at all. A level shift also</a:t>
            </a:r>
          </a:p>
          <a:p>
            <a:r>
              <a:t>  mechanically "persists" at long horizons, which is what Figure 1 shows. The AR(1)-innovation test</a:t>
            </a:r>
          </a:p>
          <a:p>
            <a:r>
              <a:t>  (Table A7) helps, but its coefficient is larger than the level one (-1.8 vs -1.0), which needs</a:t>
            </a:r>
          </a:p>
          <a:p>
            <a:r>
              <a:t>  explaining.</a:t>
            </a:r>
          </a:p>
          <a:p/>
          <a:p>
            <a:r>
              <a:t>3. Timing. If climate news measured climate risk that firms respond to, the effect should be stronger</a:t>
            </a:r>
          </a:p>
          <a:p>
            <a:r>
              <a:t>after 2006, when transition risk became concrete. The paper finds the opposite: it is significant only</a:t>
            </a:r>
          </a:p>
          <a:p>
            <a:r>
              <a:t>before 2006 (Table 8). The authors read this as stakeholder pressure offsetting the risk; the simpler</a:t>
            </a:r>
          </a:p>
          <a:p>
            <a:r>
              <a:t>reading is that the pre-2006 coefficient reflects something else.</a:t>
            </a:r>
          </a:p>
          <a:p/>
          <a:p>
            <a:r>
              <a:t>4. Attention vs uncertainty. Real-options theory (Bernanke 1983; Bloom 2009) says firms delay</a:t>
            </a:r>
          </a:p>
          <a:p>
            <a:r>
              <a:t>irreversible investment when the outcome is more uncertain. CCN measures how much climate is discussed,</a:t>
            </a:r>
          </a:p>
          <a:p>
            <a:r>
              <a:t>not how uncertain outcomes are. A volatility-type measure, or dispersion across forecasts, would match</a:t>
            </a:r>
          </a:p>
          <a:p>
            <a:r>
              <a:t>the theory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Magnitude: one standard deviation of log CCN is 0.275. Table 2: -1.044 x 0.275 = -0.29 pp of assets,</a:t>
            </a:r>
          </a:p>
          <a:p>
            <a:r>
              <a:t>8.3% of the 3.47% mean CAPX. The 2SLS estimate in Table A1 is -4.69, so the same shock would cut CAPX</a:t>
            </a:r>
          </a:p>
          <a:p>
            <a:r>
              <a:t>by 1.29 pp, about 37% of the mean. That is implausibly large for a change in news coverage.</a:t>
            </a:r>
          </a:p>
          <a:p/>
          <a:p>
            <a:r>
              <a:t>Instruments (Appendix B):</a:t>
            </a:r>
          </a:p>
          <a:p>
            <a:r>
              <a:t>- Global mean surface temperature (GMST) rises over the sample, so it carries the same trend as CCN and</a:t>
            </a:r>
          </a:p>
          <a:p>
            <a:r>
              <a:t>  inherits the spurious-trend problem. It also fails the exclusion restriction: temperature affects firm</a:t>
            </a:r>
          </a:p>
          <a:p>
            <a:r>
              <a:t>  sales and costs directly (Addoum, Ng and Ortiz-Bobea 2020, which the paper cites).</a:t>
            </a:r>
          </a:p>
          <a:p>
            <a:r>
              <a:t>- The appendix text says the second stage regresses investment on the residuals from the first stage.</a:t>
            </a:r>
          </a:p>
          <a:p>
            <a:r>
              <a:t>  That is not two-stage least squares (which uses the fitted values); if that is what was run, the</a:t>
            </a:r>
          </a:p>
          <a:p>
            <a:r>
              <a:t>  estimate is not an IV estimate. Ask the authors to clarify.</a:t>
            </a:r>
          </a:p>
          <a:p>
            <a:r>
              <a:t>- Hurricane Katrina: the test compares firms in affected states with others. A negative effect shows</a:t>
            </a:r>
          </a:p>
          <a:p>
            <a:r>
              <a:t>  that physical damage reduces investment, not that climate news does. The state list also includes</a:t>
            </a:r>
          </a:p>
          <a:p>
            <a:r>
              <a:t>  Indiana, Kentucky, Michigan and Ohio, far from the storm.</a:t>
            </a:r>
          </a:p>
          <a:p/>
          <a:p>
            <a:r>
              <a:t>Fixes in detail:</a:t>
            </a:r>
          </a:p>
          <a:p>
            <a:r>
              <a:t>(a) Plot CCN and cross-sectional average CAPX/assets over 1985-2017, raw and detrended.</a:t>
            </a:r>
          </a:p>
          <a:p>
            <a:r>
              <a:t>(b) Add a time trend, or use first differences; also run the aggregate time-series regression (130</a:t>
            </a:r>
          </a:p>
          <a:p>
            <a:r>
              <a:t>    observations, Newey-West standard errors) as the honest benchmark.</a:t>
            </a:r>
          </a:p>
          <a:p>
            <a:r>
              <a:t>(c) Placebo: build WSJ news-share indices for topics that trend similarly but have no climate content.</a:t>
            </a:r>
          </a:p>
          <a:p>
            <a:r>
              <a:t>    If they also "reduce investment", the CCN result is the trend.</a:t>
            </a:r>
          </a:p>
          <a:p>
            <a:r>
              <a:t>(d) The cleanest evidence uses differences across firms: CCN x firm exposure with calendar-quarter</a:t>
            </a:r>
          </a:p>
          <a:p>
            <a:r>
              <a:t>    fixed effects, which absorb anything common to all firms in a quarter. Tables 4-7 and 12 already</a:t>
            </a:r>
          </a:p>
          <a:p>
            <a:r>
              <a:t>    run these; make them the main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the test is: Eq. (3) is a difference-in-differences. Treated = brown firms (top quartile of</a:t>
            </a:r>
          </a:p>
          <a:p>
            <a:r>
              <a:t>Trucost emissions, or negative MSCI net environmental score, measured in 2003); controls = matched</a:t>
            </a:r>
          </a:p>
          <a:p>
            <a:r>
              <a:t>firms with similar Q and cash flow. Window 2004Q1-2009Q4; post = from 2006Q4. Table 9: brown firms'</a:t>
            </a:r>
          </a:p>
          <a:p>
            <a:r>
              <a:t>CAPX two quarters ahead rises 0.75 pp of assets relative to controls, about one fifth of average CAPX,</a:t>
            </a:r>
          </a:p>
          <a:p>
            <a:r>
              <a:t>from about 5,300 firm-quarters.</a:t>
            </a:r>
          </a:p>
          <a:p/>
          <a:p>
            <a:r>
              <a:t>Note that Eq. (3) does not include climate news at all. It shows that brown firms invested relatively</a:t>
            </a:r>
          </a:p>
          <a:p>
            <a:r>
              <a:t>more after Stern, not that they "respond less to climate risk".</a:t>
            </a:r>
          </a:p>
          <a:p/>
          <a:p>
            <a:r>
              <a:t>Green baseline (first audio critique): a difference-in-differences cannot tell us whether brown firms</a:t>
            </a:r>
          </a:p>
          <a:p>
            <a:r>
              <a:t>kept investing or green firms cut. Plotting raw CAPX/assets for both groups decides it. Figure 2 shows</a:t>
            </a:r>
          </a:p>
          <a:p>
            <a:r>
              <a:t>only the difference.</a:t>
            </a:r>
          </a:p>
          <a:p/>
          <a:p>
            <a:r>
              <a:t>Green firms' "luxury to wait" (second audio critique): real-options logic says firms that face less</a:t>
            </a:r>
          </a:p>
          <a:p>
            <a:r>
              <a:t>regulatory pressure can afford to delay when uncertainty rises, while brown firms must act. That</a:t>
            </a:r>
          </a:p>
          <a:p>
            <a:r>
              <a:t>predicts the relative gap comes from green firms cutting, a sharper and testable version of the story.</a:t>
            </a:r>
          </a:p>
          <a:p/>
          <a:p>
            <a:r>
              <a:t>Window: 2004-2009 contains the oil and commodity boom (oil peaked mid-2008), which raises brown firms'</a:t>
            </a:r>
          </a:p>
          <a:p>
            <a:r>
              <a:t>cash flow and investment opportunities; Al Gore's An Inconvenient Truth (May 2006); the IPCC Fourth</a:t>
            </a:r>
          </a:p>
          <a:p>
            <a:r>
              <a:t>Assessment Report (2007); Massachusetts v. EPA (2007); and the financial crisis. The authors exclude oil</a:t>
            </a:r>
          </a:p>
          <a:p>
            <a:r>
              <a:t>and gas and control for oil-price growth (Tables A14-A15), which helps; but the divergence is</a:t>
            </a:r>
          </a:p>
          <a:p>
            <a:r>
              <a:t>concentrated in 2007 and fades after (Figure 2), which also fits a commodity cycle. The Stern Review</a:t>
            </a:r>
          </a:p>
          <a:p>
            <a:r>
              <a:t>was commissioned by the UK Treasury; its salience for US firms needs support (the Google Trends figure</a:t>
            </a:r>
          </a:p>
          <a:p>
            <a:r>
              <a:t>A2 is a start).</a:t>
            </a:r>
          </a:p>
          <a:p/>
          <a:p>
            <a:r>
              <a:t>Fixes: placebo event dates (2004, 2005); industry x quarter fixed effects, since brown firms cluster</a:t>
            </a:r>
          </a:p>
          <a:p>
            <a:r>
              <a:t>in a few industries; a dose-response comparison with UK/EU firms; and the interaction the narrative</a:t>
            </a:r>
          </a:p>
          <a:p>
            <a:r>
              <a:t>actually needs: climate news x brown, with quarter fixed effects, before and after 2006.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 side (my comments).</a:t>
            </a:r>
          </a:p>
          <a:p>
            <a:r>
              <a:t>- Table 10 uses emission intensity, emissions divided by revenue. In 2006-2008 commodity and energy</a:t>
            </a:r>
          </a:p>
          <a:p>
            <a:r>
              <a:t>  prices rose sharply, raising brown firms' revenue, so intensity falls even if emissions do not.</a:t>
            </a:r>
          </a:p>
          <a:p>
            <a:r>
              <a:t>  Report absolute emissions (and physical output where available).</a:t>
            </a:r>
          </a:p>
          <a:p>
            <a:r>
              <a:t>- Trucost emissions before about 2007 are largely estimated from a firm's industry and size rather</a:t>
            </a:r>
          </a:p>
          <a:p>
            <a:r>
              <a:t>  than disclosed (Aswani, Raghunandan and Rajgopal 2024, Review of Finance); estimated emissions</a:t>
            </a:r>
          </a:p>
          <a:p>
            <a:r>
              <a:t>  mechanically move with revenue. Split reported from estimated values.</a:t>
            </a:r>
          </a:p>
          <a:p>
            <a:r>
              <a:t>- The paper concludes brown firms reallocate capital "toward cleaner production", but CAPX is a total.</a:t>
            </a:r>
          </a:p>
          <a:p>
            <a:r>
              <a:t>  Direct evidence exists: EIA-860 generator-level investment by fuel type for utilities, EPA GHGRP</a:t>
            </a:r>
          </a:p>
          <a:p>
            <a:r>
              <a:t>  facility emissions (from 2010), green-capex language in 10-Ks.</a:t>
            </a:r>
          </a:p>
          <a:p/>
          <a:p>
            <a:r>
              <a:t>Right side (from the audio critiques).</a:t>
            </a:r>
          </a:p>
          <a:p>
            <a:r>
              <a:t>- First critique: internal pressure (climate shareholder proposals, ISS) and external pressure (OECD</a:t>
            </a:r>
          </a:p>
          <a:p>
            <a:r>
              <a:t>  environmental policy stringency) are different mechanisms, a board pivot vs regulatory compliance.</a:t>
            </a:r>
          </a:p>
          <a:p>
            <a:r>
              <a:t>  Run them together and see which one carries the brown-firm effect. One caveat: the ISS data start in</a:t>
            </a:r>
          </a:p>
          <a:p>
            <a:r>
              <a:t>  2006, so they cannot vary before Stern.</a:t>
            </a:r>
          </a:p>
          <a:p>
            <a:r>
              <a:t>- Second critique: capex falls with climate news but R&amp;D does not. The audio suggests making this a</a:t>
            </a:r>
          </a:p>
          <a:p>
            <a:r>
              <a:t>  feature: irreversible physical capital is what uncertainty freezes, while firms smooth R&amp;D because</a:t>
            </a:r>
          </a:p>
          <a:p>
            <a:r>
              <a:t>  scientists and know-how are costly to lose (Brown and Petersen 2011). The caveat: the paper sets</a:t>
            </a:r>
          </a:p>
          <a:p>
            <a:r>
              <a:t>  missing R&amp;D to zero (p. 11), and most firm-quarters have no R&amp;D, which pushes the coefficient toward</a:t>
            </a:r>
          </a:p>
          <a:p>
            <a:r>
              <a:t>  zero. Re-run on firms that actually report R&amp;D first.</a:t>
            </a:r>
          </a:p>
          <a:p>
            <a:r>
              <a:t>- The second critique also suggests reframing the brown-firm response as strategic, even existential,</a:t>
            </a:r>
          </a:p>
          <a:p>
            <a:r>
              <a:t>  adaptation (retrofits cost billions) rather than passive "pressure". I agree the label should follow</a:t>
            </a:r>
          </a:p>
          <a:p>
            <a:r>
              <a:t>  the economics, but that needs the capex-composition evidence on the left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Year-to-date capex (checked 2026-10-12, script checks/capx_quarterly_ytd.py): Compustat's quarterly</a:t>
            </a:r>
          </a:p>
          <a:p>
            <a:r>
              <a:t>capex field (capxy) is cumulative within the fiscal year, so Q4 holds the full-year total. Quarterly</a:t>
            </a:r>
          </a:p>
          <a:p>
            <a:r>
              <a:t>capex has to be built by differencing (Q2 = capxy in Q2 minus capxy in Q1, and so on). On a comparable</a:t>
            </a:r>
          </a:p>
          <a:p>
            <a:r>
              <a:t>sample (NYSE/AMEX/NASDAQ US firms, 1985Q1-2017Q2, scaled by lagged total assets, winsorized 1/99):</a:t>
            </a:r>
          </a:p>
          <a:p>
            <a:r>
              <a:t>undifferenced capxy gives mean 3.32, median 1.64, max 27.7; true quarterly capex gives 1.42, 0.76,</a:t>
            </a:r>
          </a:p>
          <a:p>
            <a:r>
              <a:t>12.2. Table 1 reports 3.47, 1.80, 27.3, which matches the undifferenced series. If so, CAPX rises</a:t>
            </a:r>
          </a:p>
          <a:p>
            <a:r>
              <a:t>mechanically from Q1 to Q4 (fiscal-quarter means 1.3, 2.7, 4.0, 5.4), the "8% of average capex"</a:t>
            </a:r>
          </a:p>
          <a:p>
            <a:r>
              <a:t>magnitude is measured against an inflated mean, and the one- to four-quarter leads mix different</a:t>
            </a:r>
          </a:p>
          <a:p>
            <a:r>
              <a:t>positions in the fiscal year. Fiscal-quarter dummies absorb the average saw-tooth, but not its</a:t>
            </a:r>
          </a:p>
          <a:p>
            <a:r>
              <a:t>interaction with firm size or growth. Ask the authors to confirm; the same applies to R&amp;D (xrdy).</a:t>
            </a:r>
          </a:p>
          <a:p>
            <a:r>
              <a:t>The sample sizes are not identical (my N is 474,000 vs their 418,000), so this is strong evidence,</a:t>
            </a:r>
          </a:p>
          <a:p>
            <a:r>
              <a:t>not proof.</a:t>
            </a:r>
          </a:p>
          <a:p/>
          <a:p>
            <a:r>
              <a:t>Section 6 / Table 12 (second audio critique): firms with more firm-level climate exposure (Sautner et al.</a:t>
            </a:r>
          </a:p>
          <a:p>
            <a:r>
              <a:t>2023; Li et al. 2024) react less to aggregate climate news. The audio suggests making this the climax:</a:t>
            </a:r>
          </a:p>
          <a:p>
            <a:r>
              <a:t>add it as a third term in Eq. (1) and move Table 12 next to the Stern analysis. It is an appealing idea,</a:t>
            </a:r>
          </a:p>
          <a:p>
            <a:r>
              <a:t>but the evidence is thin: the interactions are significant only at the four-quarter horizon, mostly at</a:t>
            </a:r>
          </a:p>
          <a:p>
            <a:r>
              <a:t>the 10% level, and the components are mostly insignificant. Also, the firm-level measures start in</a:t>
            </a:r>
          </a:p>
          <a:p>
            <a:r>
              <a:t>2002, when (Table 8) climate news no longer moves investment at all, so it is unclear what is being</a:t>
            </a:r>
          </a:p>
          <a:p>
            <a:r>
              <a:t>attenuated.</a:t>
            </a:r>
          </a:p>
          <a:p/>
          <a:p>
            <a:r>
              <a:t>More for the written report: Eq. (1) is a sum of reduced-form terms rather than a derived model; label</a:t>
            </a:r>
          </a:p>
          <a:p>
            <a:r>
              <a:t>it as an organizing framework. References: "ouality" in Bernanke, Gertler and Gilchrist (1996); page</a:t>
            </a:r>
          </a:p>
          <a:p>
            <a:r>
              <a:t>range of Ardia et al. (2023).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352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951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659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345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123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354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676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709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426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814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604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6255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62" r:id="rId6"/>
    <p:sldLayoutId id="2147483757" r:id="rId7"/>
    <p:sldLayoutId id="2147483758" r:id="rId8"/>
    <p:sldLayoutId id="2147483759" r:id="rId9"/>
    <p:sldLayoutId id="2147483761" r:id="rId10"/>
    <p:sldLayoutId id="214748376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14C34-F582-4EEF-86CE-F88761E52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E34DE7-06DB-1967-2237-15FE2ED2E8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00"/>
          <a:stretch>
            <a:fillRect/>
          </a:stretch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319A1DD-F557-4EC6-8A8C-F7617B4CD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148840"/>
            <a:ext cx="7537704" cy="361188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01F868-4C26-5ADB-30DD-B2BA73009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791" y="2331720"/>
            <a:ext cx="6470692" cy="2103120"/>
          </a:xfrm>
        </p:spPr>
        <p:txBody>
          <a:bodyPr wrap="square" anchor="b">
            <a:normAutofit/>
          </a:bodyPr>
          <a:lstStyle/>
          <a:p>
            <a:r>
              <a:rPr sz="2000"/>
              <a:t>Discussion of</a:t>
            </a:r>
            <a:endParaRPr lang="en-US" sz="5400">
              <a:solidFill>
                <a:schemeClr val="tx1"/>
              </a:solidFill>
            </a:endParaRPr>
          </a:p>
          <a:p>
            <a:r>
              <a:rPr sz="2600"/>
              <a:t>“Climate Risk and Corporate Investment: Transmission Mechanisms and Heterogeneous Effects”</a:t>
            </a:r>
          </a:p>
          <a:p>
            <a:r>
              <a:rPr sz="1800"/>
              <a:t>Avino, Chen &amp; Hoque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E22037-B258-2C42-7D61-709048992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791" y="4617720"/>
            <a:ext cx="6470693" cy="100584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sz="1100"/>
              <a:t>Discussant: Rui Dai, University of South Florida</a:t>
            </a:r>
            <a:endParaRPr lang="en-US"/>
          </a:p>
          <a:p>
            <a:pPr>
              <a:spcBef>
                <a:spcPts val="0"/>
              </a:spcBef>
            </a:pPr>
            <a:r>
              <a:rPr sz="1100"/>
              <a:t>2026 FMA Annual Meeting  |  Tampa, FL  |  October 16, 2026</a:t>
            </a:r>
          </a:p>
          <a:p>
            <a:pPr>
              <a:spcBef>
                <a:spcPts val="0"/>
              </a:spcBef>
            </a:pPr>
            <a:r>
              <a:rPr sz="1100"/>
              <a:t>Session 148: Corporate Green Investment &amp; Climate Risk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2429" y="4526280"/>
            <a:ext cx="6309360" cy="0"/>
          </a:xfrm>
          <a:prstGeom prst="line">
            <a:avLst/>
          </a:prstGeom>
          <a:ln w="19050">
            <a:solidFill>
              <a:schemeClr val="accent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!!footer rectangle">
            <a:extLst>
              <a:ext uri="{FF2B5EF4-FFF2-40B4-BE49-F238E27FC236}">
                <a16:creationId xmlns:a16="http://schemas.microsoft.com/office/drawing/2014/main" id="{C390A367-0330-4E03-9D5F-40308A797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253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The paper in one slide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1097280" y="2057400"/>
            <a:ext cx="100584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Bef>
                <a:spcPts val="1400"/>
              </a:spcBef>
              <a:buClr>
                <a:srgbClr val="2683C6"/>
              </a:buClr>
              <a:buFont typeface="Arial"/>
              <a:buChar char="▪"/>
            </a:pPr>
            <a:r>
              <a:rPr sz="2000" b="1">
                <a:solidFill>
                  <a:srgbClr val="2683C6"/>
                </a:solidFill>
              </a:rPr>
              <a:t>Question.</a:t>
            </a:r>
            <a:r>
              <a:rPr sz="2000" b="0">
                <a:solidFill>
                  <a:srgbClr val="404040"/>
                </a:solidFill>
              </a:rPr>
              <a:t> Does economy-wide climate risk change how much firms invest, and why?</a:t>
            </a:r>
          </a:p>
          <a:p>
            <a:pPr marL="228600" indent="-228600">
              <a:spcBef>
                <a:spcPts val="1400"/>
              </a:spcBef>
              <a:buClr>
                <a:srgbClr val="2683C6"/>
              </a:buClr>
              <a:buFont typeface="Arial"/>
              <a:buChar char="▪"/>
            </a:pPr>
            <a:r>
              <a:rPr sz="2000" b="1">
                <a:solidFill>
                  <a:srgbClr val="2683C6"/>
                </a:solidFill>
              </a:rPr>
              <a:t>Design.</a:t>
            </a:r>
            <a:r>
              <a:rPr sz="2000" b="0">
                <a:solidFill>
                  <a:srgbClr val="404040"/>
                </a:solidFill>
              </a:rPr>
              <a:t> US public firms 1985–2017; climate risk = share of Wall Street Journal news about climate (Engle et al. 2020); the 2006 Stern Review as a salience shock.</a:t>
            </a:r>
          </a:p>
          <a:p>
            <a:pPr marL="228600" indent="-228600">
              <a:spcBef>
                <a:spcPts val="1400"/>
              </a:spcBef>
              <a:buClr>
                <a:srgbClr val="2683C6"/>
              </a:buClr>
              <a:buFont typeface="Arial"/>
              <a:buChar char="▪"/>
            </a:pPr>
            <a:r>
              <a:rPr sz="2000" b="1">
                <a:solidFill>
                  <a:srgbClr val="2683C6"/>
                </a:solidFill>
              </a:rPr>
              <a:t>Findings.</a:t>
            </a:r>
            <a:r>
              <a:rPr sz="2000" b="0">
                <a:solidFill>
                  <a:srgbClr val="404040"/>
                </a:solidFill>
              </a:rPr>
              <a:t> More climate news → less capex, but only before 2006. After Stern, brown firms cut capex less than green firms and lower their emission intensity.</a:t>
            </a:r>
          </a:p>
        </p:txBody>
      </p:sp>
      <p:sp>
        <p:nvSpPr>
          <p:cNvPr id="4" name="take"/>
          <p:cNvSpPr txBox="1"/>
          <p:nvPr/>
        </p:nvSpPr>
        <p:spPr>
          <a:xfrm>
            <a:off x="1097280" y="5440680"/>
            <a:ext cx="10058400" cy="731520"/>
          </a:xfrm>
          <a:prstGeom prst="rect">
            <a:avLst/>
          </a:prstGeom>
          <a:solidFill>
            <a:srgbClr val="D9E0E6"/>
          </a:solidFill>
        </p:spPr>
        <p:txBody>
          <a:bodyPr wrap="square" anchor="ctr" lIns="137160" rIns="137160">
            <a:spAutoFit/>
          </a:bodyPr>
          <a:lstStyle/>
          <a:p>
            <a:r>
              <a:rPr sz="1800" b="1">
                <a:solidFill>
                  <a:srgbClr val="2683C6"/>
                </a:solidFill>
              </a:rPr>
              <a:t>My take:</a:t>
            </a:r>
            <a:r>
              <a:rPr sz="1800" b="0">
                <a:solidFill>
                  <a:srgbClr val="404040"/>
                </a:solidFill>
              </a:rPr>
              <a:t> important question, careful data work. The Stern evidence is the most interesting part; the time-series result needs a harder look.</a:t>
            </a:r>
          </a:p>
        </p:txBody>
      </p:sp>
      <p:sp>
        <p:nvSpPr>
          <p:cNvPr id="5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Discussion  |  Climate Risk and Corporate Investment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Comment 1: What does the climate-news coefficient capture?</a:t>
            </a:r>
          </a:p>
        </p:txBody>
      </p:sp>
      <p:sp>
        <p:nvSpPr>
          <p:cNvPr id="3" name="identify"/>
          <p:cNvSpPr txBox="1"/>
          <p:nvPr/>
        </p:nvSpPr>
        <p:spPr>
          <a:xfrm>
            <a:off x="1097280" y="2057400"/>
            <a:ext cx="10058400" cy="4251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600" b="1">
                <a:solidFill>
                  <a:srgbClr val="2683C6"/>
                </a:solidFill>
              </a:rPr>
              <a:t>One series, about 130 quarters.</a:t>
            </a:r>
            <a:r>
              <a:rPr sz="1600" b="0">
                <a:solidFill>
                  <a:srgbClr val="404040"/>
                </a:solidFill>
              </a:rPr>
              <a:t> Every firm sees the same climate-news number, so the 418,000 firm-quarters do not add identification. Anything that moved with WSJ climate coverage over 1985–2017 loads on it.</a:t>
            </a:r>
          </a:p>
          <a:p>
            <a:pPr marL="182880" indent="-18288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600" b="1">
                <a:solidFill>
                  <a:srgbClr val="2683C6"/>
                </a:solidFill>
              </a:rPr>
              <a:t>Two shifts at once.</a:t>
            </a:r>
            <a:r>
              <a:rPr sz="1600" b="0">
                <a:solidFill>
                  <a:srgbClr val="404040"/>
                </a:solidFill>
              </a:rPr>
              <a:t> WSJ climate coverage was flat until about 2001, then rose; capex fell from 9% of assets (2000) to under 5% (2002–2003). One shift lines up with the other, with no climate content needed, and looks “persistent” for 25 quarters (Figure 1).</a:t>
            </a:r>
          </a:p>
          <a:p>
            <a:pPr marL="182880" indent="-18288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600" b="1">
                <a:solidFill>
                  <a:srgbClr val="2683C6"/>
                </a:solidFill>
              </a:rPr>
              <a:t>Timing runs the wrong way.</a:t>
            </a:r>
            <a:r>
              <a:rPr sz="1600" b="0">
                <a:solidFill>
                  <a:srgbClr val="404040"/>
                </a:solidFill>
              </a:rPr>
              <a:t> The effect exists only before 2006, when climate news was thin, and vanishes once climate risk became real.</a:t>
            </a:r>
          </a:p>
          <a:p>
            <a:pPr marL="182880" indent="-18288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600" b="1">
                <a:solidFill>
                  <a:srgbClr val="2683C6"/>
                </a:solidFill>
              </a:rPr>
              <a:t>Attention is not uncertainty.</a:t>
            </a:r>
            <a:r>
              <a:rPr sz="1600" b="0">
                <a:solidFill>
                  <a:srgbClr val="404040"/>
                </a:solidFill>
              </a:rPr>
              <a:t> The index counts how much climate is in the news; the wait-and-see (real-options) story needs uncertainty about outcomes.</a:t>
            </a:r>
          </a:p>
        </p:txBody>
      </p:sp>
      <p:sp>
        <p:nvSpPr>
          <p:cNvPr id="4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Discussion  |  Climate Risk and Corporate Investment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Comment 1 (cont.): Size, instruments, and fixes</a:t>
            </a:r>
          </a:p>
        </p:txBody>
      </p:sp>
      <p:sp>
        <p:nvSpPr>
          <p:cNvPr id="3" name="size"/>
          <p:cNvSpPr txBox="1"/>
          <p:nvPr/>
        </p:nvSpPr>
        <p:spPr>
          <a:xfrm>
            <a:off x="1097280" y="2057400"/>
            <a:ext cx="100584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600" b="1">
                <a:solidFill>
                  <a:srgbClr val="2683C6"/>
                </a:solidFill>
              </a:rPr>
              <a:t>Too big?</a:t>
            </a:r>
            <a:r>
              <a:rPr sz="1600" b="0">
                <a:solidFill>
                  <a:srgbClr val="404040"/>
                </a:solidFill>
              </a:rPr>
              <a:t> One SD of news = −8% of average capex, 3× policy uncertainty. The instrument version is 4.5× larger (−4.69 vs −1.03, Table A1): −37% of average capex.</a:t>
            </a:r>
          </a:p>
          <a:p>
            <a:pPr marL="182880" indent="-18288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600" b="1">
                <a:solidFill>
                  <a:srgbClr val="2683C6"/>
                </a:solidFill>
              </a:rPr>
              <a:t>The instruments share the problem.</a:t>
            </a:r>
            <a:r>
              <a:rPr sz="1600" b="0">
                <a:solidFill>
                  <a:srgbClr val="404040"/>
                </a:solidFill>
              </a:rPr>
              <a:t> Global temperature also trends up and hits firms directly. Hurricane Katrina tests storm damage, not climate news.</a:t>
            </a:r>
          </a:p>
        </p:txBody>
      </p:sp>
      <p:sp>
        <p:nvSpPr>
          <p:cNvPr id="4" name="fixes"/>
          <p:cNvSpPr txBox="1"/>
          <p:nvPr/>
        </p:nvSpPr>
        <p:spPr>
          <a:xfrm>
            <a:off x="1097280" y="4114800"/>
            <a:ext cx="1005840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1">
                <a:solidFill>
                  <a:srgbClr val="344068"/>
                </a:solidFill>
              </a:rPr>
              <a:t>Fixes</a:t>
            </a:r>
          </a:p>
          <a:p>
            <a:pPr marL="182880" indent="-182880">
              <a:spcBef>
                <a:spcPts val="600"/>
              </a:spcBef>
              <a:buClr>
                <a:srgbClr val="2683C6"/>
              </a:buClr>
              <a:buFont typeface="Arial"/>
              <a:buChar char="▪"/>
            </a:pPr>
            <a:r>
              <a:rPr sz="1600" b="1">
                <a:solidFill>
                  <a:srgbClr val="2683C6"/>
                </a:solidFill>
              </a:rPr>
              <a:t>Show the picture:</a:t>
            </a:r>
            <a:r>
              <a:rPr sz="1600" b="0">
                <a:solidFill>
                  <a:srgbClr val="404040"/>
                </a:solidFill>
              </a:rPr>
              <a:t> climate news and average capex over time, with and without a trend.</a:t>
            </a:r>
          </a:p>
          <a:p>
            <a:pPr marL="182880" indent="-182880">
              <a:spcBef>
                <a:spcPts val="600"/>
              </a:spcBef>
              <a:buClr>
                <a:srgbClr val="2683C6"/>
              </a:buClr>
              <a:buFont typeface="Arial"/>
              <a:buChar char="▪"/>
            </a:pPr>
            <a:r>
              <a:rPr sz="1600" b="1">
                <a:solidFill>
                  <a:srgbClr val="2683C6"/>
                </a:solidFill>
              </a:rPr>
              <a:t>Placebo news indices</a:t>
            </a:r>
            <a:r>
              <a:rPr sz="1600" b="0">
                <a:solidFill>
                  <a:srgbClr val="404040"/>
                </a:solidFill>
              </a:rPr>
              <a:t> with similar trends (WSJ share on technology, China): do they also “cut investment”?</a:t>
            </a:r>
          </a:p>
          <a:p>
            <a:pPr marL="182880" indent="-182880">
              <a:spcBef>
                <a:spcPts val="600"/>
              </a:spcBef>
              <a:buClr>
                <a:srgbClr val="2683C6"/>
              </a:buClr>
              <a:buFont typeface="Arial"/>
              <a:buChar char="▪"/>
            </a:pPr>
            <a:r>
              <a:rPr sz="1600" b="1">
                <a:solidFill>
                  <a:srgbClr val="2683C6"/>
                </a:solidFill>
              </a:rPr>
              <a:t>Lead with differences across firms</a:t>
            </a:r>
            <a:r>
              <a:rPr sz="1600" b="0">
                <a:solidFill>
                  <a:srgbClr val="404040"/>
                </a:solidFill>
              </a:rPr>
              <a:t> within the same quarter (Tables 4–7, 12 already do this).</a:t>
            </a:r>
          </a:p>
        </p:txBody>
      </p:sp>
      <p:sp>
        <p:nvSpPr>
          <p:cNvPr id="5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Discussion  |  Climate Risk and Corporate Investment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Comment 2: What does the Stern Review comparison show?</a:t>
            </a:r>
          </a:p>
        </p:txBody>
      </p:sp>
      <p:sp>
        <p:nvSpPr>
          <p:cNvPr id="3" name="stern"/>
          <p:cNvSpPr txBox="1"/>
          <p:nvPr/>
        </p:nvSpPr>
        <p:spPr>
          <a:xfrm>
            <a:off x="1097280" y="2057400"/>
            <a:ext cx="10058400" cy="4251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600" b="1">
                <a:solidFill>
                  <a:srgbClr val="2683C6"/>
                </a:solidFill>
              </a:rPr>
              <a:t>Show the green firms.</a:t>
            </a:r>
            <a:r>
              <a:rPr sz="1600" b="0">
                <a:solidFill>
                  <a:srgbClr val="404040"/>
                </a:solidFill>
              </a:rPr>
              <a:t> The result is relative: did brown firms keep investing, or did green firms cut? Plot capex of the brownest vs greenest quartile around 2006.</a:t>
            </a:r>
          </a:p>
          <a:p>
            <a:pPr marL="182880" indent="-18288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600" b="1">
                <a:solidFill>
                  <a:srgbClr val="2683C6"/>
                </a:solidFill>
              </a:rPr>
              <a:t>Real options predict green firms wait:</a:t>
            </a:r>
            <a:r>
              <a:rPr sz="1600" b="0">
                <a:solidFill>
                  <a:srgbClr val="404040"/>
                </a:solidFill>
              </a:rPr>
              <a:t> they are not in the regulators’ sights, so they can delay; brown firms cannot.</a:t>
            </a:r>
          </a:p>
          <a:p>
            <a:pPr marL="182880" indent="-18288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600" b="1">
                <a:solidFill>
                  <a:srgbClr val="2683C6"/>
                </a:solidFill>
              </a:rPr>
              <a:t>A crowded window (2004–2009):</a:t>
            </a:r>
            <a:r>
              <a:rPr sz="1600" b="0">
                <a:solidFill>
                  <a:srgbClr val="404040"/>
                </a:solidFill>
              </a:rPr>
              <a:t> oil boom, An Inconvenient Truth, IPCC 2007, the financial crisis. The gap peaks in 2007 and fades (Figure 2). Why a UK report for US firms?</a:t>
            </a:r>
          </a:p>
          <a:p>
            <a:pPr marL="182880" indent="-18288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600" b="1">
                <a:solidFill>
                  <a:srgbClr val="2683C6"/>
                </a:solidFill>
              </a:rPr>
              <a:t>Fixes:</a:t>
            </a:r>
            <a:r>
              <a:rPr sz="1600" b="0">
                <a:solidFill>
                  <a:srgbClr val="404040"/>
                </a:solidFill>
              </a:rPr>
              <a:t> placebo dates; industry × quarter effects; compare UK/EU firms, where Stern was more salient.</a:t>
            </a:r>
          </a:p>
        </p:txBody>
      </p:sp>
      <p:sp>
        <p:nvSpPr>
          <p:cNvPr id="4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Discussion  |  Climate Risk and Corporate Investment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Comment 3: What do brown firms do with the money, and why?</a:t>
            </a:r>
          </a:p>
        </p:txBody>
      </p:sp>
      <p:sp>
        <p:nvSpPr>
          <p:cNvPr id="3" name="what"/>
          <p:cNvSpPr txBox="1"/>
          <p:nvPr/>
        </p:nvSpPr>
        <p:spPr>
          <a:xfrm>
            <a:off x="1097280" y="2057400"/>
            <a:ext cx="5577840" cy="4251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344068"/>
                </a:solidFill>
              </a:rPr>
              <a:t>What they do</a:t>
            </a:r>
          </a:p>
          <a:p>
            <a:pPr marL="171450" indent="-171450">
              <a:spcBef>
                <a:spcPts val="600"/>
              </a:spcBef>
              <a:buClr>
                <a:srgbClr val="2683C6"/>
              </a:buClr>
              <a:buFont typeface="Arial"/>
              <a:buChar char="▪"/>
            </a:pPr>
            <a:r>
              <a:rPr sz="1500" b="1">
                <a:solidFill>
                  <a:srgbClr val="2683C6"/>
                </a:solidFill>
              </a:rPr>
              <a:t>Intensity = emissions / revenue.</a:t>
            </a:r>
            <a:r>
              <a:rPr sz="1500" b="0">
                <a:solidFill>
                  <a:srgbClr val="404040"/>
                </a:solidFill>
              </a:rPr>
              <a:t> Commodity prices lifted brown firms’ revenue in 2006–2008, so intensity falls without abatement. Show absolute emissions.</a:t>
            </a:r>
          </a:p>
          <a:p>
            <a:pPr marL="171450" indent="-171450">
              <a:spcBef>
                <a:spcPts val="600"/>
              </a:spcBef>
              <a:buClr>
                <a:srgbClr val="2683C6"/>
              </a:buClr>
              <a:buFont typeface="Arial"/>
              <a:buChar char="▪"/>
            </a:pPr>
            <a:r>
              <a:rPr sz="1500" b="1">
                <a:solidFill>
                  <a:srgbClr val="2683C6"/>
                </a:solidFill>
              </a:rPr>
              <a:t>Early Trucost emissions are mostly estimated</a:t>
            </a:r>
            <a:r>
              <a:rPr sz="1500" b="0">
                <a:solidFill>
                  <a:srgbClr val="404040"/>
                </a:solidFill>
              </a:rPr>
              <a:t> from industry and size, not reported.</a:t>
            </a:r>
          </a:p>
          <a:p>
            <a:pPr marL="171450" indent="-171450">
              <a:spcBef>
                <a:spcPts val="600"/>
              </a:spcBef>
              <a:buClr>
                <a:srgbClr val="2683C6"/>
              </a:buClr>
              <a:buFont typeface="Arial"/>
              <a:buChar char="▪"/>
            </a:pPr>
            <a:r>
              <a:rPr sz="1500" b="1">
                <a:solidFill>
                  <a:srgbClr val="2683C6"/>
                </a:solidFill>
              </a:rPr>
              <a:t>“Cleaner production” is inferred, not seen.</a:t>
            </a:r>
            <a:r>
              <a:rPr sz="1500" b="0">
                <a:solidFill>
                  <a:srgbClr val="404040"/>
                </a:solidFill>
              </a:rPr>
              <a:t> Capex is a total: what is it spent on?</a:t>
            </a:r>
          </a:p>
        </p:txBody>
      </p:sp>
      <p:sp>
        <p:nvSpPr>
          <p:cNvPr id="4" name="why"/>
          <p:cNvSpPr txBox="1"/>
          <p:nvPr/>
        </p:nvSpPr>
        <p:spPr>
          <a:xfrm>
            <a:off x="6903720" y="2057400"/>
            <a:ext cx="4251960" cy="4251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344068"/>
                </a:solidFill>
              </a:rPr>
              <a:t>Why they do it</a:t>
            </a:r>
          </a:p>
          <a:p>
            <a:pPr marL="171450" indent="-171450">
              <a:spcBef>
                <a:spcPts val="600"/>
              </a:spcBef>
              <a:buClr>
                <a:srgbClr val="2683C6"/>
              </a:buClr>
              <a:buFont typeface="Arial"/>
              <a:buChar char="▪"/>
            </a:pPr>
            <a:r>
              <a:rPr sz="1500" b="1">
                <a:solidFill>
                  <a:srgbClr val="2683C6"/>
                </a:solidFill>
              </a:rPr>
              <a:t>Internal or external?</a:t>
            </a:r>
            <a:r>
              <a:rPr sz="1500" b="0">
                <a:solidFill>
                  <a:srgbClr val="404040"/>
                </a:solidFill>
              </a:rPr>
              <a:t> Shareholder proposals and regulation are both called “stakeholder pressure”. Put both in one regression.</a:t>
            </a:r>
          </a:p>
          <a:p>
            <a:pPr marL="171450" indent="-171450">
              <a:spcBef>
                <a:spcPts val="600"/>
              </a:spcBef>
              <a:buClr>
                <a:srgbClr val="2683C6"/>
              </a:buClr>
              <a:buFont typeface="Arial"/>
              <a:buChar char="▪"/>
            </a:pPr>
            <a:r>
              <a:rPr sz="1500" b="1">
                <a:solidFill>
                  <a:srgbClr val="2683C6"/>
                </a:solidFill>
              </a:rPr>
              <a:t>Capex vs R&amp;D.</a:t>
            </a:r>
            <a:r>
              <a:rPr sz="1500" b="0">
                <a:solidFill>
                  <a:srgbClr val="404040"/>
                </a:solidFill>
              </a:rPr>
              <a:t> Missing R&amp;D is set to zero, so the R&amp;D null says little. If it holds on R&amp;D reporters, use it as a falsification test.</a:t>
            </a:r>
          </a:p>
        </p:txBody>
      </p:sp>
      <p:sp>
        <p:nvSpPr>
          <p:cNvPr id="5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Discussion  |  Climate Risk and Corporate Investment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Minor comments</a:t>
            </a:r>
          </a:p>
        </p:txBody>
      </p:sp>
      <p:sp>
        <p:nvSpPr>
          <p:cNvPr id="3" name="minor"/>
          <p:cNvSpPr txBox="1"/>
          <p:nvPr/>
        </p:nvSpPr>
        <p:spPr>
          <a:xfrm>
            <a:off x="1097280" y="2057400"/>
            <a:ext cx="10058400" cy="4251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600" b="1">
                <a:solidFill>
                  <a:srgbClr val="2683C6"/>
                </a:solidFill>
              </a:rPr>
              <a:t>Quarterly capex looks year-to-date.</a:t>
            </a:r>
            <a:r>
              <a:rPr sz="1600" b="0">
                <a:solidFill>
                  <a:srgbClr val="404040"/>
                </a:solidFill>
              </a:rPr>
              <a:t> Table 1 (mean 3.47, median 1.80, max 27.3) matches Compustat’s cumulative capex (3.32, 1.64, 27.7), not true quarterly capex (1.42, 0.76, 12.2).</a:t>
            </a:r>
          </a:p>
          <a:p>
            <a:pPr marL="182880" indent="-18288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600" b="1">
                <a:solidFill>
                  <a:srgbClr val="2683C6"/>
                </a:solidFill>
              </a:rPr>
              <a:t>Firm-level exposure (Section 6)</a:t>
            </a:r>
            <a:r>
              <a:rPr sz="1600" b="0">
                <a:solidFill>
                  <a:srgbClr val="404040"/>
                </a:solidFill>
              </a:rPr>
              <a:t> could be a third term in Eq. (1), but the evidence is thin: 10% significance, one horizon, data from 2002.</a:t>
            </a:r>
          </a:p>
          <a:p>
            <a:pPr marL="182880" indent="-18288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600" b="1">
                <a:solidFill>
                  <a:srgbClr val="2683C6"/>
                </a:solidFill>
              </a:rPr>
              <a:t>Instrument description:</a:t>
            </a:r>
            <a:r>
              <a:rPr sz="1600" b="0">
                <a:solidFill>
                  <a:srgbClr val="404040"/>
                </a:solidFill>
              </a:rPr>
              <a:t> the appendix says the second stage uses first-stage residuals; Table A1 says 2SLS. Which is it?</a:t>
            </a:r>
          </a:p>
          <a:p>
            <a:pPr marL="182880" indent="-18288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600" b="1">
                <a:solidFill>
                  <a:srgbClr val="2683C6"/>
                </a:solidFill>
              </a:rPr>
              <a:t>R&amp;D zeros:</a:t>
            </a:r>
            <a:r>
              <a:rPr sz="1600" b="0">
                <a:solidFill>
                  <a:srgbClr val="404040"/>
                </a:solidFill>
              </a:rPr>
              <a:t> report the share of firm-quarters with R&amp;D set to zero.</a:t>
            </a:r>
          </a:p>
          <a:p>
            <a:pPr marL="182880" indent="-18288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600" b="1">
                <a:solidFill>
                  <a:srgbClr val="2683C6"/>
                </a:solidFill>
              </a:rPr>
              <a:t>Typos:</a:t>
            </a:r>
            <a:r>
              <a:rPr sz="1600" b="0">
                <a:solidFill>
                  <a:srgbClr val="404040"/>
                </a:solidFill>
              </a:rPr>
              <a:t> “Section ??” (fn. 2), “We also re-estimating” (p. 17).</a:t>
            </a:r>
          </a:p>
        </p:txBody>
      </p:sp>
      <p:sp>
        <p:nvSpPr>
          <p:cNvPr id="4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Discussion  |  Climate Risk and Corporate Investment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14C34-F582-4EEF-86CE-F88761E52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E34DE7-06DB-1967-2237-15FE2ED2E8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00"/>
          <a:stretch>
            <a:fillRect/>
          </a:stretch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319A1DD-F557-4EC6-8A8C-F7617B4CD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148840"/>
            <a:ext cx="7537704" cy="361188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01F868-4C26-5ADB-30DD-B2BA73009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791" y="2331720"/>
            <a:ext cx="6470692" cy="2103120"/>
          </a:xfrm>
        </p:spPr>
        <p:txBody>
          <a:bodyPr wrap="square" anchor="b">
            <a:normAutofit/>
          </a:bodyPr>
          <a:lstStyle/>
          <a:p>
            <a:r>
              <a:rPr sz="3400"/>
              <a:t>Thank you, and good luck with the paper!</a:t>
            </a:r>
            <a:endParaRPr lang="en-US" sz="540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E22037-B258-2C42-7D61-709048992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791" y="4617720"/>
            <a:ext cx="6470693" cy="100584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sz="1600"/>
              <a:t>An important question with careful data work.</a:t>
            </a:r>
            <a:endParaRPr lang="en-US"/>
          </a:p>
          <a:p>
            <a:pPr>
              <a:spcBef>
                <a:spcPts val="0"/>
              </a:spcBef>
            </a:pPr>
            <a:r>
              <a:rPr sz="1600"/>
              <a:t>I look forward to the next draft.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2429" y="4526280"/>
            <a:ext cx="6309360" cy="0"/>
          </a:xfrm>
          <a:prstGeom prst="line">
            <a:avLst/>
          </a:prstGeom>
          <a:ln w="19050">
            <a:solidFill>
              <a:schemeClr val="accent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!!footer rectangle">
            <a:extLst>
              <a:ext uri="{FF2B5EF4-FFF2-40B4-BE49-F238E27FC236}">
                <a16:creationId xmlns:a16="http://schemas.microsoft.com/office/drawing/2014/main" id="{C390A367-0330-4E03-9D5F-40308A797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Sagona Extra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agona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</TotalTime>
  <Words>0</Words>
  <Application>Microsoft Macintosh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Sagona Book</vt:lpstr>
      <vt:lpstr>Sagona ExtraLight</vt:lpstr>
      <vt:lpstr>RetrospectVTI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Rui Dai</dc:creator>
  <cp:lastModifiedBy>Rui Dai</cp:lastModifiedBy>
  <cp:revision>1</cp:revision>
  <dcterms:created xsi:type="dcterms:W3CDTF">2026-10-12T19:05:55Z</dcterms:created>
  <dcterms:modified xsi:type="dcterms:W3CDTF">2026-10-12T19:07:48Z</dcterms:modified>
</cp:coreProperties>
</file>